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c79fec2c46743c0" Type="http://schemas.openxmlformats.org/officeDocument/2006/relationships/extended-properties" Target="docProps/app.xml"/><Relationship Id="R1315f9d550d74942" Type="http://schemas.openxmlformats.org/officeDocument/2006/relationships/officeDocument" Target="ppt/presentation.xml"/><Relationship Id="R5822bb6a846c4e2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d7e6fc42bd4879"/>
  </p:sldMasterIdLst>
  <p:notesMasterIdLst>
    <p:notesMasterId xmlns:r="http://schemas.openxmlformats.org/officeDocument/2006/relationships" r:id="Ra96d0fca12c64f79"/>
  </p:notesMasterIdLst>
  <p:sldIdLst>
    <p:sldId xmlns:r="http://schemas.openxmlformats.org/officeDocument/2006/relationships" id="256" r:id="R9328a8c28d5a43ba"/>
    <p:sldId xmlns:r="http://schemas.openxmlformats.org/officeDocument/2006/relationships" id="257" r:id="Rc30c4e036793450e"/>
    <p:sldId xmlns:r="http://schemas.openxmlformats.org/officeDocument/2006/relationships" id="258" r:id="R84be3cd66da145d8"/>
    <p:sldId xmlns:r="http://schemas.openxmlformats.org/officeDocument/2006/relationships" id="259" r:id="Rdab56d6de65443aa"/>
    <p:sldId xmlns:r="http://schemas.openxmlformats.org/officeDocument/2006/relationships" id="260" r:id="R56c54f390aab4e6f"/>
    <p:sldId xmlns:r="http://schemas.openxmlformats.org/officeDocument/2006/relationships" id="261" r:id="Rcdb49c028e314ea1"/>
    <p:sldId xmlns:r="http://schemas.openxmlformats.org/officeDocument/2006/relationships" id="262" r:id="R14c78c32adbc45b3"/>
    <p:sldId xmlns:r="http://schemas.openxmlformats.org/officeDocument/2006/relationships" id="263" r:id="Rb2ccc4eace8642f4"/>
    <p:sldId xmlns:r="http://schemas.openxmlformats.org/officeDocument/2006/relationships" id="264" r:id="R2432138f375d4f6f"/>
    <p:sldId xmlns:r="http://schemas.openxmlformats.org/officeDocument/2006/relationships" id="265" r:id="Rc5e53e3b48fb4bde"/>
    <p:sldId xmlns:r="http://schemas.openxmlformats.org/officeDocument/2006/relationships" id="266" r:id="Rda9f68c7d5914242"/>
    <p:sldId xmlns:r="http://schemas.openxmlformats.org/officeDocument/2006/relationships" id="267" r:id="R422860c0b274425a"/>
    <p:sldId xmlns:r="http://schemas.openxmlformats.org/officeDocument/2006/relationships" id="268" r:id="R7c0ae61b31f74095"/>
    <p:sldId xmlns:r="http://schemas.openxmlformats.org/officeDocument/2006/relationships" id="269" r:id="Ra78f76bec3d04acf"/>
    <p:sldId xmlns:r="http://schemas.openxmlformats.org/officeDocument/2006/relationships" id="270" r:id="R2e171858890a4a8a"/>
    <p:sldId xmlns:r="http://schemas.openxmlformats.org/officeDocument/2006/relationships" id="271" r:id="Rd363396806b54603"/>
    <p:sldId xmlns:r="http://schemas.openxmlformats.org/officeDocument/2006/relationships" id="272" r:id="Ra40b414c916644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4c78c32adbc45b3" Type="http://schemas.openxmlformats.org/officeDocument/2006/relationships/slide" Target="slides/slide7.xml"/><Relationship Id="R2432138f375d4f6f" Type="http://schemas.openxmlformats.org/officeDocument/2006/relationships/slide" Target="slides/slide9.xml"/><Relationship Id="R28d7e6fc42bd4879" Type="http://schemas.openxmlformats.org/officeDocument/2006/relationships/slideMaster" Target="slideMasters/slideMaster1.xml"/><Relationship Id="R2e171858890a4a8a" Type="http://schemas.openxmlformats.org/officeDocument/2006/relationships/slide" Target="slides/slide15.xml"/><Relationship Id="R36f164a9eb4e4ada" Type="http://schemas.openxmlformats.org/officeDocument/2006/relationships/theme" Target="theme/theme1.xml"/><Relationship Id="R3b9192d29ac841aa" Type="http://schemas.openxmlformats.org/officeDocument/2006/relationships/tableStyles" Target="tableStyles.xml"/><Relationship Id="R422860c0b274425a" Type="http://schemas.openxmlformats.org/officeDocument/2006/relationships/slide" Target="slides/slide12.xml"/><Relationship Id="R56c54f390aab4e6f" Type="http://schemas.openxmlformats.org/officeDocument/2006/relationships/slide" Target="slides/slide5.xml"/><Relationship Id="R7c0ae61b31f74095" Type="http://schemas.openxmlformats.org/officeDocument/2006/relationships/slide" Target="slides/slide13.xml"/><Relationship Id="R84be3cd66da145d8" Type="http://schemas.openxmlformats.org/officeDocument/2006/relationships/slide" Target="slides/slide3.xml"/><Relationship Id="R9328a8c28d5a43ba" Type="http://schemas.openxmlformats.org/officeDocument/2006/relationships/slide" Target="slides/slide1.xml"/><Relationship Id="Ra40b414c916644d9" Type="http://schemas.openxmlformats.org/officeDocument/2006/relationships/slide" Target="slides/slide17.xml"/><Relationship Id="Ra78f76bec3d04acf" Type="http://schemas.openxmlformats.org/officeDocument/2006/relationships/slide" Target="slides/slide14.xml"/><Relationship Id="Ra96d0fca12c64f79" Type="http://schemas.openxmlformats.org/officeDocument/2006/relationships/notesMaster" Target="notesMasters/notesMaster1.xml"/><Relationship Id="Rb2ccc4eace8642f4" Type="http://schemas.openxmlformats.org/officeDocument/2006/relationships/slide" Target="slides/slide8.xml"/><Relationship Id="Rbeaa53c418c04112" Type="http://schemas.openxmlformats.org/officeDocument/2006/relationships/presProps" Target="presProps.xml"/><Relationship Id="Rc30c4e036793450e" Type="http://schemas.openxmlformats.org/officeDocument/2006/relationships/slide" Target="slides/slide2.xml"/><Relationship Id="Rc5e53e3b48fb4bde" Type="http://schemas.openxmlformats.org/officeDocument/2006/relationships/slide" Target="slides/slide10.xml"/><Relationship Id="Rcdb49c028e314ea1" Type="http://schemas.openxmlformats.org/officeDocument/2006/relationships/slide" Target="slides/slide6.xml"/><Relationship Id="Rd363396806b54603" Type="http://schemas.openxmlformats.org/officeDocument/2006/relationships/slide" Target="slides/slide16.xml"/><Relationship Id="Rda9f68c7d5914242" Type="http://schemas.openxmlformats.org/officeDocument/2006/relationships/slide" Target="slides/slide11.xml"/><Relationship Id="Rdab56d6de65443aa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42D4E"/>
                </a:solidFill>
                <a:latin typeface="Arial"/>
              </a:rPr>
              <a:t>Negative reviews by playtime at review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negative share</c:v>
                </c:pt>
              </c:strCache>
            </c:strRef>
          </c:tx>
          <c:spPr>
            <a:solidFill>
              <a:srgbClr val="C44E52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under 2 h</c:v>
                </c:pt>
                <c:pt idx="1">
                  <c:v>2-10 h</c:v>
                </c:pt>
                <c:pt idx="2">
                  <c:v>10-50 h</c:v>
                </c:pt>
                <c:pt idx="3">
                  <c:v>50 h or more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21.17047256650313</c:v>
                </c:pt>
                <c:pt idx="1">
                  <c:v>9.148366380990131</c:v>
                </c:pt>
                <c:pt idx="2">
                  <c:v>8.14715596135733</c:v>
                </c:pt>
                <c:pt idx="3">
                  <c:v>9.88853717672413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42D4E"/>
                </a:solidFill>
                <a:latin typeface="Arial"/>
              </a:rPr>
              <a:t>Negative reviews inside the 2-hour window, by price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negative share</c:v>
                </c:pt>
              </c:strCache>
            </c:strRef>
          </c:tx>
          <c:spPr>
            <a:solidFill>
              <a:srgbClr val="142D4E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free</c:v>
                </c:pt>
                <c:pt idx="1">
                  <c:v>&lt;$5</c:v>
                </c:pt>
                <c:pt idx="2">
                  <c:v>$5-10</c:v>
                </c:pt>
                <c:pt idx="3">
                  <c:v>$10-20</c:v>
                </c:pt>
                <c:pt idx="4">
                  <c:v>$20+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21.98100407055631</c:v>
                </c:pt>
                <c:pt idx="1">
                  <c:v>11.381417770870101</c:v>
                </c:pt>
                <c:pt idx="2">
                  <c:v>23.00420700491662</c:v>
                </c:pt>
                <c:pt idx="3">
                  <c:v>26.42743037828757</c:v>
                </c:pt>
                <c:pt idx="4">
                  <c:v>31.809069212410503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2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96b3f9cb819743c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04078ad52bd4cb6" Type="http://schemas.openxmlformats.org/officeDocument/2006/relationships/notesMaster" Target="../notesMasters/notesMaster1.xml"/><Relationship Id="Rf858460ae1ca4da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bee326e7cd14647" Type="http://schemas.openxmlformats.org/officeDocument/2006/relationships/notesMaster" Target="../notesMasters/notesMaster1.xml"/><Relationship Id="R8780457b192748d8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d69f68dccf74432d" Type="http://schemas.openxmlformats.org/officeDocument/2006/relationships/slide" Target="../slides/slide3.xml"/><Relationship Id="Rf1baf54b45ff495e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ee04dc4e19c474d" Type="http://schemas.openxmlformats.org/officeDocument/2006/relationships/slide" Target="../slides/slide4.xml"/><Relationship Id="R9e616c0cbd654e0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3c1fa86432884a7e" Type="http://schemas.openxmlformats.org/officeDocument/2006/relationships/slide" Target="../slides/slide5.xml"/><Relationship Id="R55d1b95d77db413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72ba9303d5ba405c" Type="http://schemas.openxmlformats.org/officeDocument/2006/relationships/notesMaster" Target="../notesMasters/notesMaster1.xml"/><Relationship Id="Rff07bd5b07ad44c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6859d0eab8c41a2" Type="http://schemas.openxmlformats.org/officeDocument/2006/relationships/slide" Target="../slides/slide7.xml"/><Relationship Id="R875fd12214144188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05bacbaffa984ec8" Type="http://schemas.openxmlformats.org/officeDocument/2006/relationships/notesMaster" Target="../notesMasters/notesMaster1.xml"/><Relationship Id="R182335ccdfd0438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05549406135c4e93" Type="http://schemas.openxmlformats.org/officeDocument/2006/relationships/notesMaster" Target="../notesMasters/notesMaster1.xml"/><Relationship Id="R20920705bc0f441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3d21fef58e14506" Type="http://schemas.openxmlformats.org/officeDocument/2006/relationships/notesMaster" Target="../notesMasters/notesMaster1.xml"/><Relationship Id="Rb9c95f3809eb4f5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09f1f079221d4b4a" Type="http://schemas.openxmlformats.org/officeDocument/2006/relationships/slide" Target="../slides/slide11.xml"/><Relationship Id="Rce40a3f64b6c4c66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bb950c8c6a14ff4" Type="http://schemas.openxmlformats.org/officeDocument/2006/relationships/notesMaster" Target="../notesMasters/notesMaster1.xml"/><Relationship Id="R51c4bc5529814cd4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117d9d5ed6744fcf" Type="http://schemas.openxmlformats.org/officeDocument/2006/relationships/notesMaster" Target="../notesMasters/notesMaster1.xml"/><Relationship Id="R3f110307d8104f0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55e43e6bdfd43fc" Type="http://schemas.openxmlformats.org/officeDocument/2006/relationships/slide" Target="../slides/slide14.xml"/><Relationship Id="Raaf58fe3cc0e4dbd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59fb455b47444486" Type="http://schemas.openxmlformats.org/officeDocument/2006/relationships/slide" Target="../slides/slide15.xml"/><Relationship Id="Ra94d271366d442c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5742b7047f94805" Type="http://schemas.openxmlformats.org/officeDocument/2006/relationships/slide" Target="../slides/slide16.xml"/><Relationship Id="R8cc1b8720a214af7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555b70d9677e45fc" Type="http://schemas.openxmlformats.org/officeDocument/2006/relationships/notesMaster" Target="../notesMasters/notesMaster1.xml"/><Relationship Id="Ra7fd481a1b5b4701" Type="http://schemas.openxmlformats.org/officeDocument/2006/relationships/slide" Target="../slides/slide1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Shantharam. 0:20.</a:t>
            </a:r>
          </a:p>
          <a:p xmlns:a="http://schemas.openxmlformats.org/drawingml/2006/main">
            <a:r>
              <a:t>Introduce the project in one sentence: IndieGuard tells a small indie studio what to fix before Steam's 2-hour refund window closes, which feature combinations to back and when to patch.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Tejaswini. 0:40.</a:t>
            </a:r>
          </a:p>
          <a:p xmlns:a="http://schemas.openxmlformats.org/drawingml/2006/main">
            <a:r>
              <a:t>Who: small indie studios. Problem: negative reviews in the first two hours cost both rating and sale. Two measurable objectives, both evaluated on games the models never saw.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Shantharam. 0:30.</a:t>
            </a:r>
          </a:p>
          <a:p xmlns:a="http://schemas.openxmlformats.org/drawingml/2006/main">
            <a:r>
              <a:t>One row per unit. The pipeline is reproducible: python -m src.features rebuilds the features and runs 21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Shantharam. 0:45.</a:t>
            </a:r>
          </a:p>
          <a:p xmlns:a="http://schemas.openxmlformats.org/drawingml/2006/main">
            <a:r>
              <a:t>All data was collected by us. Documentation: docs/data_documentation.md; raw data frozen with row counts and SHA256 hashes.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Shantharam. 0:35.</a:t>
            </a:r>
          </a:p>
          <a:p xmlns:a="http://schemas.openxmlformats.org/drawingml/2006/main">
            <a:r>
              <a:t>Actual rows from the cleaned data (data/sample/). The target at review level is whether the review is negative; at game level it is the tier (Struggling 30%+ negative, Strong 10% or less).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Shantharam. 0:45.</a:t>
            </a:r>
          </a:p>
          <a:p xmlns:a="http://schemas.openxmlformats.org/drawingml/2006/main">
            <a:r>
              <a:t>Details in docs/validation_summary.md and docs/cleaning_log.md. Almost nothing is deleted: suspicious rows are flagged so each analysis chooses its own rule.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Srihitha. 0:55.</a:t>
            </a:r>
          </a:p>
          <a:p xmlns:a="http://schemas.openxmlformats.org/drawingml/2006/main">
            <a:r>
              <a:t>Two patterns relevant to the objectives: the refund window and the price gradient inside it. 29 EDA figures are in notebooks/02_EDA_Visualizations.ipynb.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Pradeep. 1:05.</a:t>
            </a:r>
          </a:p>
          <a:p xmlns:a="http://schemas.openxmlformats.org/drawingml/2006/main">
            <a:r>
              <a:t>Same test records for every model. Guessing baselines: PR-AUC 0.106, macro-F1 0.22. Tuning by grid search changed cross-validation scores by 0.002 to 0.02 and did not change which models tie.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Shantharam. 0:30.</a:t>
            </a:r>
          </a:p>
          <a:p xmlns:a="http://schemas.openxmlformats.org/drawingml/2006/main">
            <a:r>
              <a:t>Two of the three allowed methods: text mining and association rules. Time series was not selected.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Tejaswini. 0:45.</a:t>
            </a:r>
          </a:p>
          <a:p xmlns:a="http://schemas.openxmlformats.org/drawingml/2006/main">
            <a:r>
              <a:t>Cleaning and representation: negation binding and TF-IDF. Two uses of text: supervised detection of negative reviews and unsupervised themes.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Tejaswini. 1:05.</a:t>
            </a:r>
          </a:p>
          <a:p xmlns:a="http://schemas.openxmlformats.org/drawingml/2006/main">
            <a:r>
              <a:t>Same test reviews for every row. Be upfront: LDA scores better on UMass coherence; NMF was chosen for interpretability. The blind topic check was labelled by an AI assistant, in one pass, and the earlier 96% figure was withdrawn.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Pradeep. 0:45.</a:t>
            </a:r>
          </a:p>
          <a:p xmlns:a="http://schemas.openxmlformats.org/drawingml/2006/main">
            <a:r>
              <a:t>Transactions, thresholds and the train-then-test protocol. Support, confidence and lift are defined on slide 13's table and in notebooks/review2/association_rules.ipynb.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Pradeep. 1:05.</a:t>
            </a:r>
          </a:p>
          <a:p xmlns:a="http://schemas.openxmlformats.org/drawingml/2006/main">
            <a:r>
              <a:t>Support = share of games with the combination and the tier; confidence = share of games with the combination that have the tier; lift = confidence divided by the tier's overall rate. The comparison varies support, rule length, algorithm and the after-play tags.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Shantharam. 0:55.</a:t>
            </a:r>
          </a:p>
          <a:p xmlns:a="http://schemas.openxmlformats.org/drawingml/2006/main">
            <a:r>
              <a:t>Each recommendation combines a Unit 2 or Unit 3 finding with its limit. Full list in docs/final_report.md section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Srihitha. 2:00.</a:t>
            </a:r>
          </a:p>
          <a:p xmlns:a="http://schemas.openxmlformats.org/drawingml/2006/main">
            <a:r>
              <a:t>Switch to the running app (streamlit run src/dashboard/app.py before the session). Demo order: market explorer filter by tag; tag rules by lift; patch impact; scorer with a described game. The screenshot is a fallback.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speakers: all five, about 9 seconds each. 0:45.</a:t>
            </a:r>
          </a:p>
          <a:p xmlns:a="http://schemas.openxmlformats.org/drawingml/2006/main">
            <a:r>
              <a:t>Board history and pull requests show who did what; the board has 39 Review 2 cards with owners, due dates and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speaker: Shantharam. 0:40.</a:t>
            </a:r>
          </a:p>
          <a:p xmlns:a="http://schemas.openxmlformats.org/drawingml/2006/main">
            <a:r>
              <a:t>Close with the main finding and the honest limits. Questions follow.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81022756585d4630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ed37d6c453845de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48a6b77d07724ef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7a9127ae2e7d40b9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e50b05ba7f87426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5652dd002c9e44d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C7C01F-B57D-44F3-8FAC-15DC9FB8E3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E680C61-2321-44D1-978C-C3A3D47FBD3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7F49B2A-3E42-4857-B789-03C280FD8F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E0E629-5117-4A73-86AF-8C85277847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EFB44AE-6C6B-4962-8488-921E00208F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848ED88-4CFD-4979-86CC-188CAAAB87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EF1CC07-64B5-4319-AD0C-752262F69E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9EC947F-2793-4E6A-B45C-99105680566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3BE2C0-EB59-4049-88F4-F466718828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49BDD25-6828-4F8F-9ADE-78224F8403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76f31b9958a40a7" Type="http://schemas.openxmlformats.org/officeDocument/2006/relationships/slideLayout" Target="../slideLayouts/slideLayout4.xml"/><Relationship Id="R20814bc949584035" Type="http://schemas.openxmlformats.org/officeDocument/2006/relationships/slideLayout" Target="../slideLayouts/slideLayout6.xml"/><Relationship Id="R6b3a177f639b4a07" Type="http://schemas.openxmlformats.org/officeDocument/2006/relationships/theme" Target="theme/theme2.xml"/><Relationship Id="R867931169c7c42a9" Type="http://schemas.openxmlformats.org/officeDocument/2006/relationships/slideLayout" Target="../slideLayouts/slideLayout2.xml"/><Relationship Id="R8c7a749b09184180" Type="http://schemas.openxmlformats.org/officeDocument/2006/relationships/slideLayout" Target="../slideLayouts/slideLayout1.xml"/><Relationship Id="Rb2d72513e8df4be6" Type="http://schemas.openxmlformats.org/officeDocument/2006/relationships/slideLayout" Target="../slideLayouts/slideLayout3.xml"/><Relationship Id="Rf0703841aa5e4fae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7a749b09184180"/>
    <p:sldLayoutId xmlns:r="http://schemas.openxmlformats.org/officeDocument/2006/relationships" id="2147483650" r:id="R867931169c7c42a9"/>
    <p:sldLayoutId xmlns:r="http://schemas.openxmlformats.org/officeDocument/2006/relationships" id="2147483651" r:id="Rb2d72513e8df4be6"/>
    <p:sldLayoutId xmlns:r="http://schemas.openxmlformats.org/officeDocument/2006/relationships" id="2147483652" r:id="R076f31b9958a40a7"/>
    <p:sldLayoutId xmlns:r="http://schemas.openxmlformats.org/officeDocument/2006/relationships" id="2147483653" r:id="Rf0703841aa5e4fae"/>
    <p:sldLayoutId xmlns:r="http://schemas.openxmlformats.org/officeDocument/2006/relationships" id="2147483654" r:id="R20814bc9495840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65771460536493d" Type="http://schemas.openxmlformats.org/officeDocument/2006/relationships/slideLayout" Target="../slideLayouts/slideLayout6.xml"/><Relationship Id="Rea340ad89b8145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7a74da8cc9249fb" Type="http://schemas.openxmlformats.org/officeDocument/2006/relationships/notesSlide" Target="../notesSlides/notesSlide2.xml"/><Relationship Id="R91a6751f31ad4dc2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340e56ebb38c405f" Type="http://schemas.openxmlformats.org/officeDocument/2006/relationships/slideLayout" Target="../slideLayouts/slideLayout6.xml"/><Relationship Id="Rbc5ba185cde54a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8039b446a9248af" Type="http://schemas.openxmlformats.org/officeDocument/2006/relationships/notesSlide" Target="../notesSlides/notesSlide4.xml"/><Relationship Id="Rd0203877a67346b4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7a05c8a2fac443fb" Type="http://schemas.openxmlformats.org/officeDocument/2006/relationships/slideLayout" Target="../slideLayouts/slideLayout6.xml"/><Relationship Id="Re162a8108f904aa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4801df165e9e4afa" Type="http://schemas.openxmlformats.org/officeDocument/2006/relationships/notesSlide" Target="../notesSlides/notesSlide6.xml"/><Relationship Id="R4a34e84d539345c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0804ad2e620d4cce" Type="http://schemas.openxmlformats.org/officeDocument/2006/relationships/notesSlide" Target="../notesSlides/notesSlide7.xml"/><Relationship Id="Rffdf568788184ef1" Type="http://schemas.openxmlformats.org/officeDocument/2006/relationships/slideLayout" Target="../slideLayouts/slideLayout6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17209cf6857f470e" Type="http://schemas.openxmlformats.org/officeDocument/2006/relationships/notesSlide" Target="../notesSlides/notesSlide8.xml"/><Relationship Id="R53d798423e7948e8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35ac007a58df44d6" Type="http://schemas.openxmlformats.org/officeDocument/2006/relationships/notesSlide" Target="../notesSlides/notesSlide9.xml"/><Relationship Id="R7c5f35c36132433d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b1faabe56a254dbd" Type="http://schemas.openxmlformats.org/officeDocument/2006/relationships/notesSlide" Target="../notesSlides/notesSlide10.xml"/><Relationship Id="Re63a65d719f0403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478b3e0192c445b9" Type="http://schemas.openxmlformats.org/officeDocument/2006/relationships/notesSlide" Target="../notesSlides/notesSlide11.xml"/><Relationship Id="R910ee0f55ce9493e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254178b6123a4f36" Type="http://schemas.openxmlformats.org/officeDocument/2006/relationships/notesSlide" Target="../notesSlides/notesSlide12.xml"/><Relationship Id="Rb20c3fb49d904b97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6f7865818c304f09" Type="http://schemas.openxmlformats.org/officeDocument/2006/relationships/notesSlide" Target="../notesSlides/notesSlide13.xml"/><Relationship Id="Rfb50a02df876480c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506c62bc55044304" Type="http://schemas.openxmlformats.org/officeDocument/2006/relationships/slideLayout" Target="../slideLayouts/slideLayout6.xml"/><Relationship Id="Radba121ad76743f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20c674c522da42a1" Type="http://schemas.openxmlformats.org/officeDocument/2006/relationships/slideLayout" Target="../slideLayouts/slideLayout6.xml"/><Relationship Id="R56cc1bfed52146b7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93625b1f186b4d0c" Type="http://schemas.openxmlformats.org/officeDocument/2006/relationships/notesSlide" Target="../notesSlides/notesSlide16.xml"/><Relationship Id="Rdaef42e85dfa4dc0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178bafcf87994f63" Type="http://schemas.openxmlformats.org/officeDocument/2006/relationships/slideLayout" Target="../slideLayouts/slideLayout6.xml"/><Relationship Id="Rac4a8a7d6e774b0d" Type="http://schemas.openxmlformats.org/officeDocument/2006/relationships/notesSlide" Target="../notesSlides/notesSlide1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ADEF8-AADF-43D1-90C1-50A9B95F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23CSE452 BUSINESS ANALYTICS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218575-EBAC-4868-A588-E275AEEA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IndieGuard: Indie Game Launch Analytics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5BF02-5CA2-4B87-B873-2B3DCFC0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8C83C-B788-4B95-AE05-315E57A0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Final Project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801F1-C77E-469A-8C72-B5012D04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0881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Group 1: Thotakura Srihitha (CB.SC.U4CSE23450), Gayas Sheik (CB.SC.U4CSE23118), Shantharam P (CB.SC.U4CSE23146), Pradeep Sasidharan (CB.SC.U4CSE23232), Valikala Tejaswini (CB.SC.U4CSE23752)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E96CFB-B7A0-4733-A4C1-91542659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Review 2: Unit 3 advanced analytics (text mining and association rules) and the interactive dashboard</a:t>
            </a:r>
          </a:p>
        </p:txBody>
      </p:sp>
    </p:spTree>
    <p:extLst>
      <p:ext uri="{BB962C8B-B14F-4D97-AF65-F5344CB8AC3E}">
        <p14:creationId xmlns:p14="http://schemas.microsoft.com/office/powerpoint/2010/main" val="13965296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343E7-897E-4DAC-BDC5-EAE42CCB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PROJECT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1F470-9F33-4ECE-9801-5FEC2B16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Business problem and objectives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59113F-EFA7-4894-9DAC-CFF6316D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745E4-06FC-4A61-A5EC-5ACBCB04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Business problem: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A small indie studio cannot tell what drives negative Steam reviews. A negative review written inside the 2-hour refund window costs the rating and often the sale.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A7B16-567A-4CE1-8454-F080C30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8920"/>
            <a:ext cx="1066800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Objectives: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(1) Beat the guessing baselines on unseen games: PR-AUC for negative reviews, macro-F1 for game success tiers. (2) Find which complaint themes and tag combinations go with weak or strong reception, tested on held-out games.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1A58E-E834-43D8-B9AA-B3ECB73E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06680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Business decision: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What to fix before launch, which feature combinations and price to back, and when a patch is worth the effort.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CB975-5F85-44EA-9A3E-9E1BBD5A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4880"/>
            <a:ext cx="1066800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Expected output: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Review and game predictions, complaint themes, tag rules, a patch-impact result, a launch-risk scorer and a dashboard with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120750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8A3F6-EA40-4274-A965-7B5983BD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UNITS 1 TO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0865B3-5019-438A-B46E-CB05F418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Complete project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6DB07-E00A-4260-A0E8-0337A7A7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16A9A-B30F-435A-B53B-00121FAFC2FC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10972800" cy="33832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03120"/>
                <a:gridCol w="88696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Your implementation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Unit 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Own scrapers: 1,861 games and 1.65M reviews; 32 logged cleaning rules; EDA; features (tag PCA, TF-IDF with SVD)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Unit 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Dummy, Logistic Regression, Random Forest, LightGBM and XGBoost at review and game level; shared split by game; grid-search tuning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Unit 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Text mining (topic model and sentiment classification) and association rule mining; patch impact as an extra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Final application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Streamlit dashboard (market explorer, rules and complaints, patch impact, launch-risk scorer) and recommendations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2009C-353D-4A25-B9F6-952D21AC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0640"/>
            <a:ext cx="1057275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875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Completion status: </a:t>
            </a:r>
            <a:r>
              <a:rPr sz="1500" b="0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Units 1 to 3, evaluation, report and dashboard are implemented and integrated; the dashboard runs locally.</a:t>
            </a:r>
          </a:p>
        </p:txBody>
      </p:sp>
    </p:spTree>
    <p:extLst>
      <p:ext uri="{BB962C8B-B14F-4D97-AF65-F5344CB8AC3E}">
        <p14:creationId xmlns:p14="http://schemas.microsoft.com/office/powerpoint/2010/main" val="3195337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767BA-4106-4171-9518-41AD7DFE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DATASET ACROSS UNITS 1 TO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57D2C8-8458-4A56-A48E-EEAA5E1B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Overall dataset description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24CB5-E55B-4AC3-B472-A4236143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5A6C50-D58A-4A10-9E5B-B82BE800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66800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Source and collection: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Our own throttled, resumable scrapers on public Steam sources (store search, store details, SteamSpy, news, reviews), 1 to 2 October 2026. No pre-built dataset.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523C5-8491-4051-A64A-64EB0356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8920"/>
            <a:ext cx="1066800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Final dataset size: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1,861 games x 58 variables; 1,648,387 reviews x 34 variables; 29,918 patch and sale events.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FAD4CC-294E-4C56-92E4-46386B9B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Coverage: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Indie roguelike and roguelite games released 2022 to 2025; 31 languages; 99.95% of the reviews Steam reports were collected (five very large games are capped at their newest 15,000).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BB0E34-8821-4A79-AD8A-1D9A400F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066800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Unit mapping: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Unit 2: 1,573,436 reviews with features and 1,490 games with a success tier. Unit 3: 557,202 English reviews (text); 1,490 games with 137 tag, price and Early Access items (rules); 29,918 events (patch impact).</a:t>
            </a:r>
          </a:p>
        </p:txBody>
      </p:sp>
    </p:spTree>
    <p:extLst>
      <p:ext uri="{BB962C8B-B14F-4D97-AF65-F5344CB8AC3E}">
        <p14:creationId xmlns:p14="http://schemas.microsoft.com/office/powerpoint/2010/main" val="13779009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6271E-B87B-40A7-B145-EFA4C355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FINAL PROJECT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BE530-386D-40FD-AF96-351BB233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Sample dataset and key variables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3460FC-E867-4CD3-BCE0-2261783C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7FB6C-F550-44F2-8608-EFA2F74D0F59}"/>
              </a:ext>
            </a:extLst>
          </p:cNvPr>
          <p:cNvGraphicFramePr/>
          <p:nvPr/>
        </p:nvGraphicFramePr>
        <p:xfrm>
          <a:off xmlns:a="http://schemas.openxmlformats.org/drawingml/2006/main" x="609600" y="1783080"/>
          <a:ext xmlns:a="http://schemas.openxmlformats.org/drawingml/2006/main" cx="10972800" cy="16916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400800"/>
                <a:gridCol w="1463040"/>
                <a:gridCol w="128016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text (excerpt)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Playtime at review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Language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Target: review is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If you're reading comments right now to decide if you should buy it - ...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23.9 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english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positive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Why Nerf a coop hades ripoff? It's a PvE game lmao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13 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english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negative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Hardness for the sake of hardness. Game has several situations where y...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11.6 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english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negative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9EDCC-2CBB-4C64-AF5F-48DEDA99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4775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95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Key variables: </a:t>
            </a:r>
            <a:r>
              <a:rPr sz="13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voted_up (target: negative review), playtime at review (hours), language, review text; per game: price (USD), launch year, DLC, achievements, tags (text), review totals, success tier.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28CDC-22BC-40DC-8AC3-B989D8B9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Linked data: reviews join games on appid; the success tier uses games with at least 20 reviews. Full samples: data/sample/.</a:t>
            </a:r>
          </a:p>
        </p:txBody>
      </p:sp>
      <p:graphicFrame>
        <p:nvGraphicFramePr>
          <p:cNvPr id="900" name="Games table">
            <a:extLst xmlns:a="http://schemas.openxmlformats.org/drawingml/2006/main">
              <a:ext uri="{FF2B5EF4-FFF2-40B4-BE49-F238E27FC236}">
                <a16:creationId xmlns:a16="http://schemas.microsoft.com/office/drawing/2014/main" id="{5BB7FB6C-F550-44F2-8608-EFA2F74D0F59}"/>
              </a:ext>
            </a:extLst>
          </p:cNvPr>
          <p:cNvGraphicFramePr/>
          <p:nvPr/>
        </p:nvGraphicFramePr>
        <p:xfrm>
          <a:off xmlns:a="http://schemas.openxmlformats.org/drawingml/2006/main" x="609600" y="3749039"/>
          <a:ext xmlns:a="http://schemas.openxmlformats.org/drawingml/2006/main" cx="10972800" cy="164592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26080"/>
                <a:gridCol w="1280160"/>
                <a:gridCol w="14630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Game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Released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Price (USD)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Reviews and target: success tier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Cross The World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$19.99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23 reviews, 0% negative; tier Strong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Bloody Heaven 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$4.99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138 reviews, 15% negative; tier Solid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Firework War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$0.00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55 reviews, 4% negative; tier Strong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25259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BE5F2A-720E-4573-878E-C101B591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OVERALL VALIDATION FOR UNITS 1 TO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84140-130B-46E5-9F90-51059CE2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Dataset validation and preparation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FDD72-885C-4289-AFCE-70C8027D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7A3E9-91B6-48BF-AF9D-CCCB5E4C264B}"/>
              </a:ext>
            </a:extLst>
          </p:cNvPr>
          <p:cNvGraphicFramePr/>
          <p:nvPr/>
        </p:nvGraphicFramePr>
        <p:xfrm>
          <a:off xmlns:a="http://schemas.openxmlformats.org/drawingml/2006/main" x="609600" y="1783080"/>
          <a:ext xmlns:a="http://schemas.openxmlformats.org/drawingml/2006/main" cx="10972800" cy="37490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77440"/>
                <a:gridCol w="4480560"/>
                <a:gridCol w="4114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Finding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Correction / evidence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Missing values and duplicates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4,612 empty reviews; no duplicate review or game IDs; some game columns mostly empty (Metacritic, about 98%)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Empty reviews dropped (1,652,999 to 1,648,387); empty columns unused; free games priced 0; unknown playtime flagged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Types, ranges and consistency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Playtime outliers (8,242 above 363 h); 318 wrong launch dates; 30,018 reviews before launch; spam and copy-paste reviews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Timestamps in UTC; playtime winsorised in a copy; dates corrected; the rest flagged and kept (32 logged rules)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Suitability across all units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Each unit has the fields it needs: tiers (1,490 games), English text (557,202), tag items (137), events (29,918)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One split by game; 21 feature checks and 21 Review 2 checks pass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Synthetic data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None: every record comes from public Steam endpoints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Not applicable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E419D-441D-4E1D-AEDE-31B45199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9280"/>
            <a:ext cx="1057275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875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Final validated dataset: </a:t>
            </a:r>
            <a:r>
              <a:rPr sz="1500" b="0">
                <a:solidFill>
                  <a:srgbClr val="157A80"/>
                </a:solidFill>
                <a:latin typeface="Arial"/>
                <a:ea typeface="Arial"/>
                <a:cs typeface="Arial"/>
              </a:rPr>
              <a:t>1,861 games and 1,648,387 reviews (data/processed/games_clean.parquet, reviews_clean/).</a:t>
            </a:r>
          </a:p>
        </p:txBody>
      </p:sp>
    </p:spTree>
    <p:extLst>
      <p:ext uri="{BB962C8B-B14F-4D97-AF65-F5344CB8AC3E}">
        <p14:creationId xmlns:p14="http://schemas.microsoft.com/office/powerpoint/2010/main" val="5814248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E5281-5814-4291-B8DE-FB11715A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70B92-C245-446F-A6B2-954E4F46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Exploratory analysis and preprocessing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6EF40-5FAD-4E83-9187-5FE9CC84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5F0BD-DAEF-4688-97F4-0C8CC459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106680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Key findings: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21.2% of reviews under 2 hours of play are negative against 8.8% later, and they are 29% of all negatives; inside that window negativity climbs from 11% (under $5) to 32% ($20 or more).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8E0AF-687D-43C3-AA48-711AD279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6680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Preparation: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empty reviews dropped, suspicious ones flagged; 439 tag columns reduced to 68 PCA components; review text to TF-IDF and 78 SVD components; all fitted on training games only.</a:t>
            </a:r>
          </a:p>
        </p:txBody>
      </p:sp>
      <p:graphicFrame xmlns:a="http://schemas.openxmlformats.org/drawingml/2006/main"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39496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 xmlns:a="http://schemas.openxmlformats.org/drawingml/2006/main"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600200"/>
          <a:ext cx="539496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028986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D34040-A608-4A4D-9436-08E9A32A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D50C3-2951-437D-9286-819C0AD2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Predictive modelling and final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4E2AA2-04B0-4D08-98E4-3A8D9DD5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8B4C9-2252-4576-AC7F-097E251FCA5B}"/>
              </a:ext>
            </a:extLst>
          </p:cNvPr>
          <p:cNvGraphicFramePr/>
          <p:nvPr/>
        </p:nvGraphicFramePr>
        <p:xfrm>
          <a:off xmlns:a="http://schemas.openxmlformats.org/drawingml/2006/main" x="609600" y="1783080"/>
          <a:ext xmlns:a="http://schemas.openxmlformats.org/drawingml/2006/main" cx="10972800" cy="2377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66160"/>
                <a:gridCol w="2468880"/>
                <a:gridCol w="2468880"/>
                <a:gridCol w="24688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PR-AUC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ROC-AUC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Game macro-F1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Dummy (prior)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0.106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0.220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0.194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0.663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0.423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Random Forest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0.280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0.726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0.404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LightGBM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0.254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0.724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0.421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XGBoost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0.275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0.729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0.388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A00C4-C299-46D2-926D-D007DABE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Evaluation setup: </a:t>
            </a:r>
            <a:r>
              <a:rPr sz="13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review is negative (1,257,095 train and 316,341 test reviews); game tier (1,191 train and 299 test games). Split by game, 5 folds inside train, preprocessing fitted on train, tuned by grid search, test scored once.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B3FF8-F154-49D7-A7C7-108D0219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57275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Selected model and interpretation: </a:t>
            </a:r>
            <a:r>
              <a:rPr sz="13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the three tree models tie at review level (PR-AUC about 0.28 against 0.11 for guessing) and simple models match boosting at game level (about 0.42 against 0.22); store metadata says little about how good a game is. Game-level tuning is in progress.</a:t>
            </a:r>
          </a:p>
        </p:txBody>
      </p:sp>
    </p:spTree>
    <p:extLst>
      <p:ext uri="{BB962C8B-B14F-4D97-AF65-F5344CB8AC3E}">
        <p14:creationId xmlns:p14="http://schemas.microsoft.com/office/powerpoint/2010/main" val="1190559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A2372-5E66-42DE-8B53-9300E503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AF5FB-AC58-4E29-9EA6-A0EA2B8A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Selected advanced analytics methods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2A2B95-75AB-4A68-84B4-6C002BEF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543E7-13D8-4126-84D0-9539E1F5455E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10972800" cy="26517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00400"/>
                <a:gridCol w="420624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method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question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Data used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Method 1: Text mining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What do players complain about, and can the review text flag a negative review?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557,202 English reviews: text, playtime, price tier, target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Method 2: Association rule mining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Which tag, price and Early Access combinations go with Strong reception?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1,490 games: 137 items (tags, price band, Early Access) and tiers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D661E-F7DF-42DC-BD9B-EDE438C1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Selected: Text Mining and Association Rule Mining. Patch impact and the launch-risk scorer are extra analyses.</a:t>
            </a:r>
          </a:p>
        </p:txBody>
      </p:sp>
    </p:spTree>
    <p:extLst>
      <p:ext uri="{BB962C8B-B14F-4D97-AF65-F5344CB8AC3E}">
        <p14:creationId xmlns:p14="http://schemas.microsoft.com/office/powerpoint/2010/main" val="12370993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9BBDF-8FEE-4A35-9821-C8CF275E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2BBE01-1719-4C72-B8A4-45DC27F9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Method 1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7164B-B878-4DBD-809C-47ABFBDC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3C200-B169-49BC-BF61-D922B846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3080"/>
            <a:ext cx="106680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Selected method: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Text mining, to find complaint themes and to flag negative reviews from their own words.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E5F75A-D3D1-435A-BCBD-8F48202A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066800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Input and preparation: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English reviews only (557,202 after script and language filters); negation binding (not_fun, too_hard); stopwords; TF-IDF with 1 to 2 word groups and 100,000 terms; 78 SVD components for the compact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5D477-8E18-4ECE-A35E-8096C2E6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066800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Implementation: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(a) Logistic Regression on TF-IDF, grid search over 30 settings, threshold from out-of-fold predictions; (b) NMF topic model, 8 topics, on 40,000 negative training reviews, with LDA as the baseline (scikit-learn).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21DF4-4D18-4483-A88C-629FCF53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0"/>
            <a:ext cx="1066800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Output: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a negative-review detector (PR-AUC 0.84) and 8 complaint themes: crashes and multiplayer bugs lead early (29%), boss and balance later (34%); “boring” is in 9.1% of negative reviews against 0.8% of positive ones.</a:t>
            </a:r>
          </a:p>
        </p:txBody>
      </p:sp>
    </p:spTree>
    <p:extLst>
      <p:ext uri="{BB962C8B-B14F-4D97-AF65-F5344CB8AC3E}">
        <p14:creationId xmlns:p14="http://schemas.microsoft.com/office/powerpoint/2010/main" val="680234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A0D3AE-4AF7-4CC4-8F37-1474DB9B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BB2EEA-EA2C-4AF7-AF01-C4956469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Method 1 evaluation and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5F8C2-A08E-4AA5-A111-378AE00D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F9693-7496-4F1A-816E-0D86D969D454}"/>
              </a:ext>
            </a:extLst>
          </p:cNvPr>
          <p:cNvGraphicFramePr/>
          <p:nvPr/>
        </p:nvGraphicFramePr>
        <p:xfrm>
          <a:off xmlns:a="http://schemas.openxmlformats.org/drawingml/2006/main" x="609600" y="1737360"/>
          <a:ext xmlns:a="http://schemas.openxmlformats.org/drawingml/2006/main" cx="10972800" cy="210312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20640"/>
                <a:gridCol w="1828800"/>
                <a:gridCol w="219456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PR-AUC (test)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Precision / recall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Dummy (prior)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0.115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0.12 / 1.00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LightGBM, metadata only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0.360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0.32 / 0.49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0.39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LightGBM, metadata + text components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0.593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0.52 / 0.62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0.56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Regression, full text + metadata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0.75 / 0.79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0.77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322C2-0A52-4759-AAEB-4AE4EA38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7639"/>
            <a:ext cx="1057275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Evaluation data: </a:t>
            </a:r>
            <a:r>
              <a:rPr sz="12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120,487 English test reviews from games never seen in training. Confusion matrix of the selected model: 10,980 negatives caught, 2,893 missed, 3,607 false alarms, 103,007 correct positives; accuracy 94.6% against 88.5% for always guessing positive. Topics: NMF diversity 90.0% against 86.25% for LDA, coherence -2.380 against -1.732 (LDA better), stability 0.745.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89FB3-CBB4-4A8A-A567-D7BA9CB6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9240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Interpretation: </a:t>
            </a:r>
            <a:r>
              <a:rPr sz="12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the full text model is selected: it detects a negative review far better than metadata. It detects, it does not forecast. A blind check of 200 reviews (labelled by an AI assistant) agrees with the topics on 35.5%: only the Early Access, repetition and crash topics are reliable.</a:t>
            </a:r>
          </a:p>
        </p:txBody>
      </p:sp>
    </p:spTree>
    <p:extLst>
      <p:ext uri="{BB962C8B-B14F-4D97-AF65-F5344CB8AC3E}">
        <p14:creationId xmlns:p14="http://schemas.microsoft.com/office/powerpoint/2010/main" val="20558782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E9F37-639D-4246-AF3B-4C040AF9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9A008-B14A-400A-B17C-5ACE4BE1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Method 2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0AEDA9-D1EF-49B0-8EC7-EB9C731C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144C8-4E31-4C1F-8148-17B4DBCE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3080"/>
            <a:ext cx="1066800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Selected method: </a:t>
            </a:r>
            <a:r>
              <a:rPr sz="15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Association rule mining with FP-Growth, to find tag, price and Early Access combinations that go with the Strong tier.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0900EB-1B60-44F0-8102-7BBACAA3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6040"/>
            <a:ext cx="1066800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Input and preparation: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transactions = the 1,191 training games, each a set of items: user tags (without after-play opinion tags such as Great Soundtrack), price band and Early Access; 137 items; Strong is the tier for 35.3% of training games.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C613F-0AE4-461E-A735-039F81AE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1066800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Implementation: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mlxtend FP-Growth, minimum support 25 games, up to 3 items, at least 10 hits, lift at least 1.2, Benjamini-Hochberg q below 0.10; each rule is then checked once on the 299 test games (at least 10 test games to count).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04A492-FAC6-4974-8483-659032AA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066800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Output: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4,715 candidate rules, 95 Strong rules pass, 0 Struggling rules. Top rule: Pixel Graphics + Retro + Shooter, 25 games, 80% Strong (lift 2.26), 3 of 4 test games Strong.</a:t>
            </a:r>
          </a:p>
        </p:txBody>
      </p:sp>
    </p:spTree>
    <p:extLst>
      <p:ext uri="{BB962C8B-B14F-4D97-AF65-F5344CB8AC3E}">
        <p14:creationId xmlns:p14="http://schemas.microsoft.com/office/powerpoint/2010/main" val="14430134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58891-18A5-414B-856B-FE11F25A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UNIT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AB2B7-C380-4333-8683-F6BBF011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Method 2 evaluation and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0EA7B-3BBC-4C86-9EB4-FC754B56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23880-1490-47B2-AD56-821CBFA136CC}"/>
              </a:ext>
            </a:extLst>
          </p:cNvPr>
          <p:cNvGraphicFramePr/>
          <p:nvPr/>
        </p:nvGraphicFramePr>
        <p:xfrm>
          <a:off xmlns:a="http://schemas.openxmlformats.org/drawingml/2006/main" x="609600" y="1691640"/>
          <a:ext xmlns:a="http://schemas.openxmlformats.org/drawingml/2006/main" cx="10972800" cy="26517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54880"/>
                <a:gridCol w="1828800"/>
                <a:gridCol w="219456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Configuration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Strong rules (FDR)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confidence / lift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Hold on test games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FP-Growth, support 25, up to 3 items (chosen)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95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0.59 / 1.68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68% of 66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Apriori, same thresholds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95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0.59 / 1.68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68% of 66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FP-Growth, support 15 (looser)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107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0.65 / 1.85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66% of 56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FP-Growth, support 40 (stricter)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69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0.57 / 1.60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69% of 59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FP-Growth, pairs only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0.56 / 1.59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83% of 30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FP-Growth, keeping after-play tags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131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0.60 / 1.69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69% of 88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BCF54-64EE-45B6-BD01-F09AAEC5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9120"/>
            <a:ext cx="1057275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Evaluation data: </a:t>
            </a:r>
            <a:r>
              <a:rPr sz="12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same 1,191 training and 299 test games for every row; support, confidence and lift on training games, then a held-out check of whether each rule still holds.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91BCC3-0A13-4EAB-B38D-D4450625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57275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Interpretation: </a:t>
            </a:r>
            <a:r>
              <a:rPr sz="12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FP-Growth and Apriori return the same 95 rules. Lower support finds more rules with higher lift that hold less often on test games; keeping after-play tags adds circular rules. No configuration finds a Struggling rule. Supports are small (30 to 60 games): hypotheses, not recipes.</a:t>
            </a:r>
          </a:p>
        </p:txBody>
      </p:sp>
    </p:spTree>
    <p:extLst>
      <p:ext uri="{BB962C8B-B14F-4D97-AF65-F5344CB8AC3E}">
        <p14:creationId xmlns:p14="http://schemas.microsoft.com/office/powerpoint/2010/main" val="13614668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2DBF9C-744E-492C-A7E5-BDEFF758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BUSINESS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BD7BE-F155-4E5B-8B7C-CEB00E6C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Combined insights and recommendations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3C204-9B86-4425-8ACC-1F35AFE3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2BA3C-6A30-4CD9-AEDE-C59CC09F7462}"/>
              </a:ext>
            </a:extLst>
          </p:cNvPr>
          <p:cNvGraphicFramePr/>
          <p:nvPr/>
        </p:nvGraphicFramePr>
        <p:xfrm>
          <a:off xmlns:a="http://schemas.openxmlformats.org/drawingml/2006/main" x="609600" y="1737360"/>
          <a:ext xmlns:a="http://schemas.openxmlformats.org/drawingml/2006/main" cx="10972800" cy="37490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97680"/>
                <a:gridCol w="3657600"/>
                <a:gridCol w="3017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from the project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Recommended action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benefit / limitation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Refund window: 21.2% negative under 2 h against 8.8% later (Unit 2); crashes, multiplayer bugs and controls lead early negatives (text mining)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Blind-test the first 30 minutes; fix crashes and controls before launch; monitor early reviews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Targets the 29% of negatives written in the window; association, not cause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Early negativity rises with price (11% to 32%); 2D, pixel, retro and procedural combinations are Strong about two-thirds of the time; no rule predicts Struggling (rules)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Prefer focused scope; price below about $15 unless depth is verified; complete the store page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Small supports (30 to 60 games); treat as hypotheses to test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Patches: no clear effect against matched controls (+0.27 points, interval includes zero); themes show what to patch (patch impact, text mining)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Patch for specific problems (crashes, controls, balance), not to lift ratings in general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Controls cover 164 of 617 games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27B3EC-740C-4640-BB6D-A6F13A67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2120"/>
            <a:ext cx="1057275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195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Business objective addressed: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evidence for what to fix before the refund window closes, which combinations and price to back, and when to patch.</a:t>
            </a:r>
          </a:p>
        </p:txBody>
      </p:sp>
    </p:spTree>
    <p:extLst>
      <p:ext uri="{BB962C8B-B14F-4D97-AF65-F5344CB8AC3E}">
        <p14:creationId xmlns:p14="http://schemas.microsoft.com/office/powerpoint/2010/main" val="19362603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E0F18-477D-4762-971E-5CA6A560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MANDATORY LIVE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0E321D-DD7C-40A2-8CD0-AAF7C8D3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Interactive dashboard or website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C65A0-85F7-48CD-A9F0-1A88D471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0743C-0EA1-46B2-9CF4-F59562FB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1640"/>
            <a:ext cx="106680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Application: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IndieGuard dashboard (Streamlit). Local launch: streamlit run src/dashboard/app.py; steps in docs/dashboard.md.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97154-6AB2-4230-8A48-5CCF86C6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3440"/>
            <a:ext cx="106680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Live demo: </a:t>
            </a:r>
            <a:r>
              <a:rPr sz="13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Market explorer: tick the tag Pixel Graphics and the tier mix and risky tags update; Tag rules: set lift 1.8 and stability stable; Scorer: describe a game and read its tier.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8DA68-B5B4-4369-B709-940A40FC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66800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Business scenario: </a:t>
            </a:r>
            <a:r>
              <a:rPr sz="13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a studio planning a $9.99 pixel-art roguelike checks tag risk, the rules that apply, the patch evidence and a launch-risk score.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Picture 8" descr="market_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4568" y="2286000"/>
            <a:ext cx="3108960" cy="2331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1037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E938C6-860B-4635-A66D-4DF17DF3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100% PROJECT 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8BDEE-51BC-4EB0-9606-BE325A7B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Completion and individual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01CEC-B3F6-4B79-ABAA-76237ECB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6931B-A7B7-41CA-AFD9-EBB6170071EC}"/>
              </a:ext>
            </a:extLst>
          </p:cNvPr>
          <p:cNvGraphicFramePr/>
          <p:nvPr/>
        </p:nvGraphicFramePr>
        <p:xfrm>
          <a:off xmlns:a="http://schemas.openxmlformats.org/drawingml/2006/main" x="609600" y="1737360"/>
          <a:ext xmlns:a="http://schemas.openxmlformats.org/drawingml/2006/main" cx="10972800" cy="4114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1840"/>
                <a:gridCol w="4206240"/>
                <a:gridCol w="34747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Team member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Completed responsibility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/ project-board task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T w="9525">
                      <a:solidFill>
                        <a:srgbClr val="CDD7DF"/>
                      </a:solidFill>
                      <a:prstDash val="solid"/>
                    </a:lnT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142D4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Thotakura Srihitha (CB.SC.U4CSE23450)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Exploratory analysis: 29 figures, association tests, tag combinations; dashboard pages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PR #1, notebooks/02_EDA_Visualizations.ipynb; cards #20, #21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Gayas Sheik (CB.SC.U4CSE23118)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Features and tag PCA; patch impact with controls; launch-risk scorer; reproducibility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PRs #2, #49, #50, #69, #71, #80; cards #4, #18, #19, #38, #39, #42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Shantharam P (CB.SC.U4CSE23146)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Data collection and cleaning; split and targets; models and tuning; dashboard; final report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src/collect, src/clean, src/models; PRs #56, #57, #95, #96, #97; cards #5-#17, #23-#27, #43, #45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Pradeep Sasidharan (CB.SC.U4CSE23232)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XGBoost models with SHAP; association rules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PRs #55, #70; cards #34, #35, #36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Valikala Tejaswini (CB.SC.U4CSE23752)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DD7DF"/>
                      </a:solidFill>
                      <a:prstDash val="solid"/>
                    </a:lnL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Text mining and topic modelling; combined insights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3247"/>
                          </a:solidFill>
                          <a:latin typeface="Arial"/>
                          <a:ea typeface="Arial"/>
                          <a:cs typeface="Arial"/>
                        </a:rPr>
                        <a:t>PRs #66, #81; cards #31, #32, #44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DD7DF"/>
                      </a:solidFill>
                      <a:prstDash val="solid"/>
                    </a:lnR>
                    <a:lnB w="9525">
                      <a:solidFill>
                        <a:srgbClr val="CDD7DF"/>
                      </a:solidFill>
                      <a:prstDash val="solid"/>
                    </a:lnB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F6CB9-3CF9-4DC7-906F-7E9CEC23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788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Board: github.com/users/Shan713/projects/1     Repository: github.com/Shan713/IndieGuard</a:t>
            </a:r>
          </a:p>
        </p:txBody>
      </p:sp>
    </p:spTree>
    <p:extLst>
      <p:ext uri="{BB962C8B-B14F-4D97-AF65-F5344CB8AC3E}">
        <p14:creationId xmlns:p14="http://schemas.microsoft.com/office/powerpoint/2010/main" val="153397690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6803CC-FC81-4DB3-867E-9169406E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A80"/>
                </a:solidFill>
                <a:latin typeface="Arial"/>
                <a:ea typeface="Arial"/>
                <a:cs typeface="Arial"/>
              </a:rPr>
              <a:t>FINAL PROJECT 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53AE4-85B4-4AC7-8DCC-76514376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42D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2D4E"/>
                </a:solidFill>
                <a:latin typeface="Arial"/>
                <a:ea typeface="Arial"/>
                <a:cs typeface="Arial"/>
              </a:rPr>
              <a:t>Conclusion and limitations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C747F-EA61-439C-89A8-AD7274EE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19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58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58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0B09B-3D22-4D3D-9291-CD42A174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66800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Main outcome: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Units 1 to 3 are implemented end to end: own data, cleaning, models with held-out evaluation, text mining and association rules, and a working dashboard.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3CED7-ECE6-4436-B3FC-9B1FEB20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7480"/>
            <a:ext cx="1066800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Business value: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the first two hours decide a lot (21% against 9% negative); crashes, controls and price matter early; focused 2D and pixel-style combinations go with strong reception; patches do not lift sentiment on their own.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C3EDBE-8DDB-4748-8A2E-63915D6F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0"/>
            <a:ext cx="1066800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Limitations: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associations, not causes; store data are October 2026 snapshots; only 51 Struggling test games; five large games capped; about 60% of reviews are not English; the AI-labelled topic check is weak for boss and balance topics.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F9F37-67EA-4B36-8737-F205DB4E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3480"/>
            <a:ext cx="1066800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/>
          <a:lstStyle xmlns:a="http://schemas.openxmlformats.org/drawingml/2006/main">
            <a:def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3247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33247"/>
                </a:solidFill>
                <a:latin typeface="Arial"/>
                <a:ea typeface="Arial"/>
                <a:cs typeface="Arial"/>
              </a:rPr>
              <a:t>Future scope: </a:t>
            </a:r>
            <a:r>
              <a:rPr sz="1400" b="0">
                <a:solidFill>
                  <a:srgbClr val="233247"/>
                </a:solidFill>
                <a:latin typeface="Arial"/>
                <a:ea typeface="Arial"/>
                <a:cs typeface="Arial"/>
              </a:rPr>
              <a:t>re-label a sample by hand, add discount-impact analysis, calibrate the scorer, and extend to more genres.</a:t>
            </a:r>
          </a:p>
        </p:txBody>
      </p:sp>
    </p:spTree>
    <p:extLst>
      <p:ext uri="{BB962C8B-B14F-4D97-AF65-F5344CB8AC3E}">
        <p14:creationId xmlns:p14="http://schemas.microsoft.com/office/powerpoint/2010/main" val="19572758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2026-10-16T08:19:46.1960000Z</dcterms:created>
  <dcterms:modified xsi:type="dcterms:W3CDTF">2026-10-16T08:19:46.1960000Z</dcterms:modified>
</coreProperties>
</file>