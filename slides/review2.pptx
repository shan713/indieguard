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sldIdLst>
    <p:sldId id="256" r:id="rId2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77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000" b="1" i="0">
                <a:solidFill>
                  <a:srgbClr val="132C43"/>
                </a:solidFill>
                <a:latin typeface="Bitstream Charter"/>
              </a:rPr>
              <a:t>Share of negative reviews where the theme is the main one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Negative reviews, under 2 h</c:v>
                </c:pt>
              </c:strCache>
            </c:strRef>
          </c:tx>
          <c:spPr>
            <a:solidFill>
              <a:srgbClr val="D1495B"/>
            </a:solidFill>
          </c:spPr>
          <c:invertIfNegative val="0"/>
          <c:cat>
            <c:strRef>
              <c:f>Sheet1!$A$2:$A$9</c:f>
              <c:strCache>
                <c:ptCount val="8"/>
                <c:pt idx="0">
                  <c:v>Unbalanced mechanics</c:v>
                </c:pt>
                <c:pt idx="1">
                  <c:v>Art vs gameplay loop</c:v>
                </c:pt>
                <c:pt idx="2">
                  <c:v>Multiplayer, crashes, bugs</c:v>
                </c:pt>
                <c:pt idx="3">
                  <c:v>Replayability, co-op</c:v>
                </c:pt>
                <c:pt idx="4">
                  <c:v>Early Access, content scarcity</c:v>
                </c:pt>
                <c:pt idx="5">
                  <c:v>Flawed design, controls, RNG</c:v>
                </c:pt>
                <c:pt idx="6">
                  <c:v>Repetitive, grind, pacing</c:v>
                </c:pt>
                <c:pt idx="7">
                  <c:v>Boss, damage, upgrades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1.56095416071232</c:v>
                </c:pt>
                <c:pt idx="1">
                  <c:v>22.2381004726833</c:v>
                </c:pt>
                <c:pt idx="2">
                  <c:v>28.668791909420687</c:v>
                </c:pt>
                <c:pt idx="3">
                  <c:v>7.35407277124326</c:v>
                </c:pt>
                <c:pt idx="4">
                  <c:v>4.495987688248871</c:v>
                </c:pt>
                <c:pt idx="5">
                  <c:v>4.86973727602506</c:v>
                </c:pt>
                <c:pt idx="6">
                  <c:v>5.67219962625041</c:v>
                </c:pt>
                <c:pt idx="7">
                  <c:v>25.14015609541607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Negative reviews, 2 h or more</c:v>
                </c:pt>
              </c:strCache>
            </c:strRef>
          </c:tx>
          <c:spPr>
            <a:solidFill>
              <a:srgbClr val="8C99A6"/>
            </a:solidFill>
          </c:spPr>
          <c:invertIfNegative val="0"/>
          <c:cat>
            <c:strRef>
              <c:f>Sheet1!$A$2:$A$9</c:f>
              <c:strCache>
                <c:ptCount val="8"/>
                <c:pt idx="0">
                  <c:v>Unbalanced mechanics</c:v>
                </c:pt>
                <c:pt idx="1">
                  <c:v>Art vs gameplay loop</c:v>
                </c:pt>
                <c:pt idx="2">
                  <c:v>Multiplayer, crashes, bugs</c:v>
                </c:pt>
                <c:pt idx="3">
                  <c:v>Replayability, co-op</c:v>
                </c:pt>
                <c:pt idx="4">
                  <c:v>Early Access, content scarcity</c:v>
                </c:pt>
                <c:pt idx="5">
                  <c:v>Flawed design, controls, RNG</c:v>
                </c:pt>
                <c:pt idx="6">
                  <c:v>Repetitive, grind, pacing</c:v>
                </c:pt>
                <c:pt idx="7">
                  <c:v>Boss, damage, upgrades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1.70408099100798</c:v>
                </c:pt>
                <c:pt idx="1">
                  <c:v>17.688486449097653</c:v>
                </c:pt>
                <c:pt idx="2">
                  <c:v>23.52386342199585</c:v>
                </c:pt>
                <c:pt idx="3">
                  <c:v>10.46972269383135</c:v>
                </c:pt>
                <c:pt idx="4">
                  <c:v>4.60290511224297</c:v>
                </c:pt>
                <c:pt idx="5">
                  <c:v>3.8357542602024703</c:v>
                </c:pt>
                <c:pt idx="6">
                  <c:v>4.04955039929573</c:v>
                </c:pt>
                <c:pt idx="7">
                  <c:v>34.12563667232597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9D6E2"/>
            </a:solidFill>
          </a:ln>
        </c:spPr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0.0"/>
          <c:min val="0.0"/>
        </c:scaling>
        <c:delete val="0"/>
        <c:axPos val="b"/>
        <c:majorTickMark val="in"/>
        <c:minorTickMark val="none"/>
        <c:tickLblPos val="none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900">
          <a:solidFill>
            <a:srgbClr val="263C50"/>
          </a:solidFill>
          <a:latin typeface="Bitstream Charter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000" b="1" i="0">
                <a:solidFill>
                  <a:srgbClr val="132C43"/>
                </a:solidFill>
                <a:latin typeface="Bitstream Charter"/>
              </a:rPr>
              <a:t>Change in positive share, by days since launch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change (points)</c:v>
                </c:pt>
              </c:strCache>
            </c:strRef>
          </c:tx>
          <c:spPr>
            <a:solidFill>
              <a:srgbClr val="48677E"/>
            </a:solidFill>
          </c:spPr>
          <c:invertIfNegative val="0"/>
          <c:cat>
            <c:strRef>
              <c:f>Sheet1!$A$2:$A$4</c:f>
              <c:strCache>
                <c:ptCount val="3"/>
                <c:pt idx="0">
                  <c:v>up to 30 d</c:v>
                </c:pt>
                <c:pt idx="1">
                  <c:v>31-180 d</c:v>
                </c:pt>
                <c:pt idx="2">
                  <c:v>over 180 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-1.8959945895678656</c:v>
                </c:pt>
                <c:pt idx="1">
                  <c:v>-0.7613590919833932</c:v>
                </c:pt>
                <c:pt idx="2">
                  <c:v>-0.3615510527566736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C9D6E2"/>
            </a:solidFill>
          </a:ln>
        </c:spPr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.0"/>
          <c:min val="-4.0"/>
        </c:scaling>
        <c:delete val="0"/>
        <c:axPos val="l"/>
        <c:majorTickMark val="in"/>
        <c:minorTickMark val="none"/>
        <c:tickLblPos val="none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900">
          <a:solidFill>
            <a:srgbClr val="263C50"/>
          </a:solidFill>
          <a:latin typeface="Bitstream Charter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000" b="1" i="0">
                <a:solidFill>
                  <a:srgbClr val="132C43"/>
                </a:solidFill>
                <a:latin typeface="Bitstream Charter"/>
              </a:rPr>
              <a:t>By positive share before the patch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change (points)</c:v>
                </c:pt>
              </c:strCache>
            </c:strRef>
          </c:tx>
          <c:spPr>
            <a:solidFill>
              <a:srgbClr val="D1495B"/>
            </a:solidFill>
          </c:spPr>
          <c:invertIfNegative val="0"/>
          <c:cat>
            <c:strRef>
              <c:f>Sheet1!$A$2:$A$4</c:f>
              <c:strCache>
                <c:ptCount val="3"/>
                <c:pt idx="0">
                  <c:v>below 70%</c:v>
                </c:pt>
                <c:pt idx="1">
                  <c:v>70-90%</c:v>
                </c:pt>
                <c:pt idx="2">
                  <c:v>above 90%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9.447263384938624</c:v>
                </c:pt>
                <c:pt idx="1">
                  <c:v>-0.0460224105460108</c:v>
                </c:pt>
                <c:pt idx="2">
                  <c:v>-3.2075674668014527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C9D6E2"/>
            </a:solidFill>
          </a:ln>
        </c:spPr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.0"/>
          <c:min val="-4.0"/>
        </c:scaling>
        <c:delete val="0"/>
        <c:axPos val="l"/>
        <c:majorTickMark val="in"/>
        <c:minorTickMark val="none"/>
        <c:tickLblPos val="none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900">
          <a:solidFill>
            <a:srgbClr val="263C50"/>
          </a:solidFill>
          <a:latin typeface="Bitstream Charter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000" b="1" i="0">
                <a:solidFill>
                  <a:srgbClr val="132C43"/>
                </a:solidFill>
                <a:latin typeface="Bitstream Charter"/>
              </a:rPr>
              <a:t>Example: a $9.99 pixel-art roguelike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48677E"/>
            </a:solidFill>
          </c:spPr>
          <c:invertIfNegative val="0"/>
          <c:cat>
            <c:strRef>
              <c:f>Sheet1!$A$2:$A$4</c:f>
              <c:strCache>
                <c:ptCount val="3"/>
                <c:pt idx="0">
                  <c:v>Struggling</c:v>
                </c:pt>
                <c:pt idx="1">
                  <c:v>Solid</c:v>
                </c:pt>
                <c:pt idx="2">
                  <c:v>Strong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33.265366314388025</c:v>
                </c:pt>
                <c:pt idx="1">
                  <c:v>27.106891103310303</c:v>
                </c:pt>
                <c:pt idx="2">
                  <c:v>39.627742582301664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6E2"/>
            </a:solidFill>
          </a:ln>
        </c:spPr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0.0"/>
          <c:min val="0.0"/>
        </c:scaling>
        <c:delete val="0"/>
        <c:axPos val="l"/>
        <c:majorTickMark val="in"/>
        <c:minorTickMark val="none"/>
        <c:tickLblPos val="none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900">
          <a:solidFill>
            <a:srgbClr val="263C50"/>
          </a:solidFill>
          <a:latin typeface="Bitstream Charter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Suggested speaker: Shantharam. 0:30.</a:t>
            </a:r>
          </a:p>
          <a:p>
            <a:r>
              <a:t>Review 2 builds on the Review 1 dataset and models. Five deliverables: the hyperparameter fix from the Review 1 comment, text mining, tag rules, patch impact, and the scorer and dashboard.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Suggested speaker: Shantharam. 1:15.</a:t>
            </a:r>
          </a:p>
          <a:p>
            <a:r>
              <a:t>Three Review 1 numbers to remember. Then the five Review 2 deliverables and who owns 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Suggested speaker: Shantharam. 1:15.</a:t>
            </a:r>
          </a:p>
          <a:p>
            <a:r>
              <a:t>This answers the Review 1 comment. Grid sizes 13 to 37 points per model, run with the same folds as before. Be explicit that the text jump is mostly the vocabulary refit, not tuning. Game-level searches are owned by Srihitha and are in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Suggested speaker: Tejaswini. 1:15.</a:t>
            </a:r>
          </a:p>
          <a:p>
            <a:r>
              <a:t>Pipeline left to right. Be upfront that LDA scores better on UMass; the choice of NMF is about interpretability. Say that the manual 200-review check is being redone with blind labels.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Suggested speaker: Tejaswini. 1:15.</a:t>
            </a:r>
          </a:p>
          <a:p>
            <a:r>
              <a:t>The chart compares negative reviews written under two hours with later ones. Share is the share of reviews where that theme is the dominant one. Counts of reviews containing a word are on the exact 557,202-review corpus.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Suggested speaker: Pradeep. 1:15.</a:t>
            </a:r>
          </a:p>
          <a:p>
            <a:r>
              <a:t>FP-Growth on training games only, lift against the Strong rate, Benjamini-Hochberg FDR control, then one check on the test games. Zero Struggling rules is a finding, not a failure: risk is not a matter of tags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Suggested speaker: Gayas. 1:15.</a:t>
            </a:r>
          </a:p>
          <a:p>
            <a:r>
              <a:t>30 days before and after each patch announcement, non-overlapping windows, at least 20 reviews each side, bootstrap over games. The launch split and the before-level split show why the naive drop is misleading. The matched control is the fairest comparison and includes zero.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Suggested speaker: Gayas. 1:15.</a:t>
            </a:r>
          </a:p>
          <a:p>
            <a:r>
              <a:t>Inputs are turned into the same 83 features the model was trained on, using the saved training-fitted PCA. The example is the dashboard's default game. Say clearly that the scores are not calibrated probabilities.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Suggested speaker: Srihitha. 1:15.</a:t>
            </a:r>
          </a:p>
          <a:p>
            <a:r>
              <a:t>Walk the five pages. Demo order: market explorer filter by tag, rules by lift, scorer with a described game. Be accurate: it is ready for deployment from the repository; say the public link only if it has been deployed.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Suggested speaker: Shantharam. 1:15.</a:t>
            </a:r>
          </a:p>
          <a:p>
            <a:r>
              <a:t>Five recommendations, each tied to a number from the analysis. Stress that they are associations in observational data and should be tested, for example with an introductory discount or a blind playtest.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Suggested speaker: Pradeep. 0:45.</a:t>
            </a:r>
          </a:p>
          <a:p>
            <a:r>
              <a:t>The limits that matter most for how the numbers should be used. This is also where to answer questions about leakage: split by game, fit on training rows, test scored once.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Suggested speakers: all five, about 10 seconds each, then Shantharam closes. 1:00.</a:t>
            </a:r>
          </a:p>
          <a:p>
            <a:r>
              <a:t>Board counts are read at build time. The next steps are the honest open items.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4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2C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98003F1-C4BB-4281-BAA1-BCC33BFC04FD}"/>
              </a:ext>
            </a:extLst>
          </p:cNvPr>
          <p:cNvSpPr>
            <a:spLocks noGrp="1"/>
          </p:cNvSpPr>
          <p:nvPr/>
        </p:nvSpPr>
        <p:spPr>
          <a:xfrm>
            <a:off x="685800" y="523875"/>
            <a:ext cx="10820400" cy="952500"/>
          </a:xfrm>
          <a:prstGeom prst="rect">
            <a:avLst/>
          </a:prstGeom>
          <a:noFill/>
          <a:ln w="0">
            <a:noFill/>
          </a:ln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  <a:defRPr sz="405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4050" b="1" i="0">
                <a:solidFill>
                  <a:srgbClr val="FFFFFF"/>
                </a:solidFill>
                <a:latin typeface="Bitstream Charter"/>
              </a:rPr>
              <a:t>IndieGuard: Indie Game Launch Analytics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2183F9D-1FBB-4C85-9C62-1972FA696E5C}"/>
              </a:ext>
            </a:extLst>
          </p:cNvPr>
          <p:cNvSpPr>
            <a:spLocks noGrp="1"/>
          </p:cNvSpPr>
          <p:nvPr/>
        </p:nvSpPr>
        <p:spPr>
          <a:xfrm>
            <a:off x="723900" y="1762125"/>
            <a:ext cx="10706100" cy="3905250"/>
          </a:xfrm>
          <a:prstGeom prst="rect">
            <a:avLst/>
          </a:prstGeom>
          <a:noFill/>
          <a:ln w="0">
            <a:noFill/>
          </a:ln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  <a:defRPr sz="2250" b="0">
                <a:solidFill>
                  <a:srgbClr val="DFEAF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00" b="0" i="0">
                <a:solidFill>
                  <a:srgbClr val="FFFFFF"/>
                </a:solidFill>
                <a:latin typeface="Bitstream Charter"/>
              </a:rPr>
              <a:t>Review 2: text mining, tag rules, patch impact, launch-risk scorer and dashboard</a:t>
            </a:r>
          </a:p>
          <a:p>
            <a:pPr>
              <a:spcAft>
                <a:spcPts val="300"/>
              </a:spcAft>
            </a:pPr>
            <a:r>
              <a:rPr sz="1700" b="0" i="0">
                <a:solidFill>
                  <a:srgbClr val="DFEAF3"/>
                </a:solidFill>
                <a:latin typeface="Bitstream Charter"/>
              </a:rPr>
              <a:t/>
            </a:r>
          </a:p>
          <a:p>
            <a:pPr>
              <a:spcAft>
                <a:spcPts val="300"/>
              </a:spcAft>
            </a:pPr>
            <a:r>
              <a:rPr sz="1700" b="0" i="0">
                <a:solidFill>
                  <a:srgbClr val="DFEAF3"/>
                </a:solidFill>
                <a:latin typeface="Bitstream Charter"/>
              </a:rPr>
              <a:t>23CSE452 Business Analytics</a:t>
            </a:r>
          </a:p>
          <a:p>
            <a:pPr>
              <a:spcAft>
                <a:spcPts val="300"/>
              </a:spcAft>
            </a:pPr>
            <a:r>
              <a:rPr sz="1700" b="0" i="0">
                <a:solidFill>
                  <a:srgbClr val="DFEAF3"/>
                </a:solidFill>
                <a:latin typeface="Bitstream Charter"/>
              </a:rPr>
              <a:t>Data Analysis and Predictive Modelling</a:t>
            </a:r>
          </a:p>
          <a:p>
            <a:pPr>
              <a:spcAft>
                <a:spcPts val="300"/>
              </a:spcAft>
            </a:pPr>
            <a:r>
              <a:rPr sz="1700" b="0" i="0">
                <a:solidFill>
                  <a:srgbClr val="DFEAF3"/>
                </a:solidFill>
                <a:latin typeface="Bitstream Charter"/>
              </a:rPr>
              <a:t/>
            </a:r>
          </a:p>
          <a:p>
            <a:pPr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Bitstream Charter"/>
              </a:rPr>
              <a:t>Group 1</a:t>
            </a:r>
          </a:p>
          <a:p>
            <a:pPr>
              <a:spcAft>
                <a:spcPts val="300"/>
              </a:spcAft>
            </a:pPr>
            <a:r>
              <a:rPr sz="1700" b="0" i="0">
                <a:solidFill>
                  <a:srgbClr val="DFEAF3"/>
                </a:solidFill>
                <a:latin typeface="Bitstream Charter"/>
              </a:rPr>
              <a:t>Thotakura Srihitha  •  CB.SC.U4CSE23450</a:t>
            </a:r>
          </a:p>
          <a:p>
            <a:pPr>
              <a:spcAft>
                <a:spcPts val="300"/>
              </a:spcAft>
            </a:pPr>
            <a:r>
              <a:rPr sz="1700" b="0" i="0">
                <a:solidFill>
                  <a:srgbClr val="DFEAF3"/>
                </a:solidFill>
                <a:latin typeface="Bitstream Charter"/>
              </a:rPr>
              <a:t>Gayas Sheik  •  CB.SC.U4CSE23118</a:t>
            </a:r>
          </a:p>
          <a:p>
            <a:pPr>
              <a:spcAft>
                <a:spcPts val="300"/>
              </a:spcAft>
            </a:pPr>
            <a:r>
              <a:rPr sz="1700" b="0" i="0">
                <a:solidFill>
                  <a:srgbClr val="DFEAF3"/>
                </a:solidFill>
                <a:latin typeface="Bitstream Charter"/>
              </a:rPr>
              <a:t>Shantharam P  •  CB.SC.U4CSE23146</a:t>
            </a:r>
          </a:p>
          <a:p>
            <a:pPr>
              <a:spcAft>
                <a:spcPts val="300"/>
              </a:spcAft>
            </a:pPr>
            <a:r>
              <a:rPr sz="1700" b="0" i="0">
                <a:solidFill>
                  <a:srgbClr val="DFEAF3"/>
                </a:solidFill>
                <a:latin typeface="Bitstream Charter"/>
              </a:rPr>
              <a:t>Pradeep Sasidharan  •  CB.SC.U4CSE23232</a:t>
            </a:r>
          </a:p>
          <a:p>
            <a:pPr>
              <a:spcAft>
                <a:spcPts val="300"/>
              </a:spcAft>
            </a:pPr>
            <a:r>
              <a:rPr sz="1700" b="0" i="0">
                <a:solidFill>
                  <a:srgbClr val="DFEAF3"/>
                </a:solidFill>
                <a:latin typeface="Bitstream Charter"/>
              </a:rPr>
              <a:t>Valikala Tejaswini  •  CB.SC.U4CSE23752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00614CC-A0DF-4994-9DFA-DB19CBB82A7A}"/>
              </a:ext>
            </a:extLst>
          </p:cNvPr>
          <p:cNvSpPr>
            <a:spLocks noGrp="1"/>
          </p:cNvSpPr>
          <p:nvPr/>
        </p:nvSpPr>
        <p:spPr>
          <a:xfrm>
            <a:off x="723900" y="6076950"/>
            <a:ext cx="10191750" cy="428625"/>
          </a:xfrm>
          <a:prstGeom prst="rect">
            <a:avLst/>
          </a:prstGeom>
          <a:noFill/>
          <a:ln w="0">
            <a:noFill/>
          </a:ln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  <a:defRPr sz="1500" b="0">
                <a:solidFill>
                  <a:srgbClr val="C9DCEB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 i="0">
                <a:solidFill>
                  <a:srgbClr val="C9DCEB"/>
                </a:solidFill>
                <a:latin typeface="Bitstream Charter"/>
              </a:rPr>
              <a:t>15-minute team presentation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6E169F0-19CC-44B3-BAE4-004A1D644DC7}"/>
              </a:ext>
            </a:extLst>
          </p:cNvPr>
          <p:cNvSpPr>
            <a:spLocks noGrp="1"/>
          </p:cNvSpPr>
          <p:nvPr/>
        </p:nvSpPr>
        <p:spPr>
          <a:xfrm>
            <a:off x="11049000" y="6076950"/>
            <a:ext cx="47625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00" b="0">
                <a:solidFill>
                  <a:srgbClr val="C9DCEB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C9DCEB"/>
                </a:solidFill>
                <a:latin typeface="Bitstream Charter"/>
                <a:ea typeface="Bitstream Charter"/>
                <a:cs typeface="Bitstream Charter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023190627"/>
      </p:ext>
    </p:extLst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Rectangle 4">
            <a:extLst>
              <a:ext uri="{FF2B5EF4-FFF2-40B4-BE49-F238E27FC236}">
                <a16:creationId xmlns:a16="http://schemas.microsoft.com/office/drawing/2014/main" id="{27979FDE-990F-4C15-B33C-B2975BF50CD9}"/>
              </a:ext>
            </a:extLst>
          </p:cNvPr>
          <p:cNvSpPr>
            <a:spLocks noGrp="1"/>
          </p:cNvSpPr>
          <p:nvPr/>
        </p:nvSpPr>
        <p:spPr>
          <a:xfrm>
            <a:off x="685800" y="523875"/>
            <a:ext cx="10820400" cy="952500"/>
          </a:xfrm>
          <a:prstGeom prst="rect">
            <a:avLst/>
          </a:prstGeom>
          <a:noFill/>
          <a:ln w="0">
            <a:noFill/>
          </a:ln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  <a:defRPr sz="3300" b="1">
                <a:solidFill>
                  <a:srgbClr val="132C4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 i="0">
                <a:solidFill>
                  <a:srgbClr val="132C43"/>
                </a:solidFill>
                <a:latin typeface="Bitstream Charter"/>
              </a:rPr>
              <a:t>Review 1 in Three Numbers, and What Review 2 Adds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795E4D0-3C0B-473C-BB65-A65A174FB43B}"/>
              </a:ext>
            </a:extLst>
          </p:cNvPr>
          <p:cNvSpPr>
            <a:spLocks noGrp="1"/>
          </p:cNvSpPr>
          <p:nvPr/>
        </p:nvSpPr>
        <p:spPr>
          <a:xfrm>
            <a:off x="11049000" y="6076950"/>
            <a:ext cx="47625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00" b="0">
                <a:solidFill>
                  <a:srgbClr val="48677E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48677E"/>
                </a:solidFill>
                <a:latin typeface="Bitstream Charter"/>
                <a:ea typeface="Bitstream Charter"/>
                <a:cs typeface="Bitstream Charter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463040"/>
            <a:ext cx="347472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0"/>
              </a:spcAft>
            </a:pPr>
            <a:r>
              <a:rPr sz="3400" b="1" i="0">
                <a:solidFill>
                  <a:srgbClr val="D1495B"/>
                </a:solidFill>
                <a:latin typeface="Bitstream Charter"/>
              </a:rPr>
              <a:t>21.2%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2103120"/>
            <a:ext cx="338328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263C50"/>
                </a:solidFill>
                <a:latin typeface="Bitstream Charter"/>
              </a:rPr>
              <a:t>of reviews under 2 hours of play are negative, against 8.8% later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79976" y="1463040"/>
            <a:ext cx="347472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0"/>
              </a:spcAft>
            </a:pPr>
            <a:r>
              <a:rPr sz="3400" b="1" i="0">
                <a:solidFill>
                  <a:srgbClr val="D1495B"/>
                </a:solidFill>
                <a:latin typeface="Bitstream Charter"/>
              </a:rPr>
              <a:t>0.42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9976" y="2103120"/>
            <a:ext cx="338328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263C50"/>
                </a:solidFill>
                <a:latin typeface="Bitstream Charter"/>
              </a:rPr>
              <a:t>macro-F1 for game tiers from store metadata, against 0.22 for guessing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37575" y="1463040"/>
            <a:ext cx="347472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0"/>
              </a:spcAft>
            </a:pPr>
            <a:r>
              <a:rPr sz="3400" b="1" i="0">
                <a:solidFill>
                  <a:srgbClr val="D1495B"/>
                </a:solidFill>
                <a:latin typeface="Bitstream Charter"/>
              </a:rPr>
              <a:t>0.84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37575" y="2103120"/>
            <a:ext cx="338328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263C50"/>
                </a:solidFill>
                <a:latin typeface="Bitstream Charter"/>
              </a:rPr>
              <a:t>PR-AUC when the model reads the review text, against 0.36 for metadata alone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22376" y="3017520"/>
          <a:ext cx="10744200" cy="230428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383280"/>
                <a:gridCol w="5120640"/>
                <a:gridCol w="224028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Bitstream Charter"/>
                        </a:rPr>
                        <a:t>Review 2 deliverable</a:t>
                      </a:r>
                    </a:p>
                  </a:txBody>
                  <a:tcPr marL="64008" marR="64008" marT="32004" marB="32004" anchor="ctr">
                    <a:solidFill>
                      <a:srgbClr val="132C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Bitstream Charter"/>
                        </a:rPr>
                        <a:t>What we did</a:t>
                      </a:r>
                    </a:p>
                  </a:txBody>
                  <a:tcPr marL="64008" marR="64008" marT="32004" marB="32004" anchor="ctr">
                    <a:solidFill>
                      <a:srgbClr val="132C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Bitstream Charter"/>
                        </a:rPr>
                        <a:t>Owner</a:t>
                      </a:r>
                    </a:p>
                  </a:txBody>
                  <a:tcPr marL="64008" marR="64008" marT="32004" marB="32004" anchor="ctr">
                    <a:solidFill>
                      <a:srgbClr val="132C4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Reviewer comment: fixed hyperparameters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Grid search on the shared folds for every reported model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Shantharam, Srihitha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Complaint themes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Topic model on negative reviews, early against later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Tejaswini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EAF0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Tag and price combinations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Association rules with FDR control and a test-game check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Pradeep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Patch impact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Before and after windows with matched no-patch controls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Gayas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EAF0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Launch-risk scorer and dashboard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Score a new game; explore the market, rules and patches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Gayas, Srihitha, Shantharam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722376" y="5623560"/>
            <a:ext cx="64008" cy="457200"/>
          </a:xfrm>
          <a:prstGeom prst="rect">
            <a:avLst/>
          </a:prstGeom>
          <a:solidFill>
            <a:srgbClr val="D149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86384" y="5623560"/>
            <a:ext cx="10680192" cy="457200"/>
          </a:xfrm>
          <a:prstGeom prst="rect">
            <a:avLst/>
          </a:prstGeom>
          <a:solidFill>
            <a:srgbClr val="EAF0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wrap="square"/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D1495B"/>
                </a:solidFill>
                <a:latin typeface="Bitstream Charter"/>
              </a:rPr>
              <a:t>Takeaway  </a:t>
            </a:r>
            <a:r>
              <a:rPr sz="1250" b="1" i="0">
                <a:solidFill>
                  <a:srgbClr val="132C43"/>
                </a:solidFill>
                <a:latin typeface="Bitstream Charter"/>
              </a:rPr>
              <a:t>Same data and the same protocol: split by game, fit on training rows, test scored once.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Rectangle 4">
            <a:extLst>
              <a:ext uri="{FF2B5EF4-FFF2-40B4-BE49-F238E27FC236}">
                <a16:creationId xmlns:a16="http://schemas.microsoft.com/office/drawing/2014/main" id="{27979FDE-990F-4C15-B33C-B2975BF50CD9}"/>
              </a:ext>
            </a:extLst>
          </p:cNvPr>
          <p:cNvSpPr>
            <a:spLocks noGrp="1"/>
          </p:cNvSpPr>
          <p:nvPr/>
        </p:nvSpPr>
        <p:spPr>
          <a:xfrm>
            <a:off x="685800" y="523875"/>
            <a:ext cx="10820400" cy="952500"/>
          </a:xfrm>
          <a:prstGeom prst="rect">
            <a:avLst/>
          </a:prstGeom>
          <a:noFill/>
          <a:ln w="0">
            <a:noFill/>
          </a:ln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  <a:defRPr sz="3300" b="1">
                <a:solidFill>
                  <a:srgbClr val="132C4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 i="0">
                <a:solidFill>
                  <a:srgbClr val="132C43"/>
                </a:solidFill>
                <a:latin typeface="Bitstream Charter"/>
              </a:rPr>
              <a:t>Reviewer Comment: Tuning by Grid Search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795E4D0-3C0B-473C-BB65-A65A174FB43B}"/>
              </a:ext>
            </a:extLst>
          </p:cNvPr>
          <p:cNvSpPr>
            <a:spLocks noGrp="1"/>
          </p:cNvSpPr>
          <p:nvPr/>
        </p:nvSpPr>
        <p:spPr>
          <a:xfrm>
            <a:off x="11049000" y="6076950"/>
            <a:ext cx="47625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00" b="0">
                <a:solidFill>
                  <a:srgbClr val="48677E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48677E"/>
                </a:solidFill>
                <a:latin typeface="Bitstream Charter"/>
                <a:ea typeface="Bitstream Charter"/>
                <a:cs typeface="Bitstream Charter"/>
              </a:rPr>
              <a:t>03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22376" y="1508760"/>
          <a:ext cx="6949440" cy="25603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651760"/>
                <a:gridCol w="914400"/>
                <a:gridCol w="1005840"/>
                <a:gridCol w="914400"/>
                <a:gridCol w="146304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Bitstream Charter"/>
                        </a:rPr>
                        <a:t>Search</a:t>
                      </a:r>
                    </a:p>
                  </a:txBody>
                  <a:tcPr marL="64008" marR="64008" marT="32004" marB="32004" anchor="ctr">
                    <a:solidFill>
                      <a:srgbClr val="13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Bitstream Charter"/>
                        </a:rPr>
                        <a:t>Grid points</a:t>
                      </a:r>
                    </a:p>
                  </a:txBody>
                  <a:tcPr marL="64008" marR="64008" marT="32004" marB="32004" anchor="ctr">
                    <a:solidFill>
                      <a:srgbClr val="13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Bitstream Charter"/>
                        </a:rPr>
                        <a:t>Default CV</a:t>
                      </a:r>
                    </a:p>
                  </a:txBody>
                  <a:tcPr marL="64008" marR="64008" marT="32004" marB="32004" anchor="ctr">
                    <a:solidFill>
                      <a:srgbClr val="13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Bitstream Charter"/>
                        </a:rPr>
                        <a:t>Tuned CV</a:t>
                      </a:r>
                    </a:p>
                  </a:txBody>
                  <a:tcPr marL="64008" marR="64008" marT="32004" marB="32004" anchor="ctr">
                    <a:solidFill>
                      <a:srgbClr val="13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Bitstream Charter"/>
                        </a:rPr>
                        <a:t>Test PR-AUC, before → after</a:t>
                      </a:r>
                    </a:p>
                  </a:txBody>
                  <a:tcPr marL="64008" marR="64008" marT="32004" marB="32004" anchor="ctr">
                    <a:solidFill>
                      <a:srgbClr val="132C43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Review LightGBM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25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0.281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0.287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0.265 → 0.254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Review XGBoost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37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0.285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0.292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0.283 → 0.275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EAF0F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Review Random Forest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13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0.278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0.281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0.275 → 0.280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Text LightGBM, metadata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25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0.332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0.334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0.360 → 0.360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EAF0F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Text LightGBM + components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25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0.574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0.592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0.581 → 0.593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Text Logistic Regression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30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0.792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0.794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0.785 → 0.838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EAF0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955279" y="1463040"/>
            <a:ext cx="3566160" cy="39319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600"/>
              </a:spcAft>
            </a:pPr>
            <a:r>
              <a:rPr sz="1100" b="1" i="0">
                <a:solidFill>
                  <a:srgbClr val="132C43"/>
                </a:solidFill>
                <a:latin typeface="Bitstream Charter"/>
              </a:rPr>
              <a:t>How we searched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263C50"/>
                </a:solidFill>
                <a:latin typeface="Bitstream Charter"/>
              </a:rPr>
              <a:t>Select on the 5 shared folds inside train only; the default is grid point 0; every point is recorded.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263C50"/>
                </a:solidFill>
                <a:latin typeface="Bitstream Charter"/>
              </a:rPr>
              <a:t>Then refit on full train, set the threshold from out-of-fold predictions and score the test set once.</a:t>
            </a:r>
          </a:p>
          <a:p>
            <a:pPr>
              <a:spcAft>
                <a:spcPts val="600"/>
              </a:spcAft>
            </a:pPr>
            <a:r>
              <a:rPr sz="1100" b="1" i="0">
                <a:solidFill>
                  <a:srgbClr val="132C43"/>
                </a:solidFill>
                <a:latin typeface="Bitstream Charter"/>
              </a:rPr>
              <a:t>What it shows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263C50"/>
                </a:solidFill>
                <a:latin typeface="Bitstream Charter"/>
              </a:rPr>
              <a:t>Cross-validation moves by 0.002 to 0.02. The test scores do not follow consistently, and the three tree models still tie.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263C50"/>
                </a:solidFill>
                <a:latin typeface="Bitstream Charter"/>
              </a:rPr>
              <a:t>The text model's jump (0.785 → 0.838) is mostly a TF-IDF vocabulary refit on all training reviews, not the grid.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263C50"/>
                </a:solidFill>
                <a:latin typeface="Bitstream Charter"/>
              </a:rPr>
              <a:t>Game-level searches are running on the same rules.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22376" y="5623560"/>
            <a:ext cx="64008" cy="457200"/>
          </a:xfrm>
          <a:prstGeom prst="rect">
            <a:avLst/>
          </a:prstGeom>
          <a:solidFill>
            <a:srgbClr val="D149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86384" y="5623560"/>
            <a:ext cx="10680192" cy="457200"/>
          </a:xfrm>
          <a:prstGeom prst="rect">
            <a:avLst/>
          </a:prstGeom>
          <a:solidFill>
            <a:srgbClr val="EAF0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wrap="square"/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D1495B"/>
                </a:solidFill>
                <a:latin typeface="Bitstream Charter"/>
              </a:rPr>
              <a:t>Takeaway  </a:t>
            </a:r>
            <a:r>
              <a:rPr sz="1250" b="1" i="0">
                <a:solidFill>
                  <a:srgbClr val="132C43"/>
                </a:solidFill>
                <a:latin typeface="Bitstream Charter"/>
              </a:rPr>
              <a:t>The conclusions do not depend on the fixed settings: tuning gives small, within-noise gains.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Rectangle 4">
            <a:extLst>
              <a:ext uri="{FF2B5EF4-FFF2-40B4-BE49-F238E27FC236}">
                <a16:creationId xmlns:a16="http://schemas.microsoft.com/office/drawing/2014/main" id="{27979FDE-990F-4C15-B33C-B2975BF50CD9}"/>
              </a:ext>
            </a:extLst>
          </p:cNvPr>
          <p:cNvSpPr>
            <a:spLocks noGrp="1"/>
          </p:cNvSpPr>
          <p:nvPr/>
        </p:nvSpPr>
        <p:spPr>
          <a:xfrm>
            <a:off x="685800" y="523875"/>
            <a:ext cx="10820400" cy="952500"/>
          </a:xfrm>
          <a:prstGeom prst="rect">
            <a:avLst/>
          </a:prstGeom>
          <a:noFill/>
          <a:ln w="0">
            <a:noFill/>
          </a:ln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  <a:defRPr sz="3300" b="1">
                <a:solidFill>
                  <a:srgbClr val="132C4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 i="0">
                <a:solidFill>
                  <a:srgbClr val="132C43"/>
                </a:solidFill>
                <a:latin typeface="Bitstream Charter"/>
              </a:rPr>
              <a:t>Text Mining: From Keywords to Topics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795E4D0-3C0B-473C-BB65-A65A174FB43B}"/>
              </a:ext>
            </a:extLst>
          </p:cNvPr>
          <p:cNvSpPr>
            <a:spLocks noGrp="1"/>
          </p:cNvSpPr>
          <p:nvPr/>
        </p:nvSpPr>
        <p:spPr>
          <a:xfrm>
            <a:off x="11049000" y="6076950"/>
            <a:ext cx="47625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00" b="0">
                <a:solidFill>
                  <a:srgbClr val="48677E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48677E"/>
                </a:solidFill>
                <a:latin typeface="Bitstream Charter"/>
                <a:ea typeface="Bitstream Charter"/>
                <a:cs typeface="Bitstream Charter"/>
              </a:rPr>
              <a:t>04</a:t>
            </a:r>
          </a:p>
        </p:txBody>
      </p:sp>
      <p:sp>
        <p:nvSpPr>
          <p:cNvPr id="6" name="Rectangle 5"/>
          <p:cNvSpPr/>
          <p:nvPr/>
        </p:nvSpPr>
        <p:spPr>
          <a:xfrm>
            <a:off x="722376" y="1508760"/>
            <a:ext cx="2560320" cy="457200"/>
          </a:xfrm>
          <a:prstGeom prst="rect">
            <a:avLst/>
          </a:prstGeom>
          <a:solidFill>
            <a:srgbClr val="13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Bitstream Charter"/>
              </a:rPr>
              <a:t>1  Filter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" y="1965960"/>
            <a:ext cx="25603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263C50"/>
                </a:solidFill>
                <a:latin typeface="Bitstream Charter"/>
              </a:rPr>
              <a:t>English reviews only: 557,202 after language, script and quality filters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264408" y="1600200"/>
            <a:ext cx="219456" cy="274320"/>
          </a:xfrm>
          <a:prstGeom prst="rightArrow">
            <a:avLst/>
          </a:prstGeom>
          <a:solidFill>
            <a:srgbClr val="D14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65576" y="1508760"/>
            <a:ext cx="2560320" cy="457200"/>
          </a:xfrm>
          <a:prstGeom prst="rect">
            <a:avLst/>
          </a:prstGeom>
          <a:solidFill>
            <a:srgbClr val="13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Bitstream Charter"/>
              </a:rPr>
              <a:t>2  Bind negations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65576" y="1965960"/>
            <a:ext cx="25603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263C50"/>
                </a:solidFill>
                <a:latin typeface="Bitstream Charter"/>
              </a:rPr>
              <a:t>not_fun, too_hard, lack_of_content, so “not fun” is not read as “fun”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007608" y="1600200"/>
            <a:ext cx="219456" cy="274320"/>
          </a:xfrm>
          <a:prstGeom prst="rightArrow">
            <a:avLst/>
          </a:prstGeom>
          <a:solidFill>
            <a:srgbClr val="D14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08776" y="1508760"/>
            <a:ext cx="2560320" cy="457200"/>
          </a:xfrm>
          <a:prstGeom prst="rect">
            <a:avLst/>
          </a:prstGeom>
          <a:solidFill>
            <a:srgbClr val="13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Bitstream Charter"/>
              </a:rPr>
              <a:t>3  Topic model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08776" y="1965960"/>
            <a:ext cx="25603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263C50"/>
                </a:solidFill>
                <a:latin typeface="Bitstream Charter"/>
              </a:rPr>
              <a:t>NMF, 8 topics, on 40,000 negative training reviews; LDA as the baseline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750808" y="1600200"/>
            <a:ext cx="219456" cy="274320"/>
          </a:xfrm>
          <a:prstGeom prst="rightArrow">
            <a:avLst/>
          </a:prstGeom>
          <a:solidFill>
            <a:srgbClr val="D14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951976" y="1508760"/>
            <a:ext cx="2560320" cy="457200"/>
          </a:xfrm>
          <a:prstGeom prst="rect">
            <a:avLst/>
          </a:prstGeom>
          <a:solidFill>
            <a:srgbClr val="13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Bitstream Charter"/>
              </a:rPr>
              <a:t>4  Evaluate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51976" y="1965960"/>
            <a:ext cx="25603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263C50"/>
                </a:solidFill>
                <a:latin typeface="Bitstream Charter"/>
              </a:rPr>
              <a:t>Coherence, diversity, stability under 80% resamples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722376" y="3154680"/>
          <a:ext cx="6766560" cy="18288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566160"/>
                <a:gridCol w="1554480"/>
                <a:gridCol w="164592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Bitstream Charter"/>
                        </a:rPr>
                        <a:t>Evaluation</a:t>
                      </a:r>
                    </a:p>
                  </a:txBody>
                  <a:tcPr marL="64008" marR="64008" marT="32004" marB="32004" anchor="ctr">
                    <a:solidFill>
                      <a:srgbClr val="13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Bitstream Charter"/>
                        </a:rPr>
                        <a:t>NMF (chosen)</a:t>
                      </a:r>
                    </a:p>
                  </a:txBody>
                  <a:tcPr marL="64008" marR="64008" marT="32004" marB="32004" anchor="ctr">
                    <a:solidFill>
                      <a:srgbClr val="13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Bitstream Charter"/>
                        </a:rPr>
                        <a:t>LDA (baseline)</a:t>
                      </a:r>
                    </a:p>
                  </a:txBody>
                  <a:tcPr marL="64008" marR="64008" marT="32004" marB="32004" anchor="ctr">
                    <a:solidFill>
                      <a:srgbClr val="132C43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63C50"/>
                          </a:solidFill>
                          <a:latin typeface="Bitstream Charter"/>
                        </a:rPr>
                        <a:t>UMass coherence (closer to 0 is better)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63C50"/>
                          </a:solidFill>
                          <a:latin typeface="Bitstream Charter"/>
                        </a:rPr>
                        <a:t>-2.380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63C50"/>
                          </a:solidFill>
                          <a:latin typeface="Bitstream Charter"/>
                        </a:rPr>
                        <a:t>-1.732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63C50"/>
                          </a:solidFill>
                          <a:latin typeface="Bitstream Charter"/>
                        </a:rPr>
                        <a:t>Topic diversity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63C50"/>
                          </a:solidFill>
                          <a:latin typeface="Bitstream Charter"/>
                        </a:rPr>
                        <a:t>90.0%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63C50"/>
                          </a:solidFill>
                          <a:latin typeface="Bitstream Charter"/>
                        </a:rPr>
                        <a:t>86.25%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EAF0F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63C50"/>
                          </a:solidFill>
                          <a:latin typeface="Bitstream Charter"/>
                        </a:rPr>
                        <a:t>Stability under resampling (mean Jaccard)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63C50"/>
                          </a:solidFill>
                          <a:latin typeface="Bitstream Charter"/>
                        </a:rPr>
                        <a:t>0.745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63C50"/>
                          </a:solidFill>
                          <a:latin typeface="Bitstream Charter"/>
                        </a:rPr>
                        <a:t>not run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63C50"/>
                          </a:solidFill>
                          <a:latin typeface="Bitstream Charter"/>
                        </a:rPr>
                        <a:t>Time to fit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63C50"/>
                          </a:solidFill>
                          <a:latin typeface="Bitstream Charter"/>
                        </a:rPr>
                        <a:t>fast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63C50"/>
                          </a:solidFill>
                          <a:latin typeface="Bitstream Charter"/>
                        </a:rPr>
                        <a:t>about 45 times slower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EAF0F6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7772400" y="3108960"/>
            <a:ext cx="3749039" cy="22860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500"/>
              </a:spcAft>
            </a:pPr>
            <a:r>
              <a:rPr sz="1100" b="1" i="0">
                <a:solidFill>
                  <a:srgbClr val="132C43"/>
                </a:solidFill>
                <a:latin typeface="Bitstream Charter"/>
              </a:rPr>
              <a:t>Reading it honestly</a:t>
            </a:r>
          </a:p>
          <a:p>
            <a:pPr>
              <a:spcAft>
                <a:spcPts val="500"/>
              </a:spcAft>
            </a:pPr>
            <a:r>
              <a:rPr sz="1100" b="0" i="0">
                <a:solidFill>
                  <a:srgbClr val="263C50"/>
                </a:solidFill>
                <a:latin typeface="Bitstream Charter"/>
              </a:rPr>
              <a:t>LDA has the better raw coherence; we chose NMF for cleaner, more interpretable themes and speed.</a:t>
            </a:r>
          </a:p>
          <a:p>
            <a:pPr>
              <a:spcAft>
                <a:spcPts val="500"/>
              </a:spcAft>
            </a:pPr>
            <a:r>
              <a:rPr sz="1100" b="0" i="0">
                <a:solidFill>
                  <a:srgbClr val="263C50"/>
                </a:solidFill>
                <a:latin typeface="Bitstream Charter"/>
              </a:rPr>
              <a:t>The smallest topic (unbalanced mechanics) is the least stable.</a:t>
            </a:r>
          </a:p>
          <a:p>
            <a:pPr>
              <a:spcAft>
                <a:spcPts val="500"/>
              </a:spcAft>
            </a:pPr>
            <a:r>
              <a:rPr sz="1100" b="0" i="0">
                <a:solidFill>
                  <a:srgbClr val="263C50"/>
                </a:solidFill>
                <a:latin typeface="Bitstream Charter"/>
              </a:rPr>
              <a:t>A blind manual check of 200 labelled reviews is being redone, so we do not quote an agreement figure.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2376" y="5623560"/>
            <a:ext cx="64008" cy="457200"/>
          </a:xfrm>
          <a:prstGeom prst="rect">
            <a:avLst/>
          </a:prstGeom>
          <a:solidFill>
            <a:srgbClr val="D149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86384" y="5623560"/>
            <a:ext cx="10680192" cy="457200"/>
          </a:xfrm>
          <a:prstGeom prst="rect">
            <a:avLst/>
          </a:prstGeom>
          <a:solidFill>
            <a:srgbClr val="EAF0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wrap="square"/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D1495B"/>
                </a:solidFill>
                <a:latin typeface="Bitstream Charter"/>
              </a:rPr>
              <a:t>Takeaway  </a:t>
            </a:r>
            <a:r>
              <a:rPr sz="1250" b="1" i="0">
                <a:solidFill>
                  <a:srgbClr val="132C43"/>
                </a:solidFill>
                <a:latin typeface="Bitstream Charter"/>
              </a:rPr>
              <a:t>Review 1 used hand-made keyword lists; this is data-driven, with the evaluation reported as it is.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Rectangle 4">
            <a:extLst>
              <a:ext uri="{FF2B5EF4-FFF2-40B4-BE49-F238E27FC236}">
                <a16:creationId xmlns:a16="http://schemas.microsoft.com/office/drawing/2014/main" id="{27979FDE-990F-4C15-B33C-B2975BF50CD9}"/>
              </a:ext>
            </a:extLst>
          </p:cNvPr>
          <p:cNvSpPr>
            <a:spLocks noGrp="1"/>
          </p:cNvSpPr>
          <p:nvPr/>
        </p:nvSpPr>
        <p:spPr>
          <a:xfrm>
            <a:off x="685800" y="523875"/>
            <a:ext cx="10820400" cy="952500"/>
          </a:xfrm>
          <a:prstGeom prst="rect">
            <a:avLst/>
          </a:prstGeom>
          <a:noFill/>
          <a:ln w="0">
            <a:noFill/>
          </a:ln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  <a:defRPr sz="3300" b="1">
                <a:solidFill>
                  <a:srgbClr val="132C4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 i="0">
                <a:solidFill>
                  <a:srgbClr val="132C43"/>
                </a:solidFill>
                <a:latin typeface="Bitstream Charter"/>
              </a:rPr>
              <a:t>What Players Complain About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795E4D0-3C0B-473C-BB65-A65A174FB43B}"/>
              </a:ext>
            </a:extLst>
          </p:cNvPr>
          <p:cNvSpPr>
            <a:spLocks noGrp="1"/>
          </p:cNvSpPr>
          <p:nvPr/>
        </p:nvSpPr>
        <p:spPr>
          <a:xfrm>
            <a:off x="11049000" y="6076950"/>
            <a:ext cx="47625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00" b="0">
                <a:solidFill>
                  <a:srgbClr val="48677E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48677E"/>
                </a:solidFill>
                <a:latin typeface="Bitstream Charter"/>
                <a:ea typeface="Bitstream Charter"/>
                <a:cs typeface="Bitstream Charter"/>
              </a:rPr>
              <a:t>05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4008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863840" y="1554480"/>
            <a:ext cx="3657600" cy="38404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600"/>
              </a:spcAft>
            </a:pPr>
            <a:r>
              <a:rPr sz="1150" b="1" i="0">
                <a:solidFill>
                  <a:srgbClr val="D1495B"/>
                </a:solidFill>
                <a:latin typeface="Bitstream Charter"/>
              </a:rPr>
              <a:t>Early (under 2 hours)</a:t>
            </a:r>
          </a:p>
          <a:p>
            <a:pPr>
              <a:spcAft>
                <a:spcPts val="600"/>
              </a:spcAft>
            </a:pPr>
            <a:r>
              <a:rPr sz="1150" b="0" i="0">
                <a:solidFill>
                  <a:srgbClr val="263C50"/>
                </a:solidFill>
                <a:latin typeface="Bitstream Charter"/>
              </a:rPr>
              <a:t>Crashes, bugs and multiplayer issues lead (29%), then art against the gameplay loop.</a:t>
            </a:r>
          </a:p>
          <a:p>
            <a:pPr>
              <a:spcAft>
                <a:spcPts val="600"/>
              </a:spcAft>
            </a:pPr>
            <a:r>
              <a:rPr sz="1150" b="1" i="0">
                <a:solidFill>
                  <a:srgbClr val="132C43"/>
                </a:solidFill>
                <a:latin typeface="Bitstream Charter"/>
              </a:rPr>
              <a:t>Later (2 hours or more)</a:t>
            </a:r>
          </a:p>
          <a:p>
            <a:pPr>
              <a:spcAft>
                <a:spcPts val="600"/>
              </a:spcAft>
            </a:pPr>
            <a:r>
              <a:rPr sz="1150" b="0" i="0">
                <a:solidFill>
                  <a:srgbClr val="263C50"/>
                </a:solidFill>
                <a:latin typeface="Bitstream Charter"/>
              </a:rPr>
              <a:t>Boss design, damage and upgrade balance lead (34%), and replayability fatigue grows.</a:t>
            </a:r>
          </a:p>
          <a:p>
            <a:pPr>
              <a:spcAft>
                <a:spcPts val="600"/>
              </a:spcAft>
            </a:pPr>
            <a:r>
              <a:rPr sz="1150" b="1" i="0">
                <a:solidFill>
                  <a:srgbClr val="132C43"/>
                </a:solidFill>
                <a:latin typeface="Bitstream Charter"/>
              </a:rPr>
              <a:t>Words that separate negative from positive</a:t>
            </a:r>
          </a:p>
          <a:p>
            <a:pPr>
              <a:spcAft>
                <a:spcPts val="600"/>
              </a:spcAft>
            </a:pPr>
            <a:r>
              <a:rPr sz="1150" b="0" i="0">
                <a:solidFill>
                  <a:srgbClr val="263C50"/>
                </a:solidFill>
                <a:latin typeface="Bitstream Charter"/>
              </a:rPr>
              <a:t>“boring” is in 9.1% of negative reviews against 0.8% of positive ones, “waste” 2.9% against 0.3%.</a:t>
            </a:r>
          </a:p>
        </p:txBody>
      </p:sp>
      <p:sp>
        <p:nvSpPr>
          <p:cNvPr id="8" name="Rectangle 7"/>
          <p:cNvSpPr/>
          <p:nvPr/>
        </p:nvSpPr>
        <p:spPr>
          <a:xfrm>
            <a:off x="722376" y="5623560"/>
            <a:ext cx="64008" cy="457200"/>
          </a:xfrm>
          <a:prstGeom prst="rect">
            <a:avLst/>
          </a:prstGeom>
          <a:solidFill>
            <a:srgbClr val="D149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86384" y="5623560"/>
            <a:ext cx="10680192" cy="457200"/>
          </a:xfrm>
          <a:prstGeom prst="rect">
            <a:avLst/>
          </a:prstGeom>
          <a:solidFill>
            <a:srgbClr val="EAF0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wrap="square"/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D1495B"/>
                </a:solidFill>
                <a:latin typeface="Bitstream Charter"/>
              </a:rPr>
              <a:t>Takeaway  </a:t>
            </a:r>
            <a:r>
              <a:rPr sz="1250" b="1" i="0">
                <a:solidFill>
                  <a:srgbClr val="132C43"/>
                </a:solidFill>
                <a:latin typeface="Bitstream Charter"/>
              </a:rPr>
              <a:t>Fix stability and controls before the refund window closes; tune balance and variety for the players who stay.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Rectangle 4">
            <a:extLst>
              <a:ext uri="{FF2B5EF4-FFF2-40B4-BE49-F238E27FC236}">
                <a16:creationId xmlns:a16="http://schemas.microsoft.com/office/drawing/2014/main" id="{27979FDE-990F-4C15-B33C-B2975BF50CD9}"/>
              </a:ext>
            </a:extLst>
          </p:cNvPr>
          <p:cNvSpPr>
            <a:spLocks noGrp="1"/>
          </p:cNvSpPr>
          <p:nvPr/>
        </p:nvSpPr>
        <p:spPr>
          <a:xfrm>
            <a:off x="685800" y="523875"/>
            <a:ext cx="10820400" cy="952500"/>
          </a:xfrm>
          <a:prstGeom prst="rect">
            <a:avLst/>
          </a:prstGeom>
          <a:noFill/>
          <a:ln w="0">
            <a:noFill/>
          </a:ln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  <a:defRPr sz="3300" b="1">
                <a:solidFill>
                  <a:srgbClr val="132C4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 i="0">
                <a:solidFill>
                  <a:srgbClr val="132C43"/>
                </a:solidFill>
                <a:latin typeface="Bitstream Charter"/>
              </a:rPr>
              <a:t>Which Tag Combinations Go With Strong Reception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795E4D0-3C0B-473C-BB65-A65A174FB43B}"/>
              </a:ext>
            </a:extLst>
          </p:cNvPr>
          <p:cNvSpPr>
            <a:spLocks noGrp="1"/>
          </p:cNvSpPr>
          <p:nvPr/>
        </p:nvSpPr>
        <p:spPr>
          <a:xfrm>
            <a:off x="11049000" y="6076950"/>
            <a:ext cx="47625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00" b="0">
                <a:solidFill>
                  <a:srgbClr val="48677E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48677E"/>
                </a:solidFill>
                <a:latin typeface="Bitstream Charter"/>
                <a:ea typeface="Bitstream Charter"/>
                <a:cs typeface="Bitstream Charter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417320"/>
            <a:ext cx="256032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0"/>
              </a:spcAft>
            </a:pPr>
            <a:r>
              <a:rPr sz="2800" b="1" i="0">
                <a:solidFill>
                  <a:srgbClr val="132C43"/>
                </a:solidFill>
                <a:latin typeface="Bitstream Charter"/>
              </a:rPr>
              <a:t>4,715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1965960"/>
            <a:ext cx="256032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63C50"/>
                </a:solidFill>
                <a:latin typeface="Bitstream Charter"/>
              </a:rPr>
              <a:t>candidate rules scored on 1,191 training games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65576" y="1417320"/>
            <a:ext cx="256032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0"/>
              </a:spcAft>
            </a:pPr>
            <a:r>
              <a:rPr sz="2800" b="1" i="0">
                <a:solidFill>
                  <a:srgbClr val="132C43"/>
                </a:solidFill>
                <a:latin typeface="Bitstream Charter"/>
              </a:rPr>
              <a:t>95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65576" y="1965960"/>
            <a:ext cx="256032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63C50"/>
                </a:solidFill>
                <a:latin typeface="Bitstream Charter"/>
              </a:rPr>
              <a:t>Strong rules pass FDR control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08776" y="1417320"/>
            <a:ext cx="256032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0"/>
              </a:spcAft>
            </a:pPr>
            <a:r>
              <a:rPr sz="2800" b="1" i="0">
                <a:solidFill>
                  <a:srgbClr val="132C43"/>
                </a:solidFill>
                <a:latin typeface="Bitstream Charter"/>
              </a:rPr>
              <a:t>45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08776" y="1965960"/>
            <a:ext cx="256032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63C50"/>
                </a:solidFill>
                <a:latin typeface="Bitstream Charter"/>
              </a:rPr>
              <a:t>of them hold on the 299 test games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51976" y="1417320"/>
            <a:ext cx="256032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0"/>
              </a:spcAft>
            </a:pPr>
            <a:r>
              <a:rPr sz="2800" b="1" i="0">
                <a:solidFill>
                  <a:srgbClr val="D1495B"/>
                </a:solidFill>
                <a:latin typeface="Bitstream Charter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51976" y="1965960"/>
            <a:ext cx="256032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63C50"/>
                </a:solidFill>
                <a:latin typeface="Bitstream Charter"/>
              </a:rPr>
              <a:t>rules predict Struggling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722376" y="2697480"/>
          <a:ext cx="10744200" cy="230428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892040"/>
                <a:gridCol w="1280160"/>
                <a:gridCol w="1371600"/>
                <a:gridCol w="914400"/>
                <a:gridCol w="1097280"/>
                <a:gridCol w="118872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Bitstream Charter"/>
                        </a:rPr>
                        <a:t>Combination (most stable rules)</a:t>
                      </a:r>
                    </a:p>
                  </a:txBody>
                  <a:tcPr marL="64008" marR="64008" marT="32004" marB="32004" anchor="ctr">
                    <a:solidFill>
                      <a:srgbClr val="13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Bitstream Charter"/>
                        </a:rPr>
                        <a:t>Train games</a:t>
                      </a:r>
                    </a:p>
                  </a:txBody>
                  <a:tcPr marL="64008" marR="64008" marT="32004" marB="32004" anchor="ctr">
                    <a:solidFill>
                      <a:srgbClr val="13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Bitstream Charter"/>
                        </a:rPr>
                        <a:t>Strong share</a:t>
                      </a:r>
                    </a:p>
                  </a:txBody>
                  <a:tcPr marL="64008" marR="64008" marT="32004" marB="32004" anchor="ctr">
                    <a:solidFill>
                      <a:srgbClr val="13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Bitstream Charter"/>
                        </a:rPr>
                        <a:t>Lift</a:t>
                      </a:r>
                    </a:p>
                  </a:txBody>
                  <a:tcPr marL="64008" marR="64008" marT="32004" marB="32004" anchor="ctr">
                    <a:solidFill>
                      <a:srgbClr val="13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Bitstream Charter"/>
                        </a:rPr>
                        <a:t>Test games</a:t>
                      </a:r>
                    </a:p>
                  </a:txBody>
                  <a:tcPr marL="64008" marR="64008" marT="32004" marB="32004" anchor="ctr">
                    <a:solidFill>
                      <a:srgbClr val="13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Bitstream Charter"/>
                        </a:rPr>
                        <a:t>Strong (test)</a:t>
                      </a:r>
                    </a:p>
                  </a:txBody>
                  <a:tcPr marL="64008" marR="64008" marT="32004" marB="32004" anchor="ctr">
                    <a:solidFill>
                      <a:srgbClr val="132C43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Procedural Generation + Retro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43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67%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1.91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14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57%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Arcade + Retro + Roguelite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52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67%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1.90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11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55%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EAF0F6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price &lt;$5 + 2D + Procedural Generation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36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67%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1.89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11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45%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Arcade + Pixel Graphics + Retro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50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66%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1.87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12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67%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EAF0F6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2D + Perma Death + Procedural Generation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32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66%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1.86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12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75%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price &lt;$5 + Pixel Graphics + Procedural Generation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29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66%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1.85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12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42%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EAF0F6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722376" y="5074920"/>
            <a:ext cx="107442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00" b="1" i="0">
                <a:solidFill>
                  <a:srgbClr val="132C43"/>
                </a:solidFill>
                <a:latin typeface="Bitstream Charter"/>
              </a:rPr>
              <a:t>Reading it  </a:t>
            </a:r>
            <a:r>
              <a:rPr sz="1100" b="0" i="0">
                <a:solidFill>
                  <a:srgbClr val="263C50"/>
                </a:solidFill>
                <a:latin typeface="Bitstream Charter"/>
              </a:rPr>
              <a:t>Strong is the tier for 35% of games. 2D, pixel, retro and procedural-generation combinations reach about two-thirds. Supports are small (30 to 60 train games), so these are hypotheses.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2376" y="5669280"/>
            <a:ext cx="64008" cy="457200"/>
          </a:xfrm>
          <a:prstGeom prst="rect">
            <a:avLst/>
          </a:prstGeom>
          <a:solidFill>
            <a:srgbClr val="D149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86384" y="5669280"/>
            <a:ext cx="10680192" cy="457200"/>
          </a:xfrm>
          <a:prstGeom prst="rect">
            <a:avLst/>
          </a:prstGeom>
          <a:solidFill>
            <a:srgbClr val="EAF0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wrap="square"/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D1495B"/>
                </a:solidFill>
                <a:latin typeface="Bitstream Charter"/>
              </a:rPr>
              <a:t>Takeaway  </a:t>
            </a:r>
            <a:r>
              <a:rPr sz="1250" b="1" i="0">
                <a:solidFill>
                  <a:srgbClr val="132C43"/>
                </a:solidFill>
                <a:latin typeface="Bitstream Charter"/>
              </a:rPr>
              <a:t>Focused, low-scope combinations go with Strong; no tag recipe protects against Struggling.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Rectangle 4">
            <a:extLst>
              <a:ext uri="{FF2B5EF4-FFF2-40B4-BE49-F238E27FC236}">
                <a16:creationId xmlns:a16="http://schemas.microsoft.com/office/drawing/2014/main" id="{27979FDE-990F-4C15-B33C-B2975BF50CD9}"/>
              </a:ext>
            </a:extLst>
          </p:cNvPr>
          <p:cNvSpPr>
            <a:spLocks noGrp="1"/>
          </p:cNvSpPr>
          <p:nvPr/>
        </p:nvSpPr>
        <p:spPr>
          <a:xfrm>
            <a:off x="685800" y="523875"/>
            <a:ext cx="10820400" cy="952500"/>
          </a:xfrm>
          <a:prstGeom prst="rect">
            <a:avLst/>
          </a:prstGeom>
          <a:noFill/>
          <a:ln w="0">
            <a:noFill/>
          </a:ln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  <a:defRPr sz="3300" b="1">
                <a:solidFill>
                  <a:srgbClr val="132C4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 i="0">
                <a:solidFill>
                  <a:srgbClr val="132C43"/>
                </a:solidFill>
                <a:latin typeface="Bitstream Charter"/>
              </a:rPr>
              <a:t>Do Patches Help?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795E4D0-3C0B-473C-BB65-A65A174FB43B}"/>
              </a:ext>
            </a:extLst>
          </p:cNvPr>
          <p:cNvSpPr>
            <a:spLocks noGrp="1"/>
          </p:cNvSpPr>
          <p:nvPr/>
        </p:nvSpPr>
        <p:spPr>
          <a:xfrm>
            <a:off x="11049000" y="6076950"/>
            <a:ext cx="47625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00" b="0">
                <a:solidFill>
                  <a:srgbClr val="48677E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48677E"/>
                </a:solidFill>
                <a:latin typeface="Bitstream Charter"/>
                <a:ea typeface="Bitstream Charter"/>
                <a:cs typeface="Bitstream Charter"/>
              </a:rPr>
              <a:t>07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40080" y="1463040"/>
          <a:ext cx="3749039" cy="2926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434840" y="1463040"/>
          <a:ext cx="3749039" cy="29260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412480" y="1463040"/>
            <a:ext cx="3108960" cy="3108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300"/>
              </a:spcAft>
            </a:pPr>
            <a:r>
              <a:rPr sz="2400" b="1" i="0">
                <a:solidFill>
                  <a:srgbClr val="132C43"/>
                </a:solidFill>
                <a:latin typeface="Bitstream Charter"/>
              </a:rPr>
              <a:t>1,685</a:t>
            </a:r>
            <a:r>
              <a:rPr sz="1150" b="0" i="0">
                <a:solidFill>
                  <a:srgbClr val="263C50"/>
                </a:solidFill>
                <a:latin typeface="Bitstream Charter"/>
              </a:rPr>
              <a:t> patches, </a:t>
            </a:r>
            <a:r>
              <a:rPr sz="1150" b="1" i="0">
                <a:solidFill>
                  <a:srgbClr val="263C50"/>
                </a:solidFill>
                <a:latin typeface="Bitstream Charter"/>
              </a:rPr>
              <a:t>617</a:t>
            </a:r>
            <a:r>
              <a:rPr sz="1150" b="0" i="0">
                <a:solidFill>
                  <a:srgbClr val="263C50"/>
                </a:solidFill>
                <a:latin typeface="Bitstream Charter"/>
              </a:rPr>
              <a:t> games</a:t>
            </a:r>
          </a:p>
          <a:p>
            <a:pPr>
              <a:spcAft>
                <a:spcPts val="300"/>
              </a:spcAft>
            </a:pPr>
            <a:r>
              <a:rPr sz="1150" b="0" i="0">
                <a:solidFill>
                  <a:srgbClr val="263C50"/>
                </a:solidFill>
                <a:latin typeface="Bitstream Charter"/>
              </a:rPr>
              <a:t>Average change </a:t>
            </a:r>
            <a:r>
              <a:rPr sz="1150" b="1" i="0">
                <a:solidFill>
                  <a:srgbClr val="D1495B"/>
                </a:solidFill>
                <a:latin typeface="Bitstream Charter"/>
              </a:rPr>
              <a:t>-2.06 points</a:t>
            </a:r>
          </a:p>
          <a:p>
            <a:pPr>
              <a:spcAft>
                <a:spcPts val="300"/>
              </a:spcAft>
            </a:pPr>
            <a:r>
              <a:rPr sz="1150" b="0" i="0">
                <a:solidFill>
                  <a:srgbClr val="263C50"/>
                </a:solidFill>
                <a:latin typeface="Bitstream Charter"/>
              </a:rPr>
              <a:t>95% interval [-2.75, -1.37]</a:t>
            </a:r>
          </a:p>
          <a:p>
            <a:pPr>
              <a:spcAft>
                <a:spcPts val="300"/>
              </a:spcAft>
            </a:pPr>
            <a:r>
              <a:rPr sz="1150" b="0" i="0">
                <a:solidFill>
                  <a:srgbClr val="263C50"/>
                </a:solidFill>
                <a:latin typeface="Bitstream Charter"/>
              </a:rPr>
              <a:t/>
            </a:r>
          </a:p>
          <a:p>
            <a:pPr>
              <a:spcAft>
                <a:spcPts val="300"/>
              </a:spcAft>
            </a:pPr>
            <a:r>
              <a:rPr sz="1150" b="1" i="0">
                <a:solidFill>
                  <a:srgbClr val="132C43"/>
                </a:solidFill>
                <a:latin typeface="Bitstream Charter"/>
              </a:rPr>
              <a:t>Against matched no-patch windows</a:t>
            </a:r>
          </a:p>
          <a:p>
            <a:pPr>
              <a:spcAft>
                <a:spcPts val="300"/>
              </a:spcAft>
            </a:pPr>
            <a:r>
              <a:rPr sz="1150" b="1" i="0">
                <a:solidFill>
                  <a:srgbClr val="263C50"/>
                </a:solidFill>
                <a:latin typeface="Bitstream Charter"/>
              </a:rPr>
              <a:t>+0.27 points, interval [-0.82, +1.36]</a:t>
            </a:r>
          </a:p>
          <a:p>
            <a:pPr>
              <a:spcAft>
                <a:spcPts val="300"/>
              </a:spcAft>
            </a:pPr>
            <a:r>
              <a:rPr sz="1150" b="0" i="0">
                <a:solidFill>
                  <a:srgbClr val="263C50"/>
                </a:solidFill>
                <a:latin typeface="Bitstream Charter"/>
              </a:rPr>
              <a:t>The interval includes zero.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4526280"/>
            <a:ext cx="10744200" cy="914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00" b="1" i="0">
                <a:solidFill>
                  <a:srgbClr val="132C43"/>
                </a:solidFill>
                <a:latin typeface="Bitstream Charter"/>
              </a:rPr>
              <a:t>Reading it  </a:t>
            </a:r>
            <a:r>
              <a:rPr sz="1100" b="0" i="0">
                <a:solidFill>
                  <a:srgbClr val="263C50"/>
                </a:solidFill>
                <a:latin typeface="Bitstream Charter"/>
              </a:rPr>
              <a:t>The fall after a patch is a launch-period effect (launch-week surges) and regression to the mean (a very positive month tends to drop, a poor one to recover), not a patch effect. Controls exist for only 164 of the 617 games, mostly well after launch.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2376" y="5623560"/>
            <a:ext cx="64008" cy="457200"/>
          </a:xfrm>
          <a:prstGeom prst="rect">
            <a:avLst/>
          </a:prstGeom>
          <a:solidFill>
            <a:srgbClr val="D149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6384" y="5623560"/>
            <a:ext cx="10680192" cy="457200"/>
          </a:xfrm>
          <a:prstGeom prst="rect">
            <a:avLst/>
          </a:prstGeom>
          <a:solidFill>
            <a:srgbClr val="EAF0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wrap="square"/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D1495B"/>
                </a:solidFill>
                <a:latin typeface="Bitstream Charter"/>
              </a:rPr>
              <a:t>Takeaway  </a:t>
            </a:r>
            <a:r>
              <a:rPr sz="1250" b="1" i="0">
                <a:solidFill>
                  <a:srgbClr val="132C43"/>
                </a:solidFill>
                <a:latin typeface="Bitstream Charter"/>
              </a:rPr>
              <a:t>No clear patch effect on overall sentiment: patch to fix specific problems, not to lift ratings in general.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Rectangle 4">
            <a:extLst>
              <a:ext uri="{FF2B5EF4-FFF2-40B4-BE49-F238E27FC236}">
                <a16:creationId xmlns:a16="http://schemas.microsoft.com/office/drawing/2014/main" id="{27979FDE-990F-4C15-B33C-B2975BF50CD9}"/>
              </a:ext>
            </a:extLst>
          </p:cNvPr>
          <p:cNvSpPr>
            <a:spLocks noGrp="1"/>
          </p:cNvSpPr>
          <p:nvPr/>
        </p:nvSpPr>
        <p:spPr>
          <a:xfrm>
            <a:off x="685800" y="523875"/>
            <a:ext cx="10820400" cy="952500"/>
          </a:xfrm>
          <a:prstGeom prst="rect">
            <a:avLst/>
          </a:prstGeom>
          <a:noFill/>
          <a:ln w="0">
            <a:noFill/>
          </a:ln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  <a:defRPr sz="3300" b="1">
                <a:solidFill>
                  <a:srgbClr val="132C4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 i="0">
                <a:solidFill>
                  <a:srgbClr val="132C43"/>
                </a:solidFill>
                <a:latin typeface="Bitstream Charter"/>
              </a:rPr>
              <a:t>Launch-Risk Scorer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795E4D0-3C0B-473C-BB65-A65A174FB43B}"/>
              </a:ext>
            </a:extLst>
          </p:cNvPr>
          <p:cNvSpPr>
            <a:spLocks noGrp="1"/>
          </p:cNvSpPr>
          <p:nvPr/>
        </p:nvSpPr>
        <p:spPr>
          <a:xfrm>
            <a:off x="11049000" y="6076950"/>
            <a:ext cx="47625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00" b="0">
                <a:solidFill>
                  <a:srgbClr val="48677E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48677E"/>
                </a:solidFill>
                <a:latin typeface="Bitstream Charter"/>
                <a:ea typeface="Bitstream Charter"/>
                <a:cs typeface="Bitstream Charter"/>
              </a:rPr>
              <a:t>08</a:t>
            </a:r>
          </a:p>
        </p:txBody>
      </p:sp>
      <p:sp>
        <p:nvSpPr>
          <p:cNvPr id="6" name="Rectangle 5"/>
          <p:cNvSpPr/>
          <p:nvPr/>
        </p:nvSpPr>
        <p:spPr>
          <a:xfrm>
            <a:off x="722376" y="1508760"/>
            <a:ext cx="2560320" cy="457200"/>
          </a:xfrm>
          <a:prstGeom prst="rect">
            <a:avLst/>
          </a:prstGeom>
          <a:solidFill>
            <a:srgbClr val="13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Bitstream Charter"/>
              </a:rPr>
              <a:t>Inputs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" y="1965960"/>
            <a:ext cx="25603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263C50"/>
                </a:solidFill>
                <a:latin typeface="Bitstream Charter"/>
              </a:rPr>
              <a:t>price, launch date, DLC, languages, achievements, platforms, tags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264408" y="1600200"/>
            <a:ext cx="219456" cy="274320"/>
          </a:xfrm>
          <a:prstGeom prst="rightArrow">
            <a:avLst/>
          </a:prstGeom>
          <a:solidFill>
            <a:srgbClr val="D14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65576" y="1508760"/>
            <a:ext cx="2560320" cy="457200"/>
          </a:xfrm>
          <a:prstGeom prst="rect">
            <a:avLst/>
          </a:prstGeom>
          <a:solidFill>
            <a:srgbClr val="13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Bitstream Charter"/>
              </a:rPr>
              <a:t>83 features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65576" y="1965960"/>
            <a:ext cx="25603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263C50"/>
                </a:solidFill>
                <a:latin typeface="Bitstream Charter"/>
              </a:rPr>
              <a:t>15 launch features + 68 tag components from the saved PCA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007608" y="1600200"/>
            <a:ext cx="219456" cy="274320"/>
          </a:xfrm>
          <a:prstGeom prst="rightArrow">
            <a:avLst/>
          </a:prstGeom>
          <a:solidFill>
            <a:srgbClr val="D14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08776" y="1508760"/>
            <a:ext cx="2560320" cy="457200"/>
          </a:xfrm>
          <a:prstGeom prst="rect">
            <a:avLst/>
          </a:prstGeom>
          <a:solidFill>
            <a:srgbClr val="13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Bitstream Charter"/>
              </a:rPr>
              <a:t>XGBoost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08776" y="1965960"/>
            <a:ext cx="25603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263C50"/>
                </a:solidFill>
                <a:latin typeface="Bitstream Charter"/>
              </a:rPr>
              <a:t>trained on training games only, class scales from out-of-fold predictions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750808" y="1600200"/>
            <a:ext cx="219456" cy="274320"/>
          </a:xfrm>
          <a:prstGeom prst="rightArrow">
            <a:avLst/>
          </a:prstGeom>
          <a:solidFill>
            <a:srgbClr val="D14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951976" y="1508760"/>
            <a:ext cx="2560320" cy="457200"/>
          </a:xfrm>
          <a:prstGeom prst="rect">
            <a:avLst/>
          </a:prstGeom>
          <a:solidFill>
            <a:srgbClr val="13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Bitstream Charter"/>
              </a:rPr>
              <a:t>Tier scores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51976" y="1965960"/>
            <a:ext cx="25603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263C50"/>
                </a:solidFill>
                <a:latin typeface="Bitstream Charter"/>
              </a:rPr>
              <a:t>Struggling, Solid, Strong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640080" y="3154680"/>
          <a:ext cx="4572000" cy="2286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5486400" y="3108960"/>
            <a:ext cx="6035040" cy="23774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500"/>
              </a:spcAft>
            </a:pPr>
            <a:r>
              <a:rPr sz="1100" b="1" i="0">
                <a:solidFill>
                  <a:srgbClr val="132C43"/>
                </a:solidFill>
                <a:latin typeface="Bitstream Charter"/>
              </a:rPr>
              <a:t>What it is</a:t>
            </a:r>
          </a:p>
          <a:p>
            <a:pPr>
              <a:spcAft>
                <a:spcPts val="500"/>
              </a:spcAft>
            </a:pPr>
            <a:r>
              <a:rPr sz="1100" b="0" i="0">
                <a:solidFill>
                  <a:srgbClr val="263C50"/>
                </a:solidFill>
                <a:latin typeface="Bitstream Charter"/>
              </a:rPr>
              <a:t>A launch-time estimate of the review-reception tier, not a sales forecast.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132C43"/>
                </a:solidFill>
                <a:latin typeface="Bitstream Charter"/>
              </a:rPr>
              <a:t>What it is not</a:t>
            </a:r>
          </a:p>
          <a:p>
            <a:pPr>
              <a:spcAft>
                <a:spcPts val="500"/>
              </a:spcAft>
            </a:pPr>
            <a:r>
              <a:rPr sz="1100" b="0" i="0">
                <a:solidFill>
                  <a:srgbClr val="263C50"/>
                </a:solidFill>
                <a:latin typeface="Bitstream Charter"/>
              </a:rPr>
              <a:t>Cross-validation macro-F1 is about 0.43 against 0.22 for guessing, and Struggling games are hard to find. Scores are class-scaled, not calibrated probabilities.</a:t>
            </a:r>
          </a:p>
          <a:p>
            <a:pPr>
              <a:spcAft>
                <a:spcPts val="500"/>
              </a:spcAft>
            </a:pPr>
            <a:r>
              <a:rPr sz="1100" b="0" i="0">
                <a:solidFill>
                  <a:srgbClr val="263C50"/>
                </a:solidFill>
                <a:latin typeface="Bitstream Charter"/>
              </a:rPr>
              <a:t>The featurizer reproduces the stored features for all 1,861 games, so a new game is scored on the same footing as the model's training data.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2376" y="5623560"/>
            <a:ext cx="64008" cy="457200"/>
          </a:xfrm>
          <a:prstGeom prst="rect">
            <a:avLst/>
          </a:prstGeom>
          <a:solidFill>
            <a:srgbClr val="D149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86384" y="5623560"/>
            <a:ext cx="10680192" cy="457200"/>
          </a:xfrm>
          <a:prstGeom prst="rect">
            <a:avLst/>
          </a:prstGeom>
          <a:solidFill>
            <a:srgbClr val="EAF0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wrap="square"/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D1495B"/>
                </a:solidFill>
                <a:latin typeface="Bitstream Charter"/>
              </a:rPr>
              <a:t>Takeaway  </a:t>
            </a:r>
            <a:r>
              <a:rPr sz="1250" b="1" i="0">
                <a:solidFill>
                  <a:srgbClr val="132C43"/>
                </a:solidFill>
                <a:latin typeface="Bitstream Charter"/>
              </a:rPr>
              <a:t>Use it to compare launch plans, not to promise an outcome.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Rectangle 4">
            <a:extLst>
              <a:ext uri="{FF2B5EF4-FFF2-40B4-BE49-F238E27FC236}">
                <a16:creationId xmlns:a16="http://schemas.microsoft.com/office/drawing/2014/main" id="{27979FDE-990F-4C15-B33C-B2975BF50CD9}"/>
              </a:ext>
            </a:extLst>
          </p:cNvPr>
          <p:cNvSpPr>
            <a:spLocks noGrp="1"/>
          </p:cNvSpPr>
          <p:nvPr/>
        </p:nvSpPr>
        <p:spPr>
          <a:xfrm>
            <a:off x="685800" y="523875"/>
            <a:ext cx="10820400" cy="952500"/>
          </a:xfrm>
          <a:prstGeom prst="rect">
            <a:avLst/>
          </a:prstGeom>
          <a:noFill/>
          <a:ln w="0">
            <a:noFill/>
          </a:ln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  <a:defRPr sz="3300" b="1">
                <a:solidFill>
                  <a:srgbClr val="132C4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 i="0">
                <a:solidFill>
                  <a:srgbClr val="132C43"/>
                </a:solidFill>
                <a:latin typeface="Bitstream Charter"/>
              </a:rPr>
              <a:t>The Dashboard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795E4D0-3C0B-473C-BB65-A65A174FB43B}"/>
              </a:ext>
            </a:extLst>
          </p:cNvPr>
          <p:cNvSpPr>
            <a:spLocks noGrp="1"/>
          </p:cNvSpPr>
          <p:nvPr/>
        </p:nvSpPr>
        <p:spPr>
          <a:xfrm>
            <a:off x="11049000" y="6076950"/>
            <a:ext cx="47625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00" b="0">
                <a:solidFill>
                  <a:srgbClr val="48677E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48677E"/>
                </a:solidFill>
                <a:latin typeface="Bitstream Charter"/>
                <a:ea typeface="Bitstream Charter"/>
                <a:cs typeface="Bitstream Charter"/>
              </a:rPr>
              <a:t>09</a:t>
            </a:r>
          </a:p>
        </p:txBody>
      </p:sp>
      <p:sp>
        <p:nvSpPr>
          <p:cNvPr id="6" name="Rectangle 5"/>
          <p:cNvSpPr/>
          <p:nvPr/>
        </p:nvSpPr>
        <p:spPr>
          <a:xfrm>
            <a:off x="722376" y="1463040"/>
            <a:ext cx="2468880" cy="640080"/>
          </a:xfrm>
          <a:prstGeom prst="rect">
            <a:avLst/>
          </a:prstGeom>
          <a:solidFill>
            <a:srgbClr val="13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Bitstream Charter"/>
              </a:rPr>
              <a:t>Market explorer</a:t>
            </a:r>
          </a:p>
        </p:txBody>
      </p:sp>
      <p:sp>
        <p:nvSpPr>
          <p:cNvPr id="7" name="Rectangle 6"/>
          <p:cNvSpPr/>
          <p:nvPr/>
        </p:nvSpPr>
        <p:spPr>
          <a:xfrm>
            <a:off x="3191256" y="1463040"/>
            <a:ext cx="493776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263C50"/>
                </a:solidFill>
                <a:latin typeface="Bitstream Charter"/>
              </a:rPr>
              <a:t>Filter 1,861 games by year, price and tags; negative share, tier mix, tags with the lowest and highest risk, reviews over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722376" y="2212848"/>
            <a:ext cx="2468880" cy="640080"/>
          </a:xfrm>
          <a:prstGeom prst="rect">
            <a:avLst/>
          </a:prstGeom>
          <a:solidFill>
            <a:srgbClr val="13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Bitstream Charter"/>
              </a:rPr>
              <a:t>Tag rules and complaints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3191256" y="2212848"/>
            <a:ext cx="493776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263C50"/>
                </a:solidFill>
                <a:latin typeface="Bitstream Charter"/>
              </a:rPr>
              <a:t>Filter the association rules by stability and lift; complaint themes by cohort; the refund-window heatmap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2376" y="2962656"/>
            <a:ext cx="2468880" cy="640080"/>
          </a:xfrm>
          <a:prstGeom prst="rect">
            <a:avLst/>
          </a:prstGeom>
          <a:solidFill>
            <a:srgbClr val="13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Bitstream Charter"/>
              </a:rPr>
              <a:t>Patch impact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91256" y="2962656"/>
            <a:ext cx="493776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263C50"/>
                </a:solidFill>
                <a:latin typeface="Bitstream Charter"/>
              </a:rPr>
              <a:t>The launch split, the pre-patch split and the matched-control result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2376" y="3712464"/>
            <a:ext cx="2468880" cy="640080"/>
          </a:xfrm>
          <a:prstGeom prst="rect">
            <a:avLst/>
          </a:prstGeom>
          <a:solidFill>
            <a:srgbClr val="D14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Bitstream Charter"/>
              </a:rPr>
              <a:t>Launch-risk scorer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91256" y="3712464"/>
            <a:ext cx="493776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263C50"/>
                </a:solidFill>
                <a:latin typeface="Bitstream Charter"/>
              </a:rPr>
              <a:t>Describe a game or load an existing one and read the predicted tier and scores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2376" y="4462272"/>
            <a:ext cx="2468880" cy="640080"/>
          </a:xfrm>
          <a:prstGeom prst="rect">
            <a:avLst/>
          </a:prstGeom>
          <a:solidFill>
            <a:srgbClr val="13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Bitstream Charter"/>
              </a:rPr>
              <a:t>About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191256" y="4462272"/>
            <a:ext cx="493776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263C50"/>
                </a:solidFill>
                <a:latin typeface="Bitstream Charter"/>
              </a:rPr>
              <a:t>Data, split, findings and limits in a few lines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1463040"/>
            <a:ext cx="3108960" cy="38404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00" b="1" i="0">
                <a:solidFill>
                  <a:srgbClr val="132C43"/>
                </a:solidFill>
                <a:latin typeface="Bitstream Charter"/>
              </a:rPr>
              <a:t>Built for refresh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63C50"/>
                </a:solidFill>
                <a:latin typeface="Bitstream Charter"/>
              </a:rPr>
              <a:t>Small tables rebuilt by one command: python -m src.dashboard.build_data.</a:t>
            </a:r>
          </a:p>
          <a:p>
            <a:pPr>
              <a:spcAft>
                <a:spcPts val="400"/>
              </a:spcAft>
            </a:pPr>
            <a:r>
              <a:rPr sz="1100" b="1" i="0">
                <a:solidFill>
                  <a:srgbClr val="132C43"/>
                </a:solidFill>
                <a:latin typeface="Bitstream Charter"/>
              </a:rPr>
              <a:t>Run it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63C50"/>
                </a:solidFill>
                <a:latin typeface="Bitstream Charter"/>
              </a:rPr>
              <a:t>streamlit run src/dashboard/app.py</a:t>
            </a:r>
          </a:p>
          <a:p>
            <a:pPr>
              <a:spcAft>
                <a:spcPts val="400"/>
              </a:spcAft>
            </a:pPr>
            <a:r>
              <a:rPr sz="1100" b="1" i="0">
                <a:solidFill>
                  <a:srgbClr val="132C43"/>
                </a:solidFill>
                <a:latin typeface="Bitstream Charter"/>
              </a:rPr>
              <a:t>Deploy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63C50"/>
                </a:solidFill>
                <a:latin typeface="Bitstream Charter"/>
              </a:rPr>
              <a:t>Ready for Streamlit Community Cloud from src/dashboard/app.py; steps in docs/dashboard.md.</a:t>
            </a:r>
          </a:p>
          <a:p>
            <a:pPr>
              <a:spcAft>
                <a:spcPts val="400"/>
              </a:spcAft>
            </a:pPr>
            <a:r>
              <a:rPr sz="1100" b="1" i="0">
                <a:solidFill>
                  <a:srgbClr val="132C43"/>
                </a:solidFill>
                <a:latin typeface="Bitstream Charter"/>
              </a:rPr>
              <a:t>Tested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63C50"/>
                </a:solidFill>
                <a:latin typeface="Bitstream Charter"/>
              </a:rPr>
              <a:t>All pages checked in a browser; unit tests for the data tables and the scorer pass.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2376" y="5623560"/>
            <a:ext cx="64008" cy="457200"/>
          </a:xfrm>
          <a:prstGeom prst="rect">
            <a:avLst/>
          </a:prstGeom>
          <a:solidFill>
            <a:srgbClr val="D149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86384" y="5623560"/>
            <a:ext cx="10680192" cy="457200"/>
          </a:xfrm>
          <a:prstGeom prst="rect">
            <a:avLst/>
          </a:prstGeom>
          <a:solidFill>
            <a:srgbClr val="EAF0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wrap="square"/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D1495B"/>
                </a:solidFill>
                <a:latin typeface="Bitstream Charter"/>
              </a:rPr>
              <a:t>Takeaway  </a:t>
            </a:r>
            <a:r>
              <a:rPr sz="1250" b="1" i="0">
                <a:solidFill>
                  <a:srgbClr val="132C43"/>
                </a:solidFill>
                <a:latin typeface="Bitstream Charter"/>
              </a:rPr>
              <a:t>One place to explore the findings, the rules and a launch plan, on the same data and protocol.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Rectangle 4">
            <a:extLst>
              <a:ext uri="{FF2B5EF4-FFF2-40B4-BE49-F238E27FC236}">
                <a16:creationId xmlns:a16="http://schemas.microsoft.com/office/drawing/2014/main" id="{27979FDE-990F-4C15-B33C-B2975BF50CD9}"/>
              </a:ext>
            </a:extLst>
          </p:cNvPr>
          <p:cNvSpPr>
            <a:spLocks noGrp="1"/>
          </p:cNvSpPr>
          <p:nvPr/>
        </p:nvSpPr>
        <p:spPr>
          <a:xfrm>
            <a:off x="685800" y="523875"/>
            <a:ext cx="10820400" cy="952500"/>
          </a:xfrm>
          <a:prstGeom prst="rect">
            <a:avLst/>
          </a:prstGeom>
          <a:noFill/>
          <a:ln w="0">
            <a:noFill/>
          </a:ln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  <a:defRPr sz="3300" b="1">
                <a:solidFill>
                  <a:srgbClr val="132C4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 i="0">
                <a:solidFill>
                  <a:srgbClr val="132C43"/>
                </a:solidFill>
                <a:latin typeface="Bitstream Charter"/>
              </a:rPr>
              <a:t>What a Studio Should Do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795E4D0-3C0B-473C-BB65-A65A174FB43B}"/>
              </a:ext>
            </a:extLst>
          </p:cNvPr>
          <p:cNvSpPr>
            <a:spLocks noGrp="1"/>
          </p:cNvSpPr>
          <p:nvPr/>
        </p:nvSpPr>
        <p:spPr>
          <a:xfrm>
            <a:off x="11049000" y="6076950"/>
            <a:ext cx="47625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00" b="0">
                <a:solidFill>
                  <a:srgbClr val="48677E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48677E"/>
                </a:solidFill>
                <a:latin typeface="Bitstream Charter"/>
                <a:ea typeface="Bitstream Charter"/>
                <a:cs typeface="Bitstream Charter"/>
              </a:rPr>
              <a:t>10</a:t>
            </a:r>
          </a:p>
        </p:txBody>
      </p:sp>
      <p:sp>
        <p:nvSpPr>
          <p:cNvPr id="6" name="Rectangle 5"/>
          <p:cNvSpPr/>
          <p:nvPr/>
        </p:nvSpPr>
        <p:spPr>
          <a:xfrm>
            <a:off x="722376" y="1463040"/>
            <a:ext cx="64008" cy="685800"/>
          </a:xfrm>
          <a:prstGeom prst="rect">
            <a:avLst/>
          </a:prstGeom>
          <a:solidFill>
            <a:srgbClr val="D14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435608"/>
            <a:ext cx="10607040" cy="7772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100"/>
              </a:spcAft>
            </a:pPr>
            <a:r>
              <a:rPr sz="1300" b="1" i="0">
                <a:solidFill>
                  <a:srgbClr val="132C43"/>
                </a:solidFill>
                <a:latin typeface="Bitstream Charter"/>
              </a:rPr>
              <a:t>1  Treat the first hour as the product</a:t>
            </a:r>
          </a:p>
          <a:p>
            <a:pPr>
              <a:spcAft>
                <a:spcPts val="100"/>
              </a:spcAft>
            </a:pPr>
            <a:r>
              <a:rPr sz="1150" b="0" i="0">
                <a:solidFill>
                  <a:srgbClr val="263C50"/>
                </a:solidFill>
                <a:latin typeface="Bitstream Charter"/>
              </a:rPr>
              <a:t>21.2% of early reviews are negative and they are 29% of all negatives. Blind-test the first 30 minutes; check controls, camera and crashes before launch.</a:t>
            </a:r>
          </a:p>
        </p:txBody>
      </p:sp>
      <p:sp>
        <p:nvSpPr>
          <p:cNvPr id="8" name="Rectangle 7"/>
          <p:cNvSpPr/>
          <p:nvPr/>
        </p:nvSpPr>
        <p:spPr>
          <a:xfrm>
            <a:off x="722376" y="2267712"/>
            <a:ext cx="64008" cy="685800"/>
          </a:xfrm>
          <a:prstGeom prst="rect">
            <a:avLst/>
          </a:prstGeom>
          <a:solidFill>
            <a:srgbClr val="D14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40280"/>
            <a:ext cx="10607040" cy="7772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100"/>
              </a:spcAft>
            </a:pPr>
            <a:r>
              <a:rPr sz="1300" b="1" i="0">
                <a:solidFill>
                  <a:srgbClr val="132C43"/>
                </a:solidFill>
                <a:latin typeface="Bitstream Charter"/>
              </a:rPr>
              <a:t>2  Match price to what the first hour delivers</a:t>
            </a:r>
          </a:p>
          <a:p>
            <a:pPr>
              <a:spcAft>
                <a:spcPts val="100"/>
              </a:spcAft>
            </a:pPr>
            <a:r>
              <a:rPr sz="1150" b="0" i="0">
                <a:solidFill>
                  <a:srgbClr val="263C50"/>
                </a:solidFill>
                <a:latin typeface="Bitstream Charter"/>
              </a:rPr>
              <a:t>Early negativity climbs from 11.4% (under $5) to 31.8% ($20 or more). Price above about $15 only with verified depth.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2376" y="3072384"/>
            <a:ext cx="64008" cy="685800"/>
          </a:xfrm>
          <a:prstGeom prst="rect">
            <a:avLst/>
          </a:prstGeom>
          <a:solidFill>
            <a:srgbClr val="D14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044952"/>
            <a:ext cx="10607040" cy="7772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100"/>
              </a:spcAft>
            </a:pPr>
            <a:r>
              <a:rPr sz="1300" b="1" i="0">
                <a:solidFill>
                  <a:srgbClr val="132C43"/>
                </a:solidFill>
                <a:latin typeface="Bitstream Charter"/>
              </a:rPr>
              <a:t>3  Prefer focused scope</a:t>
            </a:r>
          </a:p>
          <a:p>
            <a:pPr>
              <a:spcAft>
                <a:spcPts val="100"/>
              </a:spcAft>
            </a:pPr>
            <a:r>
              <a:rPr sz="1150" b="0" i="0">
                <a:solidFill>
                  <a:srgbClr val="263C50"/>
                </a:solidFill>
                <a:latin typeface="Bitstream Charter"/>
              </a:rPr>
              <a:t>2D, pixel, retro and procedural-generation combinations go with Strong about two-thirds of the time; multiplayer and 3D scopes show more Struggling games.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2376" y="3877056"/>
            <a:ext cx="64008" cy="685800"/>
          </a:xfrm>
          <a:prstGeom prst="rect">
            <a:avLst/>
          </a:prstGeom>
          <a:solidFill>
            <a:srgbClr val="D14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849624"/>
            <a:ext cx="10607040" cy="7772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100"/>
              </a:spcAft>
            </a:pPr>
            <a:r>
              <a:rPr sz="1300" b="1" i="0">
                <a:solidFill>
                  <a:srgbClr val="132C43"/>
                </a:solidFill>
                <a:latin typeface="Bitstream Charter"/>
              </a:rPr>
              <a:t>4  Complete the store page</a:t>
            </a:r>
          </a:p>
          <a:p>
            <a:pPr>
              <a:spcAft>
                <a:spcPts val="100"/>
              </a:spcAft>
            </a:pPr>
            <a:r>
              <a:rPr sz="1150" b="0" i="0">
                <a:solidFill>
                  <a:srgbClr val="263C50"/>
                </a:solidFill>
                <a:latin typeface="Bitstream Charter"/>
              </a:rPr>
              <a:t>Listed achievements and full controller support go with fewer Struggling games (12.5% against 19.6%; 11.5% against 15.5%).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2376" y="4681728"/>
            <a:ext cx="64008" cy="685800"/>
          </a:xfrm>
          <a:prstGeom prst="rect">
            <a:avLst/>
          </a:prstGeom>
          <a:solidFill>
            <a:srgbClr val="D14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654296"/>
            <a:ext cx="10607040" cy="7772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100"/>
              </a:spcAft>
            </a:pPr>
            <a:r>
              <a:rPr sz="1300" b="1" i="0">
                <a:solidFill>
                  <a:srgbClr val="132C43"/>
                </a:solidFill>
                <a:latin typeface="Bitstream Charter"/>
              </a:rPr>
              <a:t>5  Patch for specific problems</a:t>
            </a:r>
          </a:p>
          <a:p>
            <a:pPr>
              <a:spcAft>
                <a:spcPts val="100"/>
              </a:spcAft>
            </a:pPr>
            <a:r>
              <a:rPr sz="1150" b="0" i="0">
                <a:solidFill>
                  <a:srgbClr val="263C50"/>
                </a:solidFill>
                <a:latin typeface="Bitstream Charter"/>
              </a:rPr>
              <a:t>Hotfix crashes and controls in week one; tune balance and variety later. Expect no general lift in sentiment from patching.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2376" y="5623560"/>
            <a:ext cx="64008" cy="457200"/>
          </a:xfrm>
          <a:prstGeom prst="rect">
            <a:avLst/>
          </a:prstGeom>
          <a:solidFill>
            <a:srgbClr val="D149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86384" y="5623560"/>
            <a:ext cx="10680192" cy="457200"/>
          </a:xfrm>
          <a:prstGeom prst="rect">
            <a:avLst/>
          </a:prstGeom>
          <a:solidFill>
            <a:srgbClr val="EAF0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wrap="square"/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D1495B"/>
                </a:solidFill>
                <a:latin typeface="Bitstream Charter"/>
              </a:rPr>
              <a:t>Takeaway  </a:t>
            </a:r>
            <a:r>
              <a:rPr sz="1250" b="1" i="0">
                <a:solidFill>
                  <a:srgbClr val="132C43"/>
                </a:solidFill>
                <a:latin typeface="Bitstream Charter"/>
              </a:rPr>
              <a:t>These are hypotheses backed by associations; the report shows the evidence and its limits.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Rectangle 4">
            <a:extLst>
              <a:ext uri="{FF2B5EF4-FFF2-40B4-BE49-F238E27FC236}">
                <a16:creationId xmlns:a16="http://schemas.microsoft.com/office/drawing/2014/main" id="{27979FDE-990F-4C15-B33C-B2975BF50CD9}"/>
              </a:ext>
            </a:extLst>
          </p:cNvPr>
          <p:cNvSpPr>
            <a:spLocks noGrp="1"/>
          </p:cNvSpPr>
          <p:nvPr/>
        </p:nvSpPr>
        <p:spPr>
          <a:xfrm>
            <a:off x="685800" y="523875"/>
            <a:ext cx="10820400" cy="952500"/>
          </a:xfrm>
          <a:prstGeom prst="rect">
            <a:avLst/>
          </a:prstGeom>
          <a:noFill/>
          <a:ln w="0">
            <a:noFill/>
          </a:ln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  <a:defRPr sz="3300" b="1">
                <a:solidFill>
                  <a:srgbClr val="132C4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 i="0">
                <a:solidFill>
                  <a:srgbClr val="132C43"/>
                </a:solidFill>
                <a:latin typeface="Bitstream Charter"/>
              </a:rPr>
              <a:t>Limits and Honest Results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795E4D0-3C0B-473C-BB65-A65A174FB43B}"/>
              </a:ext>
            </a:extLst>
          </p:cNvPr>
          <p:cNvSpPr>
            <a:spLocks noGrp="1"/>
          </p:cNvSpPr>
          <p:nvPr/>
        </p:nvSpPr>
        <p:spPr>
          <a:xfrm>
            <a:off x="11049000" y="6076950"/>
            <a:ext cx="47625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00" b="0">
                <a:solidFill>
                  <a:srgbClr val="48677E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48677E"/>
                </a:solidFill>
                <a:latin typeface="Bitstream Charter"/>
                <a:ea typeface="Bitstream Charter"/>
                <a:cs typeface="Bitstream Charter"/>
              </a:rPr>
              <a:t>11</a:t>
            </a:r>
          </a:p>
        </p:txBody>
      </p:sp>
      <p:sp>
        <p:nvSpPr>
          <p:cNvPr id="6" name="Rectangle 5"/>
          <p:cNvSpPr/>
          <p:nvPr/>
        </p:nvSpPr>
        <p:spPr>
          <a:xfrm>
            <a:off x="722376" y="1463040"/>
            <a:ext cx="64008" cy="685800"/>
          </a:xfrm>
          <a:prstGeom prst="rect">
            <a:avLst/>
          </a:prstGeom>
          <a:solidFill>
            <a:srgbClr val="486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435608"/>
            <a:ext cx="10607040" cy="7772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100"/>
              </a:spcAft>
            </a:pPr>
            <a:r>
              <a:rPr sz="1300" b="1" i="0">
                <a:solidFill>
                  <a:srgbClr val="132C43"/>
                </a:solidFill>
                <a:latin typeface="Bitstream Charter"/>
              </a:rPr>
              <a:t>Associations, not causes</a:t>
            </a:r>
          </a:p>
          <a:p>
            <a:pPr>
              <a:spcAft>
                <a:spcPts val="100"/>
              </a:spcAft>
            </a:pPr>
            <a:r>
              <a:rPr sz="1150" b="0" i="0">
                <a:solidFill>
                  <a:srgbClr val="263C50"/>
                </a:solidFill>
                <a:latin typeface="Bitstream Charter"/>
              </a:rPr>
              <a:t>Tags, prices, DLC and review totals are snapshots from October 2026; older games had longer to collect negatives.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22376" y="2267712"/>
            <a:ext cx="64008" cy="685800"/>
          </a:xfrm>
          <a:prstGeom prst="rect">
            <a:avLst/>
          </a:prstGeom>
          <a:solidFill>
            <a:srgbClr val="486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40280"/>
            <a:ext cx="10607040" cy="7772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100"/>
              </a:spcAft>
            </a:pPr>
            <a:r>
              <a:rPr sz="1300" b="1" i="0">
                <a:solidFill>
                  <a:srgbClr val="132C43"/>
                </a:solidFill>
                <a:latin typeface="Bitstream Charter"/>
              </a:rPr>
              <a:t>Game tiers are hard</a:t>
            </a:r>
          </a:p>
          <a:p>
            <a:pPr>
              <a:spcAft>
                <a:spcPts val="100"/>
              </a:spcAft>
            </a:pPr>
            <a:r>
              <a:rPr sz="1150" b="0" i="0">
                <a:solidFill>
                  <a:srgbClr val="263C50"/>
                </a:solidFill>
                <a:latin typeface="Bitstream Charter"/>
              </a:rPr>
              <a:t>Only 51 test games are Struggling, so intervals are wide; metadata alone gives macro-F1 about 0.42, and more games would not help.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2376" y="3072384"/>
            <a:ext cx="64008" cy="685800"/>
          </a:xfrm>
          <a:prstGeom prst="rect">
            <a:avLst/>
          </a:prstGeom>
          <a:solidFill>
            <a:srgbClr val="486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044952"/>
            <a:ext cx="10607040" cy="7772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100"/>
              </a:spcAft>
            </a:pPr>
            <a:r>
              <a:rPr sz="1300" b="1" i="0">
                <a:solidFill>
                  <a:srgbClr val="132C43"/>
                </a:solidFill>
                <a:latin typeface="Bitstream Charter"/>
              </a:rPr>
              <a:t>Text detects, it does not forecast</a:t>
            </a:r>
          </a:p>
          <a:p>
            <a:pPr>
              <a:spcAft>
                <a:spcPts val="100"/>
              </a:spcAft>
            </a:pPr>
            <a:r>
              <a:rPr sz="1150" b="0" i="0">
                <a:solidFill>
                  <a:srgbClr val="263C50"/>
                </a:solidFill>
                <a:latin typeface="Bitstream Charter"/>
              </a:rPr>
              <a:t>The text model reads a review that already exists; the review-level metadata models use reviewer-history columns read at scrape time.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2376" y="3877056"/>
            <a:ext cx="64008" cy="685800"/>
          </a:xfrm>
          <a:prstGeom prst="rect">
            <a:avLst/>
          </a:prstGeom>
          <a:solidFill>
            <a:srgbClr val="486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849624"/>
            <a:ext cx="10607040" cy="7772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100"/>
              </a:spcAft>
            </a:pPr>
            <a:r>
              <a:rPr sz="1300" b="1" i="0">
                <a:solidFill>
                  <a:srgbClr val="132C43"/>
                </a:solidFill>
                <a:latin typeface="Bitstream Charter"/>
              </a:rPr>
              <a:t>Coverage</a:t>
            </a:r>
          </a:p>
          <a:p>
            <a:pPr>
              <a:spcAft>
                <a:spcPts val="100"/>
              </a:spcAft>
            </a:pPr>
            <a:r>
              <a:rPr sz="1150" b="0" i="0">
                <a:solidFill>
                  <a:srgbClr val="263C50"/>
                </a:solidFill>
                <a:latin typeface="Bitstream Charter"/>
              </a:rPr>
              <a:t>Five very large games are capped at their newest reviews; about 60% of reviews are not in English, so the text results cover a minority.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2376" y="4681728"/>
            <a:ext cx="64008" cy="685800"/>
          </a:xfrm>
          <a:prstGeom prst="rect">
            <a:avLst/>
          </a:prstGeom>
          <a:solidFill>
            <a:srgbClr val="486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654296"/>
            <a:ext cx="10607040" cy="7772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100"/>
              </a:spcAft>
            </a:pPr>
            <a:r>
              <a:rPr sz="1300" b="1" i="0">
                <a:solidFill>
                  <a:srgbClr val="132C43"/>
                </a:solidFill>
                <a:latin typeface="Bitstream Charter"/>
              </a:rPr>
              <a:t>Tuning and validation</a:t>
            </a:r>
          </a:p>
          <a:p>
            <a:pPr>
              <a:spcAft>
                <a:spcPts val="100"/>
              </a:spcAft>
            </a:pPr>
            <a:r>
              <a:rPr sz="1150" b="0" i="0">
                <a:solidFill>
                  <a:srgbClr val="263C50"/>
                </a:solidFill>
                <a:latin typeface="Bitstream Charter"/>
              </a:rPr>
              <a:t>Tuning gave small gains; the blind manual topic check is being redone; discount impact was not analysed.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2376" y="5623560"/>
            <a:ext cx="64008" cy="457200"/>
          </a:xfrm>
          <a:prstGeom prst="rect">
            <a:avLst/>
          </a:prstGeom>
          <a:solidFill>
            <a:srgbClr val="D149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86384" y="5623560"/>
            <a:ext cx="10680192" cy="457200"/>
          </a:xfrm>
          <a:prstGeom prst="rect">
            <a:avLst/>
          </a:prstGeom>
          <a:solidFill>
            <a:srgbClr val="EAF0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wrap="square"/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D1495B"/>
                </a:solidFill>
                <a:latin typeface="Bitstream Charter"/>
              </a:rPr>
              <a:t>Takeaway  </a:t>
            </a:r>
            <a:r>
              <a:rPr sz="1250" b="1" i="0">
                <a:solidFill>
                  <a:srgbClr val="132C43"/>
                </a:solidFill>
                <a:latin typeface="Bitstream Charter"/>
              </a:rPr>
              <a:t>We report the weak results as findings: metadata cannot tell how good a game is.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Rectangle 4">
            <a:extLst>
              <a:ext uri="{FF2B5EF4-FFF2-40B4-BE49-F238E27FC236}">
                <a16:creationId xmlns:a16="http://schemas.microsoft.com/office/drawing/2014/main" id="{27979FDE-990F-4C15-B33C-B2975BF50CD9}"/>
              </a:ext>
            </a:extLst>
          </p:cNvPr>
          <p:cNvSpPr>
            <a:spLocks noGrp="1"/>
          </p:cNvSpPr>
          <p:nvPr/>
        </p:nvSpPr>
        <p:spPr>
          <a:xfrm>
            <a:off x="685800" y="523875"/>
            <a:ext cx="10820400" cy="952500"/>
          </a:xfrm>
          <a:prstGeom prst="rect">
            <a:avLst/>
          </a:prstGeom>
          <a:noFill/>
          <a:ln w="0">
            <a:noFill/>
          </a:ln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  <a:defRPr sz="3300" b="1">
                <a:solidFill>
                  <a:srgbClr val="132C4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 i="0">
                <a:solidFill>
                  <a:srgbClr val="132C43"/>
                </a:solidFill>
                <a:latin typeface="Bitstream Charter"/>
              </a:rPr>
              <a:t>Contributions, Tracking and Next Steps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795E4D0-3C0B-473C-BB65-A65A174FB43B}"/>
              </a:ext>
            </a:extLst>
          </p:cNvPr>
          <p:cNvSpPr>
            <a:spLocks noGrp="1"/>
          </p:cNvSpPr>
          <p:nvPr/>
        </p:nvSpPr>
        <p:spPr>
          <a:xfrm>
            <a:off x="11049000" y="6076950"/>
            <a:ext cx="47625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00" b="0">
                <a:solidFill>
                  <a:srgbClr val="48677E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48677E"/>
                </a:solidFill>
                <a:latin typeface="Bitstream Charter"/>
                <a:ea typeface="Bitstream Charter"/>
                <a:cs typeface="Bitstream Charter"/>
              </a:rPr>
              <a:t>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22376" y="1463040"/>
          <a:ext cx="6675120" cy="230428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103120"/>
                <a:gridCol w="45720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Bitstream Charter"/>
                        </a:rPr>
                        <a:t>Member</a:t>
                      </a:r>
                    </a:p>
                  </a:txBody>
                  <a:tcPr marL="64008" marR="64008" marT="32004" marB="32004" anchor="ctr">
                    <a:solidFill>
                      <a:srgbClr val="132C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Bitstream Charter"/>
                        </a:rPr>
                        <a:t>Review 2 contribution</a:t>
                      </a:r>
                    </a:p>
                  </a:txBody>
                  <a:tcPr marL="64008" marR="64008" marT="32004" marB="32004" anchor="ctr">
                    <a:solidFill>
                      <a:srgbClr val="132C4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Shantharam P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Data, cleaning, split, models, tuning (review and text), dashboard, final report, board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Pradeep Sasidharan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XGBoost models and SHAP; association rules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EAF0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Gayas Sheik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Feature engineering, patch impact, launch-risk scorer, reproducibility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Thotakura Srihitha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EDA; game-level tuning (in progress)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EAF0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Valikala Tejaswini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63C50"/>
                          </a:solidFill>
                          <a:latin typeface="Bitstream Charter"/>
                        </a:rPr>
                        <a:t>Text mining and topic modelling, combined insights</a:t>
                      </a:r>
                    </a:p>
                  </a:txBody>
                  <a:tcPr marL="64008" marR="64008" marT="32004" marB="32004" anchor="ctr">
                    <a:lnB w="9525" cap="flat" cmpd="sng" algn="ctr">
                      <a:solidFill>
                        <a:srgbClr val="C9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680960" y="1417320"/>
            <a:ext cx="3840480" cy="39319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500"/>
              </a:spcAft>
            </a:pPr>
            <a:r>
              <a:rPr sz="1100" b="1" i="0">
                <a:solidFill>
                  <a:srgbClr val="132C43"/>
                </a:solidFill>
                <a:latin typeface="Bitstream Charter"/>
              </a:rPr>
              <a:t>Project board</a:t>
            </a:r>
          </a:p>
          <a:p>
            <a:pPr>
              <a:spcAft>
                <a:spcPts val="500"/>
              </a:spcAft>
            </a:pPr>
            <a:r>
              <a:rPr sz="2200" b="1" i="0">
                <a:solidFill>
                  <a:srgbClr val="D1495B"/>
                </a:solidFill>
                <a:latin typeface="Bitstream Charter"/>
              </a:rPr>
              <a:t>23 of 39</a:t>
            </a:r>
            <a:r>
              <a:rPr sz="1100" b="0" i="0">
                <a:solidFill>
                  <a:srgbClr val="263C50"/>
                </a:solidFill>
                <a:latin typeface="Bitstream Charter"/>
              </a:rPr>
              <a:t> Review 2 cards completed</a:t>
            </a:r>
          </a:p>
          <a:p>
            <a:pPr>
              <a:spcAft>
                <a:spcPts val="500"/>
              </a:spcAft>
            </a:pPr>
            <a:r>
              <a:rPr sz="1100" b="0" i="0">
                <a:solidFill>
                  <a:srgbClr val="263C50"/>
                </a:solidFill>
                <a:latin typeface="Bitstream Charter"/>
              </a:rPr>
              <a:t>Every card has an owner, a due date and evidence; pull requests were reviewed, with changes requested where needed, before merging.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132C43"/>
                </a:solidFill>
                <a:latin typeface="Bitstream Charter"/>
              </a:rPr>
              <a:t>Next</a:t>
            </a:r>
          </a:p>
          <a:p>
            <a:pPr>
              <a:spcAft>
                <a:spcPts val="500"/>
              </a:spcAft>
            </a:pPr>
            <a:r>
              <a:rPr sz="1100" b="0" i="0">
                <a:solidFill>
                  <a:srgbClr val="263C50"/>
                </a:solidFill>
                <a:latin typeface="Bitstream Charter"/>
              </a:rPr>
              <a:t>Finish the game-level tuning and refresh the comparison tables.</a:t>
            </a:r>
          </a:p>
          <a:p>
            <a:pPr>
              <a:spcAft>
                <a:spcPts val="500"/>
              </a:spcAft>
            </a:pPr>
            <a:r>
              <a:rPr sz="1100" b="0" i="0">
                <a:solidFill>
                  <a:srgbClr val="263C50"/>
                </a:solidFill>
                <a:latin typeface="Bitstream Charter"/>
              </a:rPr>
              <a:t>Redo the blind manual topic check.</a:t>
            </a:r>
          </a:p>
          <a:p>
            <a:pPr>
              <a:spcAft>
                <a:spcPts val="500"/>
              </a:spcAft>
            </a:pPr>
            <a:r>
              <a:rPr sz="1100" b="0" i="0">
                <a:solidFill>
                  <a:srgbClr val="263C50"/>
                </a:solidFill>
                <a:latin typeface="Bitstream Charter"/>
              </a:rPr>
              <a:t>Deploy the dashboard from the repository.</a:t>
            </a:r>
          </a:p>
          <a:p>
            <a:pPr>
              <a:spcAft>
                <a:spcPts val="500"/>
              </a:spcAft>
            </a:pPr>
            <a:r>
              <a:rPr sz="1100" b="0" i="0">
                <a:solidFill>
                  <a:srgbClr val="263C50"/>
                </a:solidFill>
                <a:latin typeface="Bitstream Charter"/>
              </a:rPr>
              <a:t>Questions.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22376" y="5623560"/>
            <a:ext cx="64008" cy="457200"/>
          </a:xfrm>
          <a:prstGeom prst="rect">
            <a:avLst/>
          </a:prstGeom>
          <a:solidFill>
            <a:srgbClr val="D149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86384" y="5623560"/>
            <a:ext cx="10680192" cy="457200"/>
          </a:xfrm>
          <a:prstGeom prst="rect">
            <a:avLst/>
          </a:prstGeom>
          <a:solidFill>
            <a:srgbClr val="EAF0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wrap="square"/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D1495B"/>
                </a:solidFill>
                <a:latin typeface="Bitstream Charter"/>
              </a:rPr>
              <a:t>Takeaway  </a:t>
            </a:r>
            <a:r>
              <a:rPr sz="1250" b="1" i="0">
                <a:solidFill>
                  <a:srgbClr val="132C43"/>
                </a:solidFill>
                <a:latin typeface="Bitstream Charter"/>
              </a:rPr>
              <a:t>Repository, board and report: github.com/Shan713/IndieGuard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526</Words>
  <Application>Microsoft Office PowerPoint</Application>
  <DocSecurity>0</DocSecurity>
  <PresentationFormat>Widescreen</PresentationFormat>
  <Paragraphs>74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Aptos</vt:lpstr>
      <vt:lpstr>Bitstream Charter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ROHINI S</cp:lastModifiedBy>
  <cp:revision>3</cp:revision>
  <dcterms:created xsi:type="dcterms:W3CDTF">2026-10-01T14:42:32Z</dcterms:created>
  <dcterms:modified xsi:type="dcterms:W3CDTF">2026-10-01T15:01:32Z</dcterms:modified>
</cp:coreProperties>
</file>