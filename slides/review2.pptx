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Share of negative reviews where the theme is the main one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Negative reviews, under 2 h</c:v>
                </c:pt>
              </c:strCache>
            </c:strRef>
          </c:tx>
          <c:spPr>
            <a:solidFill>
              <a:srgbClr val="D1495B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Unbalanced mechanics</c:v>
                </c:pt>
                <c:pt idx="1">
                  <c:v>Art vs gameplay loop</c:v>
                </c:pt>
                <c:pt idx="2">
                  <c:v>Multiplayer, crashes, bugs</c:v>
                </c:pt>
                <c:pt idx="3">
                  <c:v>Replayability, co-op</c:v>
                </c:pt>
                <c:pt idx="4">
                  <c:v>Early Access, content scarcity</c:v>
                </c:pt>
                <c:pt idx="5">
                  <c:v>Flawed design, controls, RNG</c:v>
                </c:pt>
                <c:pt idx="6">
                  <c:v>Repetitive, grind, pacing</c:v>
                </c:pt>
                <c:pt idx="7">
                  <c:v>Boss, damage, upgrades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1.56095416071232</c:v>
                </c:pt>
                <c:pt idx="1">
                  <c:v>22.2381004726833</c:v>
                </c:pt>
                <c:pt idx="2">
                  <c:v>28.668791909420687</c:v>
                </c:pt>
                <c:pt idx="3">
                  <c:v>7.35407277124326</c:v>
                </c:pt>
                <c:pt idx="4">
                  <c:v>4.495987688248871</c:v>
                </c:pt>
                <c:pt idx="5">
                  <c:v>4.86973727602506</c:v>
                </c:pt>
                <c:pt idx="6">
                  <c:v>5.67219962625041</c:v>
                </c:pt>
                <c:pt idx="7">
                  <c:v>25.14015609541607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Negative reviews, 2 h or more</c:v>
                </c:pt>
              </c:strCache>
            </c:strRef>
          </c:tx>
          <c:spPr>
            <a:solidFill>
              <a:srgbClr val="8C99A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Unbalanced mechanics</c:v>
                </c:pt>
                <c:pt idx="1">
                  <c:v>Art vs gameplay loop</c:v>
                </c:pt>
                <c:pt idx="2">
                  <c:v>Multiplayer, crashes, bugs</c:v>
                </c:pt>
                <c:pt idx="3">
                  <c:v>Replayability, co-op</c:v>
                </c:pt>
                <c:pt idx="4">
                  <c:v>Early Access, content scarcity</c:v>
                </c:pt>
                <c:pt idx="5">
                  <c:v>Flawed design, controls, RNG</c:v>
                </c:pt>
                <c:pt idx="6">
                  <c:v>Repetitive, grind, pacing</c:v>
                </c:pt>
                <c:pt idx="7">
                  <c:v>Boss, damage, upgrades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1.70408099100798</c:v>
                </c:pt>
                <c:pt idx="1">
                  <c:v>17.688486449097653</c:v>
                </c:pt>
                <c:pt idx="2">
                  <c:v>23.52386342199585</c:v>
                </c:pt>
                <c:pt idx="3">
                  <c:v>10.46972269383135</c:v>
                </c:pt>
                <c:pt idx="4">
                  <c:v>4.60290511224297</c:v>
                </c:pt>
                <c:pt idx="5">
                  <c:v>3.8357542602024703</c:v>
                </c:pt>
                <c:pt idx="6">
                  <c:v>4.04955039929573</c:v>
                </c:pt>
                <c:pt idx="7">
                  <c:v>34.12563667232597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b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Change in positive share, by days since launch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 (points)</c:v>
                </c:pt>
              </c:strCache>
            </c:strRef>
          </c:tx>
          <c:spPr>
            <a:solidFill>
              <a:srgbClr val="48677E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up to 30 d</c:v>
                </c:pt>
                <c:pt idx="1">
                  <c:v>31-180 d</c:v>
                </c:pt>
                <c:pt idx="2">
                  <c:v>over 180 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-1.8959945895678656</c:v>
                </c:pt>
                <c:pt idx="1">
                  <c:v>-0.7613590919833932</c:v>
                </c:pt>
                <c:pt idx="2">
                  <c:v>-0.3615510527566736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-4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By positive share before the patch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 (points)</c:v>
                </c:pt>
              </c:strCache>
            </c:strRef>
          </c:tx>
          <c:spPr>
            <a:solidFill>
              <a:srgbClr val="D1495B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below 70%</c:v>
                </c:pt>
                <c:pt idx="1">
                  <c:v>70-90%</c:v>
                </c:pt>
                <c:pt idx="2">
                  <c:v>above 90%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9.447263384938624</c:v>
                </c:pt>
                <c:pt idx="1">
                  <c:v>-0.0460224105460108</c:v>
                </c:pt>
                <c:pt idx="2">
                  <c:v>-3.2075674668014527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-4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Example: a $9.99 pixel-art roguelike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8677E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Struggling</c:v>
                </c:pt>
                <c:pt idx="1">
                  <c:v>Solid</c:v>
                </c:pt>
                <c:pt idx="2">
                  <c:v>Strong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33.265366314388025</c:v>
                </c:pt>
                <c:pt idx="1">
                  <c:v>27.106891103310303</c:v>
                </c:pt>
                <c:pt idx="2">
                  <c:v>39.627742582301664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speaker: Shantharam. 0:30.</a:t>
            </a:r>
          </a:p>
          <a:p>
            <a:r>
              <a:t>Review 2 builds on the Review 1 dataset and models. Five deliverables: the hyperparameter fix from the Review 1 comment, text mining, tag rules, patch impact, and the scorer and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Three Review 1 numbers to remember. Then the five Review 2 deliverables and who owns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This answers the Review 1 comment. Grid sizes 13 to 37 points per model, run with the same folds as before. Be explicit that the text jump is mostly the vocabulary refit, not tuning. Game-level searches are owned by Srihitha and are in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Tejaswini. 1:15.</a:t>
            </a:r>
          </a:p>
          <a:p>
            <a:r>
              <a:t>Pipeline left to right. Be upfront that LDA scores better on UMass; the choice of NMF is about interpretability. The blind 200-review check was labelled by an AI assistant with the model topic hidden: 35.5% agreement, kappa 0.30, 73 reviews with no clear theme; well recovered are Early Access (88%), repetition (64%) and multiplayer and crashes (60%). An earlier 96% figure was withdrawn because those labels were not 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Tejaswini. 1:15.</a:t>
            </a:r>
          </a:p>
          <a:p>
            <a:r>
              <a:t>The chart compares negative reviews written under two hours with later ones. Share is the share of reviews where that theme is the dominant one. Counts of reviews containing a word are on the exact 557,202-review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Pradeep. 1:15.</a:t>
            </a:r>
          </a:p>
          <a:p>
            <a:r>
              <a:t>FP-Growth on training games only, lift against the Strong rate, Benjamini-Hochberg FDR control, then one check on the test games. Zero Struggling rules is a finding, not a failure: risk is not a matter of tags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Gayas. 1:15.</a:t>
            </a:r>
          </a:p>
          <a:p>
            <a:r>
              <a:t>30 days before and after each patch announcement, non-overlapping windows, at least 20 reviews each side, bootstrap over games. The launch split and the before-level split show why the naive drop is misleading. The matched control is the fairest comparison and includes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Gayas. 1:15.</a:t>
            </a:r>
          </a:p>
          <a:p>
            <a:r>
              <a:t>Inputs are turned into the same 83 features the model was trained on, using the saved training-fitted PCA. The example is the dashboard's default game. Say clearly that the scores are not calibrated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Srihitha. 1:15.</a:t>
            </a:r>
          </a:p>
          <a:p>
            <a:r>
              <a:t>Walk the five pages. Demo order: market explorer filter by tag, rules by lift, scorer with a described game. Be accurate: it is ready for deployment from the repository; say the public link only if it has been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Five recommendations, each tied to a number from the analysis. Stress that they are associations in observational data and should be tested, for example with an introductory discount or a blind playtest.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Pradeep. 0:45.</a:t>
            </a:r>
          </a:p>
          <a:p>
            <a:r>
              <a:t>The limits that matter most for how the numbers should be used. This is also where to answer questions about leakage: split by game, fit on training rows, test scored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speakers: all five, about 10 seconds each, then Shantharam closes. 1:00.</a:t>
            </a:r>
          </a:p>
          <a:p>
            <a:r>
              <a:t>Board counts are read at build time. The next steps are the honest open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C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003F1-C4BB-4281-BAA1-BCC33BFC04FD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40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050" b="1" i="0">
                <a:solidFill>
                  <a:srgbClr val="FFFFFF"/>
                </a:solidFill>
                <a:latin typeface="Bitstream Charter"/>
              </a:rPr>
              <a:t>IndieGuard: Indie Game Launch Analytics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183F9D-1FBB-4C85-9C62-1972FA696E5C}"/>
              </a:ext>
            </a:extLst>
          </p:cNvPr>
          <p:cNvSpPr>
            <a:spLocks noGrp="1"/>
          </p:cNvSpPr>
          <p:nvPr/>
        </p:nvSpPr>
        <p:spPr>
          <a:xfrm>
            <a:off x="723900" y="1762125"/>
            <a:ext cx="10706100" cy="390525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  <a:defRPr sz="2250" b="0">
                <a:solidFill>
                  <a:srgbClr val="DFEAF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 i="0">
                <a:solidFill>
                  <a:srgbClr val="FFFFFF"/>
                </a:solidFill>
                <a:latin typeface="Bitstream Charter"/>
              </a:rPr>
              <a:t>Review 2: text mining, tag rules, patch impact, launch-risk scorer and dashboard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23CSE452 Business Analytics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Data Analysis and Predictive Modelling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Bitstream Charter"/>
              </a:rPr>
              <a:t>Group 1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Thotakura Srihitha  •  CB.SC.U4CSE23450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Gayas Sheik  •  CB.SC.U4CSE23118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Shantharam P  •  CB.SC.U4CSE23146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Pradeep Sasidharan  •  CB.SC.U4CSE23232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Valikala Tejaswini  •  CB.SC.U4CSE23752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0614CC-A0DF-4994-9DFA-DB19CBB82A7A}"/>
              </a:ext>
            </a:extLst>
          </p:cNvPr>
          <p:cNvSpPr>
            <a:spLocks noGrp="1"/>
          </p:cNvSpPr>
          <p:nvPr/>
        </p:nvSpPr>
        <p:spPr>
          <a:xfrm>
            <a:off x="723900" y="6076950"/>
            <a:ext cx="10191750" cy="42862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i="0">
                <a:solidFill>
                  <a:srgbClr val="C9DCEB"/>
                </a:solidFill>
                <a:latin typeface="Bitstream Charter"/>
              </a:rPr>
              <a:t>15-minute team presentation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E169F0-19CC-44B3-BAE4-004A1D644DC7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23190627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Review 1 in Three Numbers, and What Review 2 Adds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21.2%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of reviews under 2 hours of play are negative, against 8.8%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9976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0.42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976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macro-F1 for game tiers from store metadata, against 0.22 for guessing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7575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0.84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7575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PR-AUC when the model reads the review text, against 0.36 for metadata alone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22376" y="3017520"/>
          <a:ext cx="1074420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3280"/>
                <a:gridCol w="5120640"/>
                <a:gridCol w="22402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Review 2 deliverable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What we did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Owner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Reviewer comment: fixed hyperparameters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Grid search on the shared folds for every reported model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Shantharam, Srihitha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Complaint themes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Topic model on negative reviews, early against later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Tejaswini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Tag and price combinations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Association rules with FDR control and a test-game check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Pradeep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Patch impact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Before and after windows with matched no-patch controls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Launch-risk scorer and dashboard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Score a new game; explore the market, rules and patches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Gayas, Srihitha, Shantharam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Same data and the same protocol: split by game, fit on training rows, test scored once.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Reviewer Comment: Tuning by Grid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508760"/>
          <a:ext cx="6949440" cy="2560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914400"/>
                <a:gridCol w="1005840"/>
                <a:gridCol w="914400"/>
                <a:gridCol w="1463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Search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Grid points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Default CV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Tuned CV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Test PR-AUC, before → after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LightGBM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0.265 → 0.254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XGBoost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0.283 → 0.275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Random Forest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0.278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0.275 → 0.280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LightGBM, metadata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0.334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0.360 → 0.360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LightGBM + components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0.574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0.581 → 0.593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Logistic Regression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0.794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0.785 → 0.838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463040"/>
            <a:ext cx="3566160" cy="3931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How we searched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Select on the 5 shared folds inside train only; the default is grid point 0; every point is recorded.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Then refit on full train, set the threshold from out-of-fold predictions and score the test set once.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shows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Cross-validation moves by 0.002 to 0.02. The test scores do not follow consistently, and the three tree models still tie.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text model's jump (0.785 → 0.838) is mostly a TF-IDF vocabulary refit on all training reviews, not the grid.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Game-level searches are running on the same rules.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The conclusions do not depend on the fixed settings: tuning gives small, within-noise gains.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Text Mining: From Keywords to Topics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1  Filter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English reviews only: 557,202 after language, script and quality filters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655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2  Bind negations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not_fun, too_hard, lack_of_content, so “not fun” is not read as “fun”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76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3  Topic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NMF, 8 topics, on 40,000 negative training reviews; LDA as the baseline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508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4  Evaluate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Coherence, diversity, stability under 80% resamples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22376" y="3154680"/>
          <a:ext cx="6766560" cy="1828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66160"/>
                <a:gridCol w="155448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Evaluation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NMF (chosen)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LDA (baseline)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UMass coherence (closer to 0 is better)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-2.380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-1.732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Topic diversity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90.0%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86.25%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Stability under resampling (mean Jaccard)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0.745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not run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Time to fit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fast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about 45 times slower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0" y="3108960"/>
            <a:ext cx="3749039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honestly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LDA has the better raw coherence; we chose NMF for cleaner, more interpretable themes and speed.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smallest topic (unbalanced mechanics) is the least stable.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Blind check of 200 reviews (labelled by an AI assistant): 35.5% agreement, kappa 0.30. Early Access, repetition and crash topics hold up; boss and balance topics do not.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Review 1 used hand-made keyword lists; this is data-driven, with the evaluation reported as it 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What Players Complain About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554480"/>
            <a:ext cx="3657600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150" b="1" i="0">
                <a:solidFill>
                  <a:srgbClr val="D1495B"/>
                </a:solidFill>
                <a:latin typeface="Bitstream Charter"/>
              </a:rPr>
              <a:t>Early (under 2 hours)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Crashes, bugs and multiplayer issues lead (29%), then art against the gameplay loop.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Later (2 hours or more)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Boss design, damage and upgrade balance lead (34%), and replayability fatigue grows.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Words that separate negative from positive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“boring” is in 9.1% of negative reviews against 0.8% of positive ones, “waste” 2.9% against 0.3%.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Caution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In the blind check the boss and balance topics agree only 8% to 16%, so read them as exploratory.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Fix stability and controls before the refund window closes; tune balance and variety for the players who stay.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Which Tag Combinations Go With Strong Reception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4,715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candidate rules scored on 1,191 training games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55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55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Strong rules pass FDR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87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of them hold on the 299 test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19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D1495B"/>
                </a:solidFill>
                <a:latin typeface="Bitstream Charter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rules predict Struggling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22376" y="2697480"/>
          <a:ext cx="1074420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92040"/>
                <a:gridCol w="1280160"/>
                <a:gridCol w="1371600"/>
                <a:gridCol w="914400"/>
                <a:gridCol w="1097280"/>
                <a:gridCol w="11887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Combination (most stable rules)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Train games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Strong share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Lift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Test games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Strong (test)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Procedural Generation + Retro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1.91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Arcade + Retro + Roguelite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1.90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price &lt;$5 + 2D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36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1.89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Arcade + Pixel Graphics + Retro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2D + Perma Death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1.86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75%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price &lt;$5 + Pixel Graphics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29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42%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22376" y="5074920"/>
            <a:ext cx="10744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 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Strong is the tier for 35% of games. 2D, pixel, retro and procedural-generation combinations reach about two-thirds. Supports are small (30 to 60 train games), so these are hypotheses.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6928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6928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Focused, low-scope combinations go with Strong; no tag recipe protects against Struggling.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Do Patches Help?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3749039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434840" y="1463040"/>
          <a:ext cx="3749039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0" y="1463040"/>
            <a:ext cx="3108960" cy="3108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300"/>
              </a:spcAft>
            </a:pPr>
            <a:r>
              <a:rPr sz="2400" b="1" i="0">
                <a:solidFill>
                  <a:srgbClr val="132C43"/>
                </a:solidFill>
                <a:latin typeface="Bitstream Charter"/>
              </a:rPr>
              <a:t>1,685</a:t>
            </a:r>
            <a:r>
              <a:rPr sz="1150" b="0" i="0">
                <a:solidFill>
                  <a:srgbClr val="263C50"/>
                </a:solidFill>
                <a:latin typeface="Bitstream Charter"/>
              </a:rPr>
              <a:t> patches, </a:t>
            </a:r>
            <a:r>
              <a:rPr sz="1150" b="1" i="0">
                <a:solidFill>
                  <a:srgbClr val="263C50"/>
                </a:solidFill>
                <a:latin typeface="Bitstream Charter"/>
              </a:rPr>
              <a:t>617</a:t>
            </a:r>
            <a:r>
              <a:rPr sz="1150" b="0" i="0">
                <a:solidFill>
                  <a:srgbClr val="263C50"/>
                </a:solidFill>
                <a:latin typeface="Bitstream Charter"/>
              </a:rPr>
              <a:t> games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Average change </a:t>
            </a:r>
            <a:r>
              <a:rPr sz="1150" b="1" i="0">
                <a:solidFill>
                  <a:srgbClr val="D1495B"/>
                </a:solidFill>
                <a:latin typeface="Bitstream Charter"/>
              </a:rPr>
              <a:t>-2.06 points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95% interval [-2.75, -1.37]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Against matched no-patch windows</a:t>
            </a: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263C50"/>
                </a:solidFill>
                <a:latin typeface="Bitstream Charter"/>
              </a:rPr>
              <a:t>+0.27 points, interval [-0.82, +1.36]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The interval includes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526280"/>
            <a:ext cx="107442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 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The fall after a patch is a launch-period effect (launch-week surges) and regression to the mean (a very positive month tends to drop, a poor one to recover), not a patch effect. Controls exist for only 164 of the 617 games, mostly well after launch.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No clear patch effect on overall sentiment: patch to fix specific problems, not to lift ratings in general.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Launch-Risk Scorer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price, launch date, DLC, languages, achievements, platforms, tags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655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83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15 launch features + 68 tag components from the saved PCA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76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trained on training games only, class scales from out-of-fold predictions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508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Tier scores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Struggling, Solid, Strong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3154680"/>
          <a:ext cx="45720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0" y="3108960"/>
            <a:ext cx="6035040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is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A launch-time estimate of the review-reception tier, not a sales forecast.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is not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Cross-validation macro-F1 is about 0.43 against 0.22 for guessing, and Struggling games are hard to find. Scores are class-scaled, not calibrated probabilities.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featurizer reproduces the stored features for all 1,861 games, so a new game is scored on the same footing as the model's training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Use it to compare launch plans, not to promise an outcome.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The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Market explorer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91256" y="1463040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Filter 1,861 games by year, price and tags; negative share, tier mix, tags with the lowest and highest risk, reviews over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12848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Tag rules and complaints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2212848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Filter the association rules by stability and lift; complaint themes by cohort; the refund-window heatmap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2962656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Patch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1256" y="2962656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The launch split, the pre-patch split and the matched-control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712464"/>
            <a:ext cx="2468880" cy="64008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Launch-risk scorer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91256" y="3712464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Describe a game or load an existing one and read the predicted tier and scores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462272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About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91256" y="4462272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Data, split, findings and limits in a few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463040"/>
            <a:ext cx="3108960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Built for refresh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Small tables rebuilt by one command: python -m src.dashboard.build_data.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Run it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streamlit run src/dashboard/app.py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Deploy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Ready for Streamlit Community Cloud from src/dashboard/app.py; steps in docs/dashboard.md.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Tested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All pages checked in a browser; unit tests for the data tables and the scorer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One place to explore the findings, the rules and a launch plan, on the same data and protocol.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What a Studio Should Do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8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1  Treat the first hour as the product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21.2% of early reviews are negative and they are 29% of all negatives. Blind-test the first 30 minutes; check controls, camera and crashes before launch.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67712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2  Match price to what the first hour delivers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Early negativity climbs from 11.4% (under $5) to 31.8% ($20 or more). Price above about $15 only with verified depth.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3072384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44952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3  Prefer focused scope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2D, pixel, retro and procedural-generation combinations go with Strong about two-thirds of the time; multiplayer and 3D scopes show more Struggling games.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877056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9624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4  Complete the store page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Listed achievements and full controller support go with fewer Struggling games (12.5% against 19.6%; 11.5% against 15.5%).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81728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54296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5  Patch for specific problems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Hotfix crashes and controls in week one; tune balance and variety later. Expect no general lift in sentiment from patching.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These are hypotheses backed by associations; the report shows the evidence and its limits.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Limits and Honest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8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Associations, not causes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Tags, prices, DLC and review totals are snapshots from October 2026; older games had longer to collect negatives.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67712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Game tiers are hard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Only 51 test games are Struggling, so intervals are wide; metadata alone gives macro-F1 about 0.42, and more games would not help.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3072384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44952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Text detects, it does not forecast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The text model reads a review that already exists; the review-level metadata models use reviewer-history columns read at scrape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877056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9624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Coverage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Five very large games are capped at their newest reviews; about 60% of reviews are not in English, so the text results cover a minority.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81728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54296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Tuning and validation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Tuning gave small gains; the blind topic check agrees on only 35.5% of reviews (one AI annotator); discount impact was not analysed.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We report the weak results as findings: metadata cannot tell how good a game 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Contributions, Tracking and 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463040"/>
          <a:ext cx="667512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Member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Review 2 contribution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Shantharam P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Data, cleaning, split, models, tuning (review and text), dashboard, final report, board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Pradeep Sasidharan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XGBoost models and SHAP; association rules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 Sheik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Feature engineering, patch impact, launch-risk scorer, reproducibility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Thotakura Srihitha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EDA; game-level tuning (in progress)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Valikala Tejaswini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mining and topic modelling, combined insights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17320"/>
            <a:ext cx="3840480" cy="3931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Project board</a:t>
            </a:r>
          </a:p>
          <a:p>
            <a:pPr>
              <a:spcAft>
                <a:spcPts val="500"/>
              </a:spcAft>
            </a:pPr>
            <a:r>
              <a:rPr sz="2200" b="1" i="0">
                <a:solidFill>
                  <a:srgbClr val="D1495B"/>
                </a:solidFill>
                <a:latin typeface="Bitstream Charter"/>
              </a:rPr>
              <a:t>23 of 39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 Review 2 cards completed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Every card has an owner, a due date and evidence; pull requests were reviewed, with changes requested where needed, before merging.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Next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Finish the game-level tuning and refresh the comparison tables.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Re-label a subset by hand to confirm the topic check.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Deploy the dashboard from the repository.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Questions.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Repository, board and report: github.com/Shan713/IndieGuard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526</Words>
  <Application>Microsoft Office PowerPoint</Application>
  <DocSecurity>0</DocSecurity>
  <PresentationFormat>Widescreen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Bitstream Charter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ROHINI S</cp:lastModifiedBy>
  <cp:revision>3</cp:revision>
  <dcterms:created xsi:type="dcterms:W3CDTF">2026-10-01T14:42:32Z</dcterms:created>
  <dcterms:modified xsi:type="dcterms:W3CDTF">2026-10-01T15:01:32Z</dcterms:modified>
</cp:coreProperties>
</file>