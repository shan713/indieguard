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c79fec2c46743c0" Type="http://schemas.openxmlformats.org/officeDocument/2006/relationships/extended-properties" Target="docProps/app.xml"/><Relationship Id="R1315f9d550d74942" Type="http://schemas.openxmlformats.org/officeDocument/2006/relationships/officeDocument" Target="ppt/presentation.xml"/><Relationship Id="R5822bb6a846c4e28"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28d7e6fc42bd4879"/>
  </p:sldMasterIdLst>
  <p:notesMasterIdLst>
    <p:notesMasterId xmlns:r="http://schemas.openxmlformats.org/officeDocument/2006/relationships" r:id="Ra96d0fca12c64f79"/>
  </p:notesMasterIdLst>
  <p:sldIdLst>
    <p:sldId xmlns:r="http://schemas.openxmlformats.org/officeDocument/2006/relationships" id="256" r:id="R9328a8c28d5a43ba"/>
    <p:sldId xmlns:r="http://schemas.openxmlformats.org/officeDocument/2006/relationships" id="257" r:id="Rc30c4e036793450e"/>
    <p:sldId xmlns:r="http://schemas.openxmlformats.org/officeDocument/2006/relationships" id="258" r:id="R84be3cd66da145d8"/>
    <p:sldId xmlns:r="http://schemas.openxmlformats.org/officeDocument/2006/relationships" id="259" r:id="Rdab56d6de65443aa"/>
    <p:sldId xmlns:r="http://schemas.openxmlformats.org/officeDocument/2006/relationships" id="260" r:id="R56c54f390aab4e6f"/>
    <p:sldId xmlns:r="http://schemas.openxmlformats.org/officeDocument/2006/relationships" id="261" r:id="Rcdb49c028e314ea1"/>
    <p:sldId xmlns:r="http://schemas.openxmlformats.org/officeDocument/2006/relationships" id="262" r:id="R14c78c32adbc45b3"/>
    <p:sldId xmlns:r="http://schemas.openxmlformats.org/officeDocument/2006/relationships" id="263" r:id="Rb2ccc4eace8642f4"/>
    <p:sldId xmlns:r="http://schemas.openxmlformats.org/officeDocument/2006/relationships" id="264" r:id="R2432138f375d4f6f"/>
    <p:sldId xmlns:r="http://schemas.openxmlformats.org/officeDocument/2006/relationships" id="265" r:id="Rc5e53e3b48fb4bde"/>
    <p:sldId xmlns:r="http://schemas.openxmlformats.org/officeDocument/2006/relationships" id="266" r:id="Rda9f68c7d5914242"/>
    <p:sldId xmlns:r="http://schemas.openxmlformats.org/officeDocument/2006/relationships" id="267" r:id="R422860c0b274425a"/>
    <p:sldId xmlns:r="http://schemas.openxmlformats.org/officeDocument/2006/relationships" id="268" r:id="R7c0ae61b31f74095"/>
    <p:sldId xmlns:r="http://schemas.openxmlformats.org/officeDocument/2006/relationships" id="269" r:id="Ra78f76bec3d04acf"/>
    <p:sldId xmlns:r="http://schemas.openxmlformats.org/officeDocument/2006/relationships" id="270" r:id="R2e171858890a4a8a"/>
    <p:sldId xmlns:r="http://schemas.openxmlformats.org/officeDocument/2006/relationships" id="271" r:id="Rd363396806b54603"/>
    <p:sldId xmlns:r="http://schemas.openxmlformats.org/officeDocument/2006/relationships" id="272" r:id="Ra40b414c916644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4c78c32adbc45b3" Type="http://schemas.openxmlformats.org/officeDocument/2006/relationships/slide" Target="slides/slide7.xml"/><Relationship Id="R2432138f375d4f6f" Type="http://schemas.openxmlformats.org/officeDocument/2006/relationships/slide" Target="slides/slide9.xml"/><Relationship Id="R28d7e6fc42bd4879" Type="http://schemas.openxmlformats.org/officeDocument/2006/relationships/slideMaster" Target="slideMasters/slideMaster1.xml"/><Relationship Id="R2e171858890a4a8a" Type="http://schemas.openxmlformats.org/officeDocument/2006/relationships/slide" Target="slides/slide15.xml"/><Relationship Id="R36f164a9eb4e4ada" Type="http://schemas.openxmlformats.org/officeDocument/2006/relationships/theme" Target="theme/theme1.xml"/><Relationship Id="R3b9192d29ac841aa" Type="http://schemas.openxmlformats.org/officeDocument/2006/relationships/tableStyles" Target="tableStyles.xml"/><Relationship Id="R422860c0b274425a" Type="http://schemas.openxmlformats.org/officeDocument/2006/relationships/slide" Target="slides/slide12.xml"/><Relationship Id="R56c54f390aab4e6f" Type="http://schemas.openxmlformats.org/officeDocument/2006/relationships/slide" Target="slides/slide5.xml"/><Relationship Id="R7c0ae61b31f74095" Type="http://schemas.openxmlformats.org/officeDocument/2006/relationships/slide" Target="slides/slide13.xml"/><Relationship Id="R84be3cd66da145d8" Type="http://schemas.openxmlformats.org/officeDocument/2006/relationships/slide" Target="slides/slide3.xml"/><Relationship Id="R9328a8c28d5a43ba" Type="http://schemas.openxmlformats.org/officeDocument/2006/relationships/slide" Target="slides/slide1.xml"/><Relationship Id="Ra40b414c916644d9" Type="http://schemas.openxmlformats.org/officeDocument/2006/relationships/slide" Target="slides/slide17.xml"/><Relationship Id="Ra78f76bec3d04acf" Type="http://schemas.openxmlformats.org/officeDocument/2006/relationships/slide" Target="slides/slide14.xml"/><Relationship Id="Ra96d0fca12c64f79" Type="http://schemas.openxmlformats.org/officeDocument/2006/relationships/notesMaster" Target="notesMasters/notesMaster1.xml"/><Relationship Id="Rb2ccc4eace8642f4" Type="http://schemas.openxmlformats.org/officeDocument/2006/relationships/slide" Target="slides/slide8.xml"/><Relationship Id="Rbeaa53c418c04112" Type="http://schemas.openxmlformats.org/officeDocument/2006/relationships/presProps" Target="presProps.xml"/><Relationship Id="Rc30c4e036793450e" Type="http://schemas.openxmlformats.org/officeDocument/2006/relationships/slide" Target="slides/slide2.xml"/><Relationship Id="Rc5e53e3b48fb4bde" Type="http://schemas.openxmlformats.org/officeDocument/2006/relationships/slide" Target="slides/slide10.xml"/><Relationship Id="Rcdb49c028e314ea1" Type="http://schemas.openxmlformats.org/officeDocument/2006/relationships/slide" Target="slides/slide6.xml"/><Relationship Id="Rd363396806b54603" Type="http://schemas.openxmlformats.org/officeDocument/2006/relationships/slide" Target="slides/slide16.xml"/><Relationship Id="Rda9f68c7d5914242" Type="http://schemas.openxmlformats.org/officeDocument/2006/relationships/slide" Target="slides/slide11.xml"/><Relationship Id="Rdab56d6de65443aa"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D4E"/>
                </a:solidFill>
                <a:latin typeface="Arial"/>
              </a:rPr>
              <a:t>Negative reviews by playtime at review (%)</a:t>
            </a:r>
          </a:p>
        </c:rich>
      </c:tx>
      <c:layout/>
      <c:overlay val="0"/>
    </c:title>
    <c:autoTitleDeleted val="0"/>
    <c:plotArea>
      <c:barChart>
        <c:barDir val="col"/>
        <c:grouping val="clustered"/>
        <c:ser>
          <c:idx val="0"/>
          <c:order val="0"/>
          <c:tx>
            <c:strRef>
              <c:f>Sheet1!$B$1</c:f>
              <c:strCache>
                <c:ptCount val="1"/>
                <c:pt idx="0">
                  <c:v>negative share</c:v>
                </c:pt>
              </c:strCache>
            </c:strRef>
          </c:tx>
          <c:spPr>
            <a:solidFill>
              <a:srgbClr val="C44E52"/>
            </a:solidFill>
          </c:spPr>
          <c:invertIfNegative val="0"/>
          <c:cat>
            <c:strRef>
              <c:f>Sheet1!$A$2:$A$5</c:f>
              <c:strCache>
                <c:ptCount val="4"/>
                <c:pt idx="0">
                  <c:v>under 2 h</c:v>
                </c:pt>
                <c:pt idx="1">
                  <c:v>2-10 h</c:v>
                </c:pt>
                <c:pt idx="2">
                  <c:v>10-50 h</c:v>
                </c:pt>
                <c:pt idx="3">
                  <c:v>50 h or more</c:v>
                </c:pt>
              </c:strCache>
            </c:strRef>
          </c:cat>
          <c:val>
            <c:numRef>
              <c:f>Sheet1!$B$2:$B$5</c:f>
              <c:numCache>
                <c:formatCode>General</c:formatCode>
                <c:ptCount val="4"/>
                <c:pt idx="0">
                  <c:v>21.17047256650313</c:v>
                </c:pt>
                <c:pt idx="1">
                  <c:v>9.148366380990131</c:v>
                </c:pt>
                <c:pt idx="2">
                  <c:v>8.14715596135733</c:v>
                </c:pt>
                <c:pt idx="3">
                  <c:v>9.88853717672413</c:v>
                </c:pt>
              </c:numCache>
            </c:numRef>
          </c:val>
        </c:ser>
        <c:dLbls>
          <c:numFmt formatCode="0.0&quot;%&quot;" sourceLinked="0"/>
          <c:txPr>
            <a:bodyPr/>
            <a:lstStyle/>
            <a:p>
              <a:pPr>
                <a:defRPr sz="11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C9D6E2"/>
            </a:solidFill>
          </a:ln>
        </c:spPr>
        <c:txPr>
          <a:bodyPr/>
          <a:lstStyle/>
          <a:p>
            <a:pPr>
              <a:defRPr sz="1100"/>
            </a:pPr>
          </a:p>
        </c:txPr>
        <c:crossAx val="-2113994440"/>
        <c:crosses val="autoZero"/>
        <c:auto val="1"/>
        <c:lblAlgn val="ctr"/>
        <c:lblOffset val="100"/>
        <c:noMultiLvlLbl val="0"/>
      </c:catAx>
      <c:valAx>
        <c:axId val="-2113994440"/>
        <c:scaling>
          <c:max val="26.0"/>
          <c:min val="0.0"/>
        </c:scaling>
        <c:delete/>
        <c:axPos val="l"/>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D4E"/>
                </a:solidFill>
                <a:latin typeface="Arial"/>
              </a:rPr>
              <a:t>Negative reviews inside the 2-hour window, by price (%)</a:t>
            </a:r>
          </a:p>
        </c:rich>
      </c:tx>
      <c:layout/>
      <c:overlay val="0"/>
    </c:title>
    <c:autoTitleDeleted val="0"/>
    <c:plotArea>
      <c:barChart>
        <c:barDir val="col"/>
        <c:grouping val="clustered"/>
        <c:ser>
          <c:idx val="0"/>
          <c:order val="0"/>
          <c:tx>
            <c:strRef>
              <c:f>Sheet1!$B$1</c:f>
              <c:strCache>
                <c:ptCount val="1"/>
                <c:pt idx="0">
                  <c:v>negative share</c:v>
                </c:pt>
              </c:strCache>
            </c:strRef>
          </c:tx>
          <c:spPr>
            <a:solidFill>
              <a:srgbClr val="142D4E"/>
            </a:solidFill>
          </c:spPr>
          <c:invertIfNegative val="0"/>
          <c:cat>
            <c:strRef>
              <c:f>Sheet1!$A$2:$A$6</c:f>
              <c:strCache>
                <c:ptCount val="5"/>
                <c:pt idx="0">
                  <c:v>free</c:v>
                </c:pt>
                <c:pt idx="1">
                  <c:v>&lt;$5</c:v>
                </c:pt>
                <c:pt idx="2">
                  <c:v>$5-10</c:v>
                </c:pt>
                <c:pt idx="3">
                  <c:v>$10-20</c:v>
                </c:pt>
                <c:pt idx="4">
                  <c:v>$20+</c:v>
                </c:pt>
              </c:strCache>
            </c:strRef>
          </c:cat>
          <c:val>
            <c:numRef>
              <c:f>Sheet1!$B$2:$B$6</c:f>
              <c:numCache>
                <c:formatCode>General</c:formatCode>
                <c:ptCount val="5"/>
                <c:pt idx="0">
                  <c:v>21.98100407055631</c:v>
                </c:pt>
                <c:pt idx="1">
                  <c:v>11.381417770870101</c:v>
                </c:pt>
                <c:pt idx="2">
                  <c:v>23.00420700491662</c:v>
                </c:pt>
                <c:pt idx="3">
                  <c:v>26.42743037828757</c:v>
                </c:pt>
                <c:pt idx="4">
                  <c:v>31.809069212410503</c:v>
                </c:pt>
              </c:numCache>
            </c:numRef>
          </c:val>
        </c:ser>
        <c:dLbls>
          <c:numFmt formatCode="0&quot;%&quot;" sourceLinked="0"/>
          <c:txPr>
            <a:bodyPr/>
            <a:lstStyle/>
            <a:p>
              <a:pPr>
                <a:defRPr sz="11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C9D6E2"/>
            </a:solidFill>
          </a:ln>
        </c:spPr>
        <c:txPr>
          <a:bodyPr/>
          <a:lstStyle/>
          <a:p>
            <a:pPr>
              <a:defRPr sz="1100"/>
            </a:pPr>
          </a:p>
        </c:txPr>
        <c:crossAx val="-2113994440"/>
        <c:crosses val="autoZero"/>
        <c:auto val="1"/>
        <c:lblAlgn val="ctr"/>
        <c:lblOffset val="100"/>
        <c:noMultiLvlLbl val="0"/>
      </c:catAx>
      <c:valAx>
        <c:axId val="-2113994440"/>
        <c:scaling>
          <c:max val="40.0"/>
          <c:min val="0.0"/>
        </c:scaling>
        <c:delete/>
        <c:axPos val="l"/>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96b3f9cb819743c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04078ad52bd4cb6" Type="http://schemas.openxmlformats.org/officeDocument/2006/relationships/notesMaster" Target="../notesMasters/notesMaster1.xml"/><Relationship Id="Rf858460ae1ca4da5"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bee326e7cd14647" Type="http://schemas.openxmlformats.org/officeDocument/2006/relationships/notesMaster" Target="../notesMasters/notesMaster1.xml"/><Relationship Id="R8780457b192748d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d69f68dccf74432d" Type="http://schemas.openxmlformats.org/officeDocument/2006/relationships/slide" Target="../slides/slide3.xml"/><Relationship Id="Rf1baf54b45ff495e"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ee04dc4e19c474d" Type="http://schemas.openxmlformats.org/officeDocument/2006/relationships/slide" Target="../slides/slide4.xml"/><Relationship Id="R9e616c0cbd654e0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c1fa86432884a7e" Type="http://schemas.openxmlformats.org/officeDocument/2006/relationships/slide" Target="../slides/slide5.xml"/><Relationship Id="R55d1b95d77db4138"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2ba9303d5ba405c" Type="http://schemas.openxmlformats.org/officeDocument/2006/relationships/notesMaster" Target="../notesMasters/notesMaster1.xml"/><Relationship Id="Rff07bd5b07ad44c4"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6859d0eab8c41a2" Type="http://schemas.openxmlformats.org/officeDocument/2006/relationships/slide" Target="../slides/slide7.xml"/><Relationship Id="R875fd1221414418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5bacbaffa984ec8" Type="http://schemas.openxmlformats.org/officeDocument/2006/relationships/notesMaster" Target="../notesMasters/notesMaster1.xml"/><Relationship Id="R182335ccdfd04383"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5549406135c4e93" Type="http://schemas.openxmlformats.org/officeDocument/2006/relationships/notesMaster" Target="../notesMasters/notesMaster1.xml"/><Relationship Id="R20920705bc0f441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3d21fef58e14506" Type="http://schemas.openxmlformats.org/officeDocument/2006/relationships/notesMaster" Target="../notesMasters/notesMaster1.xml"/><Relationship Id="Rb9c95f3809eb4f5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9f1f079221d4b4a" Type="http://schemas.openxmlformats.org/officeDocument/2006/relationships/slide" Target="../slides/slide11.xml"/><Relationship Id="Rce40a3f64b6c4c66"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bb950c8c6a14ff4" Type="http://schemas.openxmlformats.org/officeDocument/2006/relationships/notesMaster" Target="../notesMasters/notesMaster1.xml"/><Relationship Id="R51c4bc5529814cd4"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17d9d5ed6744fcf" Type="http://schemas.openxmlformats.org/officeDocument/2006/relationships/notesMaster" Target="../notesMasters/notesMaster1.xml"/><Relationship Id="R3f110307d8104f0c"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755e43e6bdfd43fc" Type="http://schemas.openxmlformats.org/officeDocument/2006/relationships/slide" Target="../slides/slide14.xml"/><Relationship Id="Raaf58fe3cc0e4db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59fb455b47444486" Type="http://schemas.openxmlformats.org/officeDocument/2006/relationships/slide" Target="../slides/slide15.xml"/><Relationship Id="Ra94d271366d442c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5742b7047f94805" Type="http://schemas.openxmlformats.org/officeDocument/2006/relationships/slide" Target="../slides/slide16.xml"/><Relationship Id="R8cc1b8720a214af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555b70d9677e45fc" Type="http://schemas.openxmlformats.org/officeDocument/2006/relationships/notesMaster" Target="../notesMasters/notesMaster1.xml"/><Relationship Id="Ra7fd481a1b5b4701"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0:20.</a:t>
            </a:r>
          </a:p>
          <a:p xmlns:a="http://schemas.openxmlformats.org/drawingml/2006/main">
            <a:r>
              <a:t>Introduce the project in one sentence: IndieGuard tells a small indie studio what to fix before Steam's 2-hour refund window closes, which feature combinations to back and when to patch.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Tejaswini. 0:40.</a:t>
            </a:r>
          </a:p>
          <a:p xmlns:a="http://schemas.openxmlformats.org/drawingml/2006/main">
            <a:r>
              <a:t>Who: small indie studios. Problem: negative reviews in the first two hours cost both rating and sale. Two measurable objectives, both evaluated on games the models never saw.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0:30.</a:t>
            </a:r>
          </a:p>
          <a:p xmlns:a="http://schemas.openxmlformats.org/drawingml/2006/main">
            <a:r>
              <a:t>One row per unit. The pipeline is reproducible: python -m src.features rebuilds the features and runs 21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0:45.</a:t>
            </a:r>
          </a:p>
          <a:p xmlns:a="http://schemas.openxmlformats.org/drawingml/2006/main">
            <a:r>
              <a:t>All data was collected by us. Documentation: docs/data_documentation.md; raw data frozen with row counts and SHA256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0:35.</a:t>
            </a:r>
          </a:p>
          <a:p xmlns:a="http://schemas.openxmlformats.org/drawingml/2006/main">
            <a:r>
              <a:t>Actual rows from the cleaned data (data/sample/). The target at review level is whether the review is negative; at game level it is the tier (Struggling 30%+ negative, Strong 10% or 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0:45.</a:t>
            </a:r>
          </a:p>
          <a:p xmlns:a="http://schemas.openxmlformats.org/drawingml/2006/main">
            <a:r>
              <a:t>Details in docs/validation_summary.md and docs/cleaning_log.md. Almost nothing is deleted: suspicious rows are flagged so each analysis chooses its own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Srihitha. 0:55.</a:t>
            </a:r>
          </a:p>
          <a:p xmlns:a="http://schemas.openxmlformats.org/drawingml/2006/main">
            <a:r>
              <a:t>Two patterns relevant to the objectives: the refund window and the price gradient inside it. 29 EDA figures are in notebooks/02_EDA_Visualizations.ipynb.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Pradeep. 1:05.</a:t>
            </a:r>
          </a:p>
          <a:p xmlns:a="http://schemas.openxmlformats.org/drawingml/2006/main">
            <a:r>
              <a:t>Same test records for every model. Guessing baselines: PR-AUC 0.106, macro-F1 0.22. Every model was tuned by grid search on the shared folds. Review-level gains were within one standard deviation; at game level the cross-validation gains for Random Forest and LightGBM did not carry to test, so quote the test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0:30.</a:t>
            </a:r>
          </a:p>
          <a:p xmlns:a="http://schemas.openxmlformats.org/drawingml/2006/main">
            <a:r>
              <a:t>Two of the three allowed methods: text mining and association rules. Time series was not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Tejaswini. 0:45.</a:t>
            </a:r>
          </a:p>
          <a:p xmlns:a="http://schemas.openxmlformats.org/drawingml/2006/main">
            <a:r>
              <a:t>Cleaning and representation: negation binding and TF-IDF. Two uses of text: supervised detection of negative reviews and unsupervised themes.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Tejaswini. 1:05.</a:t>
            </a:r>
          </a:p>
          <a:p xmlns:a="http://schemas.openxmlformats.org/drawingml/2006/main">
            <a:r>
              <a:t>Same test reviews for every row. Be upfront: LDA scores better on UMass coherence; NMF was chosen for interpretability. The blind topic check was labelled by an AI assistant, in one pass, and the earlier 96% figure was withdrawn.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Pradeep. 0:45.</a:t>
            </a:r>
          </a:p>
          <a:p xmlns:a="http://schemas.openxmlformats.org/drawingml/2006/main">
            <a:r>
              <a:t>Transactions, thresholds and the train-then-test protocol. Support, confidence and lift are defined on slide 13's table and in notebooks/review2/association_rules.ipynb.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Pradeep. 1:05.</a:t>
            </a:r>
          </a:p>
          <a:p xmlns:a="http://schemas.openxmlformats.org/drawingml/2006/main">
            <a:r>
              <a:t>Support = share of games with the combination and the tier; confidence = share of games with the combination that have the tier; lift = confidence divided by the tier's overall rate. The comparison varies support, rule length, algorithm and the after-play tags.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0:55.</a:t>
            </a:r>
          </a:p>
          <a:p xmlns:a="http://schemas.openxmlformats.org/drawingml/2006/main">
            <a:r>
              <a:t>Each recommendation combines a Unit 2 or Unit 3 finding with its limit. Full list in docs/final_report.md section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Srihitha. 2:00.</a:t>
            </a:r>
          </a:p>
          <a:p xmlns:a="http://schemas.openxmlformats.org/drawingml/2006/main">
            <a:r>
              <a:t>Switch to the running app (streamlit run src/dashboard/app.py before the session). Demo order: market explorer filter by tag; tag rules by lift; patch impact; scorer with a described game. The screenshot is a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speakers: all five, about 9 seconds each. 0:45.</a:t>
            </a:r>
          </a:p>
          <a:p xmlns:a="http://schemas.openxmlformats.org/drawingml/2006/main">
            <a:r>
              <a:t>Board history and pull requests show who did what; the board has 39 Review 2 cards with owners, due dates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Shantharam. 0:40.</a:t>
            </a:r>
          </a:p>
          <a:p xmlns:a="http://schemas.openxmlformats.org/drawingml/2006/main">
            <a:r>
              <a:t>Close with the main finding and the honest limits. Questions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1022756585d4630"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0ed37d6c453845d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48a6b77d07724efe"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a9127ae2e7d40b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e50b05ba7f87426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652dd002c9e44d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7C01F-B57D-44F3-8FAC-15DC9FB8E3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680C61-2321-44D1-978C-C3A3D47FBD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F49B2A-3E42-4857-B789-03C280FD8F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E0E629-5117-4A73-86AF-8C85277847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B44AE-6C6B-4962-8488-921E00208F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48ED88-4CFD-4979-86CC-188CAAAB87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F1CC07-64B5-4319-AD0C-752262F69E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EC947F-2793-4E6A-B45C-9910568056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3BE2C0-EB59-4049-88F4-F46671882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9BDD25-6828-4F8F-9ADE-78224F8403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76f31b9958a40a7" Type="http://schemas.openxmlformats.org/officeDocument/2006/relationships/slideLayout" Target="../slideLayouts/slideLayout4.xml"/><Relationship Id="R20814bc949584035" Type="http://schemas.openxmlformats.org/officeDocument/2006/relationships/slideLayout" Target="../slideLayouts/slideLayout6.xml"/><Relationship Id="R6b3a177f639b4a07" Type="http://schemas.openxmlformats.org/officeDocument/2006/relationships/theme" Target="theme/theme2.xml"/><Relationship Id="R867931169c7c42a9" Type="http://schemas.openxmlformats.org/officeDocument/2006/relationships/slideLayout" Target="../slideLayouts/slideLayout2.xml"/><Relationship Id="R8c7a749b09184180" Type="http://schemas.openxmlformats.org/officeDocument/2006/relationships/slideLayout" Target="../slideLayouts/slideLayout1.xml"/><Relationship Id="Rb2d72513e8df4be6" Type="http://schemas.openxmlformats.org/officeDocument/2006/relationships/slideLayout" Target="../slideLayouts/slideLayout3.xml"/><Relationship Id="Rf0703841aa5e4fae"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7a749b09184180"/>
    <p:sldLayoutId xmlns:r="http://schemas.openxmlformats.org/officeDocument/2006/relationships" id="2147483650" r:id="R867931169c7c42a9"/>
    <p:sldLayoutId xmlns:r="http://schemas.openxmlformats.org/officeDocument/2006/relationships" id="2147483651" r:id="Rb2d72513e8df4be6"/>
    <p:sldLayoutId xmlns:r="http://schemas.openxmlformats.org/officeDocument/2006/relationships" id="2147483652" r:id="R076f31b9958a40a7"/>
    <p:sldLayoutId xmlns:r="http://schemas.openxmlformats.org/officeDocument/2006/relationships" id="2147483653" r:id="Rf0703841aa5e4fae"/>
    <p:sldLayoutId xmlns:r="http://schemas.openxmlformats.org/officeDocument/2006/relationships" id="2147483654" r:id="R20814bc9495840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65771460536493d" Type="http://schemas.openxmlformats.org/officeDocument/2006/relationships/slideLayout" Target="../slideLayouts/slideLayout6.xml"/><Relationship Id="Rea340ad89b8145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87a74da8cc9249fb" Type="http://schemas.openxmlformats.org/officeDocument/2006/relationships/notesSlide" Target="../notesSlides/notesSlide2.xml"/><Relationship Id="R91a6751f31ad4dc2"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340e56ebb38c405f" Type="http://schemas.openxmlformats.org/officeDocument/2006/relationships/slideLayout" Target="../slideLayouts/slideLayout6.xml"/><Relationship Id="Rbc5ba185cde54a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8039b446a9248af" Type="http://schemas.openxmlformats.org/officeDocument/2006/relationships/notesSlide" Target="../notesSlides/notesSlide4.xml"/><Relationship Id="Rd0203877a67346b4"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7a05c8a2fac443fb" Type="http://schemas.openxmlformats.org/officeDocument/2006/relationships/slideLayout" Target="../slideLayouts/slideLayout6.xml"/><Relationship Id="Re162a8108f904aa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801df165e9e4afa" Type="http://schemas.openxmlformats.org/officeDocument/2006/relationships/notesSlide" Target="../notesSlides/notesSlide6.xml"/><Relationship Id="R4a34e84d539345c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804ad2e620d4cce" Type="http://schemas.openxmlformats.org/officeDocument/2006/relationships/notesSlide" Target="../notesSlides/notesSlide7.xml"/><Relationship Id="Rffdf568788184ef1" Type="http://schemas.openxmlformats.org/officeDocument/2006/relationships/slideLayout" Target="../slideLayouts/slideLayout6.xml"/><Relationship Id="rId3" Type="http://schemas.openxmlformats.org/officeDocument/2006/relationships/chart" Target="../charts/char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17209cf6857f470e" Type="http://schemas.openxmlformats.org/officeDocument/2006/relationships/notesSlide" Target="../notesSlides/notesSlide8.xml"/><Relationship Id="R53d798423e7948e8"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35ac007a58df44d6" Type="http://schemas.openxmlformats.org/officeDocument/2006/relationships/notesSlide" Target="../notesSlides/notesSlide9.xml"/><Relationship Id="R7c5f35c36132433d"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b1faabe56a254dbd" Type="http://schemas.openxmlformats.org/officeDocument/2006/relationships/notesSlide" Target="../notesSlides/notesSlide10.xml"/><Relationship Id="Re63a65d719f0403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78b3e0192c445b9" Type="http://schemas.openxmlformats.org/officeDocument/2006/relationships/notesSlide" Target="../notesSlides/notesSlide11.xml"/><Relationship Id="R910ee0f55ce9493e"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254178b6123a4f36" Type="http://schemas.openxmlformats.org/officeDocument/2006/relationships/notesSlide" Target="../notesSlides/notesSlide12.xml"/><Relationship Id="Rb20c3fb49d904b97"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6f7865818c304f09" Type="http://schemas.openxmlformats.org/officeDocument/2006/relationships/notesSlide" Target="../notesSlides/notesSlide13.xml"/><Relationship Id="Rfb50a02df876480c"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506c62bc55044304" Type="http://schemas.openxmlformats.org/officeDocument/2006/relationships/slideLayout" Target="../slideLayouts/slideLayout6.xml"/><Relationship Id="Radba121ad76743f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20c674c522da42a1" Type="http://schemas.openxmlformats.org/officeDocument/2006/relationships/slideLayout" Target="../slideLayouts/slideLayout6.xml"/><Relationship Id="R56cc1bfed52146b7"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93625b1f186b4d0c" Type="http://schemas.openxmlformats.org/officeDocument/2006/relationships/notesSlide" Target="../notesSlides/notesSlide16.xml"/><Relationship Id="Rdaef42e85dfa4dc0"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78bafcf87994f63" Type="http://schemas.openxmlformats.org/officeDocument/2006/relationships/slideLayout" Target="../slideLayouts/slideLayout6.xml"/><Relationship Id="Rac4a8a7d6e774b0d" Type="http://schemas.openxmlformats.org/officeDocument/2006/relationships/notesSlide" Target="../notesSlides/notesSlide17.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7ADEF8-AADF-43D1-90C1-50A9B95F509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23CSE452 BUSINESS ANALYTICS</a:t>
            </a:r>
          </a:p>
        </p:txBody>
      </p:sp>
      <p:sp>
        <p:nvSpPr>
          <p:cNvPr id="2" name="">
            <a:extLst xmlns:a="http://schemas.openxmlformats.org/drawingml/2006/main">
              <a:ext uri="{FF2B5EF4-FFF2-40B4-BE49-F238E27FC236}">
                <a16:creationId xmlns:a16="http://schemas.microsoft.com/office/drawing/2014/main" id="{09218575-EBAC-4868-A588-E275AEEAF9C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IndieGuard: Indie Game Launch Analytics</a:t>
            </a:r>
          </a:p>
        </p:txBody>
      </p:sp>
      <p:sp>
        <p:nvSpPr>
          <p:cNvPr id="3" name="">
            <a:extLst xmlns:a="http://schemas.openxmlformats.org/drawingml/2006/main">
              <a:ext uri="{FF2B5EF4-FFF2-40B4-BE49-F238E27FC236}">
                <a16:creationId xmlns:a16="http://schemas.microsoft.com/office/drawing/2014/main" id="{6AA5BF02-5CA2-4B87-B873-2B3DCFC07F92}"/>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0A8C83C-B788-4B95-AE05-315E57A05BAB}"/>
              </a:ext>
            </a:extLst>
          </p:cNvPr>
          <p:cNvSpPr>
            <a:spLocks xmlns:a="http://schemas.openxmlformats.org/drawingml/2006/main" noGrp="1"/>
          </p:cNvSpPr>
          <p:nvPr/>
        </p:nvSpPr>
        <p:spPr>
          <a:xfrm xmlns:a="http://schemas.openxmlformats.org/drawingml/2006/main">
            <a:off x="685800" y="242887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0">
                <a:solidFill>
                  <a:srgbClr val="233247"/>
                </a:solidFill>
                <a:latin typeface="Arial"/>
                <a:ea typeface="Arial"/>
                <a:cs typeface="Arial"/>
              </a:defRPr>
            </a:defPPr>
          </a:lstStyle>
          <a:p xmlns:a="http://schemas.openxmlformats.org/drawingml/2006/main">
            <a:pPr>
              <a:defRPr sz="2850" b="0">
                <a:solidFill>
                  <a:srgbClr val="233247"/>
                </a:solidFill>
                <a:latin typeface="Arial"/>
                <a:ea typeface="Arial"/>
                <a:cs typeface="Arial"/>
              </a:defRPr>
            </a:pPr>
            <a:r>
              <a:rPr sz="2850" b="0">
                <a:solidFill>
                  <a:srgbClr val="233247"/>
                </a:solidFill>
                <a:latin typeface="Arial"/>
                <a:ea typeface="Arial"/>
                <a:cs typeface="Arial"/>
              </a:rPr>
              <a:t>Final Project Presentation</a:t>
            </a:r>
          </a:p>
        </p:txBody>
      </p:sp>
      <p:sp>
        <p:nvSpPr>
          <p:cNvPr id="5" name="">
            <a:extLst xmlns:a="http://schemas.openxmlformats.org/drawingml/2006/main">
              <a:ext uri="{FF2B5EF4-FFF2-40B4-BE49-F238E27FC236}">
                <a16:creationId xmlns:a16="http://schemas.microsoft.com/office/drawing/2014/main" id="{E7D801F1-C77E-469A-8C72-B5012D040C8C}"/>
              </a:ext>
            </a:extLst>
          </p:cNvPr>
          <p:cNvSpPr>
            <a:spLocks xmlns:a="http://schemas.openxmlformats.org/drawingml/2006/main" noGrp="1"/>
          </p:cNvSpPr>
          <p:nvPr/>
        </p:nvSpPr>
        <p:spPr>
          <a:xfrm xmlns:a="http://schemas.openxmlformats.org/drawingml/2006/main">
            <a:off x="685800" y="3476625"/>
            <a:ext cx="1088136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500" b="0">
                <a:solidFill>
                  <a:srgbClr val="233247"/>
                </a:solidFill>
                <a:latin typeface="Arial"/>
                <a:ea typeface="Arial"/>
                <a:cs typeface="Arial"/>
              </a:rPr>
              <a:t>Group 1: Thotakura Srihitha (CB.SC.U4CSE23450), Gayas Sheik (CB.SC.U4CSE23118), Shantharam P (CB.SC.U4CSE23146), Pradeep Sasidharan (CB.SC.U4CSE23232), Valikala Tejaswini (CB.SC.U4CSE23752)</a:t>
            </a:r>
          </a:p>
        </p:txBody>
      </p:sp>
      <p:sp>
        <p:nvSpPr>
          <p:cNvPr id="6" name="">
            <a:extLst xmlns:a="http://schemas.openxmlformats.org/drawingml/2006/main">
              <a:ext uri="{FF2B5EF4-FFF2-40B4-BE49-F238E27FC236}">
                <a16:creationId xmlns:a16="http://schemas.microsoft.com/office/drawing/2014/main" id="{CFE96CFB-B7A0-4733-A4C1-915426594AEC}"/>
              </a:ext>
            </a:extLst>
          </p:cNvPr>
          <p:cNvSpPr>
            <a:spLocks xmlns:a="http://schemas.openxmlformats.org/drawingml/2006/main" noGrp="1"/>
          </p:cNvSpPr>
          <p:nvPr/>
        </p:nvSpPr>
        <p:spPr>
          <a:xfrm xmlns:a="http://schemas.openxmlformats.org/drawingml/2006/main">
            <a:off x="685800" y="461962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33247"/>
                </a:solidFill>
                <a:latin typeface="Arial"/>
                <a:ea typeface="Arial"/>
                <a:cs typeface="Arial"/>
              </a:defRPr>
            </a:defPPr>
          </a:lstStyle>
          <a:p xmlns:a="http://schemas.openxmlformats.org/drawingml/2006/main">
            <a:pPr>
              <a:defRPr sz="1800" b="0">
                <a:solidFill>
                  <a:srgbClr val="233247"/>
                </a:solidFill>
                <a:latin typeface="Arial"/>
                <a:ea typeface="Arial"/>
                <a:cs typeface="Arial"/>
              </a:defRPr>
            </a:pPr>
            <a:r>
              <a:rPr sz="1600" b="0">
                <a:solidFill>
                  <a:srgbClr val="233247"/>
                </a:solidFill>
                <a:latin typeface="Arial"/>
                <a:ea typeface="Arial"/>
                <a:cs typeface="Arial"/>
              </a:rPr>
              <a:t>Review 2: Unit 3 advanced analytics (text mining and association rules) and the interactive dashboard
Guide: Rohini S
Date: 18 October 2026</a:t>
            </a:r>
          </a:p>
        </p:txBody>
      </p:sp>
    </p:spTree>
    <p:extLst>
      <p:ext uri="{BB962C8B-B14F-4D97-AF65-F5344CB8AC3E}">
        <p14:creationId xmlns:p14="http://schemas.microsoft.com/office/powerpoint/2010/main" val="13965296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7343E7-897E-4DAC-BDC5-EAE42CCBBA1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FED1F470-9F33-4ECE-9801-5FEC2B16012C}"/>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Business problem and objectives</a:t>
            </a:r>
          </a:p>
        </p:txBody>
      </p:sp>
      <p:sp>
        <p:nvSpPr>
          <p:cNvPr id="3" name="">
            <a:extLst xmlns:a="http://schemas.openxmlformats.org/drawingml/2006/main">
              <a:ext uri="{FF2B5EF4-FFF2-40B4-BE49-F238E27FC236}">
                <a16:creationId xmlns:a16="http://schemas.microsoft.com/office/drawing/2014/main" id="{1C59113F-EFA7-4894-9DAC-CFF6316D49B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E0745E4-06FC-4A61-A5EC-5ACBCB04D1A2}"/>
              </a:ext>
            </a:extLst>
          </p:cNvPr>
          <p:cNvSpPr>
            <a:spLocks xmlns:a="http://schemas.openxmlformats.org/drawingml/2006/main" noGrp="1"/>
          </p:cNvSpPr>
          <p:nvPr/>
        </p:nvSpPr>
        <p:spPr>
          <a:xfrm xmlns:a="http://schemas.openxmlformats.org/drawingml/2006/main">
            <a:off x="685800" y="1828800"/>
            <a:ext cx="10668000" cy="868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Business problem: </a:t>
            </a:r>
            <a:r>
              <a:rPr sz="1500" b="0">
                <a:solidFill>
                  <a:srgbClr val="233247"/>
                </a:solidFill>
                <a:latin typeface="Arial"/>
                <a:ea typeface="Arial"/>
                <a:cs typeface="Arial"/>
              </a:rPr>
              <a:t>A small indie studio cannot tell what drives negative Steam reviews. A negative review written inside the 2-hour refund window costs the rating and often the sale.</a:t>
            </a:r>
          </a:p>
        </p:txBody>
      </p:sp>
      <p:sp>
        <p:nvSpPr>
          <p:cNvPr id="5" name="">
            <a:extLst xmlns:a="http://schemas.openxmlformats.org/drawingml/2006/main">
              <a:ext uri="{FF2B5EF4-FFF2-40B4-BE49-F238E27FC236}">
                <a16:creationId xmlns:a16="http://schemas.microsoft.com/office/drawing/2014/main" id="{5B7A7B16-567A-4CE1-8454-F080C301E37C}"/>
              </a:ext>
            </a:extLst>
          </p:cNvPr>
          <p:cNvSpPr>
            <a:spLocks xmlns:a="http://schemas.openxmlformats.org/drawingml/2006/main" noGrp="1"/>
          </p:cNvSpPr>
          <p:nvPr/>
        </p:nvSpPr>
        <p:spPr>
          <a:xfrm xmlns:a="http://schemas.openxmlformats.org/drawingml/2006/main">
            <a:off x="685800" y="278892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Objectives: </a:t>
            </a:r>
            <a:r>
              <a:rPr sz="1500" b="0">
                <a:solidFill>
                  <a:srgbClr val="233247"/>
                </a:solidFill>
                <a:latin typeface="Arial"/>
                <a:ea typeface="Arial"/>
                <a:cs typeface="Arial"/>
              </a:rPr>
              <a:t>(1) Beat the guessing baselines on unseen games: PR-AUC for negative reviews, macro-F1 for game success tiers. (2) Find which complaint themes and tag combinations go with weak or strong reception, tested on held-out games.</a:t>
            </a:r>
          </a:p>
        </p:txBody>
      </p:sp>
      <p:sp>
        <p:nvSpPr>
          <p:cNvPr id="6" name="">
            <a:extLst xmlns:a="http://schemas.openxmlformats.org/drawingml/2006/main">
              <a:ext uri="{FF2B5EF4-FFF2-40B4-BE49-F238E27FC236}">
                <a16:creationId xmlns:a16="http://schemas.microsoft.com/office/drawing/2014/main" id="{6A41A58E-E834-43D8-B9AA-B3ECB73E2FE8}"/>
              </a:ext>
            </a:extLst>
          </p:cNvPr>
          <p:cNvSpPr>
            <a:spLocks xmlns:a="http://schemas.openxmlformats.org/drawingml/2006/main" noGrp="1"/>
          </p:cNvSpPr>
          <p:nvPr/>
        </p:nvSpPr>
        <p:spPr>
          <a:xfrm xmlns:a="http://schemas.openxmlformats.org/drawingml/2006/main">
            <a:off x="685800" y="3886200"/>
            <a:ext cx="10668000" cy="777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Business decision: </a:t>
            </a:r>
            <a:r>
              <a:rPr sz="1500" b="0">
                <a:solidFill>
                  <a:srgbClr val="233247"/>
                </a:solidFill>
                <a:latin typeface="Arial"/>
                <a:ea typeface="Arial"/>
                <a:cs typeface="Arial"/>
              </a:rPr>
              <a:t>What to fix before launch, which feature combinations and price to back, and when a patch is worth the effort.</a:t>
            </a:r>
          </a:p>
        </p:txBody>
      </p:sp>
      <p:sp>
        <p:nvSpPr>
          <p:cNvPr id="7" name="">
            <a:extLst xmlns:a="http://schemas.openxmlformats.org/drawingml/2006/main">
              <a:ext uri="{FF2B5EF4-FFF2-40B4-BE49-F238E27FC236}">
                <a16:creationId xmlns:a16="http://schemas.microsoft.com/office/drawing/2014/main" id="{A95CB975-5F85-44EA-9A3E-9E1BBD5AC1A0}"/>
              </a:ext>
            </a:extLst>
          </p:cNvPr>
          <p:cNvSpPr>
            <a:spLocks xmlns:a="http://schemas.openxmlformats.org/drawingml/2006/main" noGrp="1"/>
          </p:cNvSpPr>
          <p:nvPr/>
        </p:nvSpPr>
        <p:spPr>
          <a:xfrm xmlns:a="http://schemas.openxmlformats.org/drawingml/2006/main">
            <a:off x="685800" y="4754880"/>
            <a:ext cx="10668000" cy="868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Expected output: </a:t>
            </a:r>
            <a:r>
              <a:rPr sz="1500" b="0">
                <a:solidFill>
                  <a:srgbClr val="233247"/>
                </a:solidFill>
                <a:latin typeface="Arial"/>
                <a:ea typeface="Arial"/>
                <a:cs typeface="Arial"/>
              </a:rPr>
              <a:t>Review and game predictions, complaint themes, tag rules, a patch-impact result, a launch-risk scorer and a dashboard with recommendations.</a:t>
            </a:r>
          </a:p>
        </p:txBody>
      </p:sp>
    </p:spTree>
    <p:extLst>
      <p:ext uri="{BB962C8B-B14F-4D97-AF65-F5344CB8AC3E}">
        <p14:creationId xmlns:p14="http://schemas.microsoft.com/office/powerpoint/2010/main" val="1207503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68A3F6-EA40-4274-A965-7B5983BD59C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UNITS 1 TO 3</a:t>
            </a:r>
          </a:p>
        </p:txBody>
      </p:sp>
      <p:sp>
        <p:nvSpPr>
          <p:cNvPr id="2" name="">
            <a:extLst xmlns:a="http://schemas.openxmlformats.org/drawingml/2006/main">
              <a:ext uri="{FF2B5EF4-FFF2-40B4-BE49-F238E27FC236}">
                <a16:creationId xmlns:a16="http://schemas.microsoft.com/office/drawing/2014/main" id="{240865B3-5019-438A-B46E-CB05F418C0B2}"/>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Complete project workflow</a:t>
            </a:r>
          </a:p>
        </p:txBody>
      </p:sp>
      <p:sp>
        <p:nvSpPr>
          <p:cNvPr id="3" name="">
            <a:extLst xmlns:a="http://schemas.openxmlformats.org/drawingml/2006/main">
              <a:ext uri="{FF2B5EF4-FFF2-40B4-BE49-F238E27FC236}">
                <a16:creationId xmlns:a16="http://schemas.microsoft.com/office/drawing/2014/main" id="{F816DB07-E00A-4260-A0E8-0337A7A73395}"/>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F7216A9A-B30F-435A-B53B-00121FAFC2FC}"/>
              </a:ext>
            </a:extLst>
          </p:cNvPr>
          <p:cNvGraphicFramePr/>
          <p:nvPr/>
        </p:nvGraphicFramePr>
        <p:xfrm>
          <a:off xmlns:a="http://schemas.openxmlformats.org/drawingml/2006/main" x="609600" y="1828800"/>
          <a:ext xmlns:a="http://schemas.openxmlformats.org/drawingml/2006/main" cx="10972800" cy="3383280"/>
        </p:xfrm>
        <a:graphic xmlns:a="http://schemas.openxmlformats.org/drawingml/2006/main">
          <a:graphicData uri="http://schemas.openxmlformats.org/drawingml/2006/table">
            <a:tbl>
              <a:tblPr/>
              <a:tblGrid>
                <a:gridCol w="2103120"/>
                <a:gridCol w="8869680"/>
              </a:tblGrid>
              <a:tr h="457200">
                <a:tc>
                  <a:txBody>
                    <a:bodyPr wrap="square"/>
                    <a:lstStyle/>
                    <a:p>
                      <a:r>
                        <a:rPr sz="1400" b="1">
                          <a:solidFill>
                            <a:srgbClr val="FFFFFF"/>
                          </a:solidFill>
                          <a:latin typeface="Arial"/>
                          <a:ea typeface="Arial"/>
                          <a:cs typeface="Arial"/>
                        </a:rPr>
                        <a:t>Stage</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400" b="1">
                          <a:solidFill>
                            <a:srgbClr val="FFFFFF"/>
                          </a:solidFill>
                          <a:latin typeface="Arial"/>
                          <a:ea typeface="Arial"/>
                          <a:cs typeface="Arial"/>
                        </a:rPr>
                        <a:t>Your implementation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731520">
                <a:tc>
                  <a:txBody>
                    <a:bodyPr wrap="square"/>
                    <a:lstStyle/>
                    <a:p>
                      <a:r>
                        <a:rPr sz="1400" b="0">
                          <a:solidFill>
                            <a:srgbClr val="233247"/>
                          </a:solidFill>
                          <a:latin typeface="Arial"/>
                          <a:ea typeface="Arial"/>
                          <a:cs typeface="Arial"/>
                        </a:rPr>
                        <a:t>Unit 1</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Own scrapers: 1,861 games and 1.65M reviews; 32 logged cleaning rules; EDA; features (tag PCA, TF-IDF with SVD)</a:t>
                      </a:r>
                    </a:p>
                  </a:txBody>
                  <a:tcPr marL="91440" marR="91440" marT="45720" marB="45720">
                    <a:lnR w="9525">
                      <a:solidFill>
                        <a:srgbClr val="CDD7DF"/>
                      </a:solidFill>
                      <a:prstDash val="solid"/>
                    </a:lnR>
                    <a:lnB w="9525">
                      <a:solidFill>
                        <a:srgbClr val="CDD7DF"/>
                      </a:solidFill>
                      <a:prstDash val="solid"/>
                    </a:lnB>
                    <a:solidFill>
                      <a:srgbClr val="F0F5F7"/>
                    </a:solidFill>
                  </a:tcPr>
                </a:tc>
              </a:tr>
              <a:tr h="731520">
                <a:tc>
                  <a:txBody>
                    <a:bodyPr wrap="square"/>
                    <a:lstStyle/>
                    <a:p>
                      <a:r>
                        <a:rPr sz="1400" b="0">
                          <a:solidFill>
                            <a:srgbClr val="233247"/>
                          </a:solidFill>
                          <a:latin typeface="Arial"/>
                          <a:ea typeface="Arial"/>
                          <a:cs typeface="Arial"/>
                        </a:rPr>
                        <a:t>Unit 2</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Dummy, Logistic Regression, Random Forest, LightGBM and XGBoost at review and game level; shared split by game; grid-search tuning</a:t>
                      </a:r>
                    </a:p>
                  </a:txBody>
                  <a:tcPr marL="91440" marR="91440" marT="45720" marB="45720">
                    <a:lnR w="9525">
                      <a:solidFill>
                        <a:srgbClr val="CDD7DF"/>
                      </a:solidFill>
                      <a:prstDash val="solid"/>
                    </a:lnR>
                    <a:lnB w="9525">
                      <a:solidFill>
                        <a:srgbClr val="CDD7DF"/>
                      </a:solidFill>
                      <a:prstDash val="solid"/>
                    </a:lnB>
                    <a:solidFill>
                      <a:srgbClr val="FFFFFF"/>
                    </a:solidFill>
                  </a:tcPr>
                </a:tc>
              </a:tr>
              <a:tr h="731520">
                <a:tc>
                  <a:txBody>
                    <a:bodyPr wrap="square"/>
                    <a:lstStyle/>
                    <a:p>
                      <a:r>
                        <a:rPr sz="1400" b="0">
                          <a:solidFill>
                            <a:srgbClr val="233247"/>
                          </a:solidFill>
                          <a:latin typeface="Arial"/>
                          <a:ea typeface="Arial"/>
                          <a:cs typeface="Arial"/>
                        </a:rPr>
                        <a:t>Unit 3</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Text mining (topic model and sentiment classification) and association rule mining; patch impact as an extra</a:t>
                      </a:r>
                    </a:p>
                  </a:txBody>
                  <a:tcPr marL="91440" marR="91440" marT="45720" marB="45720">
                    <a:lnR w="9525">
                      <a:solidFill>
                        <a:srgbClr val="CDD7DF"/>
                      </a:solidFill>
                      <a:prstDash val="solid"/>
                    </a:lnR>
                    <a:lnB w="9525">
                      <a:solidFill>
                        <a:srgbClr val="CDD7DF"/>
                      </a:solidFill>
                      <a:prstDash val="solid"/>
                    </a:lnB>
                    <a:solidFill>
                      <a:srgbClr val="F0F5F7"/>
                    </a:solidFill>
                  </a:tcPr>
                </a:tc>
              </a:tr>
              <a:tr h="731520">
                <a:tc>
                  <a:txBody>
                    <a:bodyPr wrap="square"/>
                    <a:lstStyle/>
                    <a:p>
                      <a:r>
                        <a:rPr sz="1400" b="0">
                          <a:solidFill>
                            <a:srgbClr val="233247"/>
                          </a:solidFill>
                          <a:latin typeface="Arial"/>
                          <a:ea typeface="Arial"/>
                          <a:cs typeface="Arial"/>
                        </a:rPr>
                        <a:t>Final application</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Streamlit dashboard (market explorer, rules and complaints, patch impact, launch-risk scorer) and recommendations</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52009C-353D-4A25-B9F6-952D21AC77E0}"/>
              </a:ext>
            </a:extLst>
          </p:cNvPr>
          <p:cNvSpPr>
            <a:spLocks xmlns:a="http://schemas.openxmlformats.org/drawingml/2006/main" noGrp="1"/>
          </p:cNvSpPr>
          <p:nvPr/>
        </p:nvSpPr>
        <p:spPr>
          <a:xfrm xmlns:a="http://schemas.openxmlformats.org/drawingml/2006/main">
            <a:off x="685800" y="5120640"/>
            <a:ext cx="1057275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1">
                <a:solidFill>
                  <a:srgbClr val="157A80"/>
                </a:solidFill>
                <a:latin typeface="Arial"/>
                <a:ea typeface="Arial"/>
                <a:cs typeface="Arial"/>
              </a:defRPr>
            </a:defPPr>
          </a:lstStyle>
          <a:p xmlns:a="http://schemas.openxmlformats.org/drawingml/2006/main">
            <a:pPr>
              <a:defRPr sz="1875" b="1">
                <a:solidFill>
                  <a:srgbClr val="157A80"/>
                </a:solidFill>
                <a:latin typeface="Arial"/>
                <a:ea typeface="Arial"/>
                <a:cs typeface="Arial"/>
              </a:defRPr>
            </a:pPr>
            <a:r>
              <a:rPr sz="1500" b="1">
                <a:solidFill>
                  <a:srgbClr val="157A80"/>
                </a:solidFill>
                <a:latin typeface="Arial"/>
                <a:ea typeface="Arial"/>
                <a:cs typeface="Arial"/>
              </a:rPr>
              <a:t>Completion status: </a:t>
            </a:r>
            <a:r>
              <a:rPr sz="1500" b="0">
                <a:solidFill>
                  <a:srgbClr val="157A80"/>
                </a:solidFill>
                <a:latin typeface="Arial"/>
                <a:ea typeface="Arial"/>
                <a:cs typeface="Arial"/>
              </a:rPr>
              <a:t>Units 1 to 3, evaluation, report and dashboard are implemented and integrated; the dashboard is deployed at indieguard.streamlit.app.</a:t>
            </a:r>
          </a:p>
        </p:txBody>
      </p:sp>
    </p:spTree>
    <p:extLst>
      <p:ext uri="{BB962C8B-B14F-4D97-AF65-F5344CB8AC3E}">
        <p14:creationId xmlns:p14="http://schemas.microsoft.com/office/powerpoint/2010/main" val="3195337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F767BA-4106-4171-9518-41AD7DFE9F51}"/>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DATASET ACROSS UNITS 1 TO 3</a:t>
            </a:r>
          </a:p>
        </p:txBody>
      </p:sp>
      <p:sp>
        <p:nvSpPr>
          <p:cNvPr id="2" name="">
            <a:extLst xmlns:a="http://schemas.openxmlformats.org/drawingml/2006/main">
              <a:ext uri="{FF2B5EF4-FFF2-40B4-BE49-F238E27FC236}">
                <a16:creationId xmlns:a16="http://schemas.microsoft.com/office/drawing/2014/main" id="{2B57D2C8-8458-4A56-A48E-EEAA5E1BA661}"/>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Overall dataset description</a:t>
            </a:r>
          </a:p>
        </p:txBody>
      </p:sp>
      <p:sp>
        <p:nvSpPr>
          <p:cNvPr id="3" name="">
            <a:extLst xmlns:a="http://schemas.openxmlformats.org/drawingml/2006/main">
              <a:ext uri="{FF2B5EF4-FFF2-40B4-BE49-F238E27FC236}">
                <a16:creationId xmlns:a16="http://schemas.microsoft.com/office/drawing/2014/main" id="{5A624CB5-E55B-4AC3-B472-A4236143CFA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B15A6C50-D58A-4A10-9E5B-B82BE80095FC}"/>
              </a:ext>
            </a:extLst>
          </p:cNvPr>
          <p:cNvSpPr>
            <a:spLocks xmlns:a="http://schemas.openxmlformats.org/drawingml/2006/main" noGrp="1"/>
          </p:cNvSpPr>
          <p:nvPr/>
        </p:nvSpPr>
        <p:spPr>
          <a:xfrm xmlns:a="http://schemas.openxmlformats.org/drawingml/2006/main">
            <a:off x="685800" y="1828800"/>
            <a:ext cx="10668000" cy="868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Source and collection: </a:t>
            </a:r>
            <a:r>
              <a:rPr sz="1500" b="0">
                <a:solidFill>
                  <a:srgbClr val="233247"/>
                </a:solidFill>
                <a:latin typeface="Arial"/>
                <a:ea typeface="Arial"/>
                <a:cs typeface="Arial"/>
              </a:rPr>
              <a:t>Our own throttled, resumable scrapers on public Steam sources (store search, store details, SteamSpy, news, reviews), 1 to 2 October 2026. No pre-built dataset.</a:t>
            </a:r>
          </a:p>
        </p:txBody>
      </p:sp>
      <p:sp>
        <p:nvSpPr>
          <p:cNvPr id="5" name="">
            <a:extLst xmlns:a="http://schemas.openxmlformats.org/drawingml/2006/main">
              <a:ext uri="{FF2B5EF4-FFF2-40B4-BE49-F238E27FC236}">
                <a16:creationId xmlns:a16="http://schemas.microsoft.com/office/drawing/2014/main" id="{AFE523C5-8491-4051-A64A-64EB0356E702}"/>
              </a:ext>
            </a:extLst>
          </p:cNvPr>
          <p:cNvSpPr>
            <a:spLocks xmlns:a="http://schemas.openxmlformats.org/drawingml/2006/main" noGrp="1"/>
          </p:cNvSpPr>
          <p:nvPr/>
        </p:nvSpPr>
        <p:spPr>
          <a:xfrm xmlns:a="http://schemas.openxmlformats.org/drawingml/2006/main">
            <a:off x="685800" y="2788920"/>
            <a:ext cx="10668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Final dataset size: </a:t>
            </a:r>
            <a:r>
              <a:rPr sz="1500" b="0">
                <a:solidFill>
                  <a:srgbClr val="233247"/>
                </a:solidFill>
                <a:latin typeface="Arial"/>
                <a:ea typeface="Arial"/>
                <a:cs typeface="Arial"/>
              </a:rPr>
              <a:t>1,861 games x 58 variables; 1,648,387 reviews x 34 variables; 29,918 patch and sale events.</a:t>
            </a:r>
          </a:p>
        </p:txBody>
      </p:sp>
      <p:sp>
        <p:nvSpPr>
          <p:cNvPr id="6" name="">
            <a:extLst xmlns:a="http://schemas.openxmlformats.org/drawingml/2006/main">
              <a:ext uri="{FF2B5EF4-FFF2-40B4-BE49-F238E27FC236}">
                <a16:creationId xmlns:a16="http://schemas.microsoft.com/office/drawing/2014/main" id="{D7FAD4CC-294E-4C56-92E4-46386B9BF60D}"/>
              </a:ext>
            </a:extLst>
          </p:cNvPr>
          <p:cNvSpPr>
            <a:spLocks xmlns:a="http://schemas.openxmlformats.org/drawingml/2006/main" noGrp="1"/>
          </p:cNvSpPr>
          <p:nvPr/>
        </p:nvSpPr>
        <p:spPr>
          <a:xfrm xmlns:a="http://schemas.openxmlformats.org/drawingml/2006/main">
            <a:off x="685800" y="361188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Coverage: </a:t>
            </a:r>
            <a:r>
              <a:rPr sz="1500" b="0">
                <a:solidFill>
                  <a:srgbClr val="233247"/>
                </a:solidFill>
                <a:latin typeface="Arial"/>
                <a:ea typeface="Arial"/>
                <a:cs typeface="Arial"/>
              </a:rPr>
              <a:t>Indie roguelike and roguelite games released 2022 to 2025; 31 languages; 99.95% of the reviews Steam reports were collected (five very large games are capped at their newest 15,000).</a:t>
            </a:r>
          </a:p>
        </p:txBody>
      </p:sp>
      <p:sp>
        <p:nvSpPr>
          <p:cNvPr id="7" name="">
            <a:extLst xmlns:a="http://schemas.openxmlformats.org/drawingml/2006/main">
              <a:ext uri="{FF2B5EF4-FFF2-40B4-BE49-F238E27FC236}">
                <a16:creationId xmlns:a16="http://schemas.microsoft.com/office/drawing/2014/main" id="{8BBB0E34-8821-4A79-AD8A-1D9A400F831C}"/>
              </a:ext>
            </a:extLst>
          </p:cNvPr>
          <p:cNvSpPr>
            <a:spLocks xmlns:a="http://schemas.openxmlformats.org/drawingml/2006/main" noGrp="1"/>
          </p:cNvSpPr>
          <p:nvPr/>
        </p:nvSpPr>
        <p:spPr>
          <a:xfrm xmlns:a="http://schemas.openxmlformats.org/drawingml/2006/main">
            <a:off x="685800" y="4617720"/>
            <a:ext cx="10668000" cy="11887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Unit mapping: </a:t>
            </a:r>
            <a:r>
              <a:rPr sz="1500" b="0">
                <a:solidFill>
                  <a:srgbClr val="233247"/>
                </a:solidFill>
                <a:latin typeface="Arial"/>
                <a:ea typeface="Arial"/>
                <a:cs typeface="Arial"/>
              </a:rPr>
              <a:t>Unit 2: 1,573,436 reviews with features and 1,490 games with a success tier. Unit 3: 557,202 English reviews (text); 1,490 games with 137 tag, price and Early Access items (rules); 29,918 events (patch impact).</a:t>
            </a:r>
          </a:p>
        </p:txBody>
      </p:sp>
    </p:spTree>
    <p:extLst>
      <p:ext uri="{BB962C8B-B14F-4D97-AF65-F5344CB8AC3E}">
        <p14:creationId xmlns:p14="http://schemas.microsoft.com/office/powerpoint/2010/main" val="13779009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36271E-B87B-40A7-B145-EFA4C3557C35}"/>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FINAL PROJECT DATA</a:t>
            </a:r>
          </a:p>
        </p:txBody>
      </p:sp>
      <p:sp>
        <p:nvSpPr>
          <p:cNvPr id="2" name="">
            <a:extLst xmlns:a="http://schemas.openxmlformats.org/drawingml/2006/main">
              <a:ext uri="{FF2B5EF4-FFF2-40B4-BE49-F238E27FC236}">
                <a16:creationId xmlns:a16="http://schemas.microsoft.com/office/drawing/2014/main" id="{B25BE530-386D-40FD-AF96-351BB2335BF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Sample dataset and key variables</a:t>
            </a:r>
          </a:p>
        </p:txBody>
      </p:sp>
      <p:sp>
        <p:nvSpPr>
          <p:cNvPr id="3" name="">
            <a:extLst xmlns:a="http://schemas.openxmlformats.org/drawingml/2006/main">
              <a:ext uri="{FF2B5EF4-FFF2-40B4-BE49-F238E27FC236}">
                <a16:creationId xmlns:a16="http://schemas.microsoft.com/office/drawing/2014/main" id="{C33460FC-E867-4CD3-BCE0-2261783CA6C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5BB7FB6C-F550-44F2-8608-EFA2F74D0F59}"/>
              </a:ext>
            </a:extLst>
          </p:cNvPr>
          <p:cNvGraphicFramePr/>
          <p:nvPr/>
        </p:nvGraphicFramePr>
        <p:xfrm>
          <a:off xmlns:a="http://schemas.openxmlformats.org/drawingml/2006/main" x="609600" y="1783080"/>
          <a:ext xmlns:a="http://schemas.openxmlformats.org/drawingml/2006/main" cx="10972800" cy="1691640"/>
        </p:xfrm>
        <a:graphic xmlns:a="http://schemas.openxmlformats.org/drawingml/2006/main">
          <a:graphicData uri="http://schemas.openxmlformats.org/drawingml/2006/table">
            <a:tbl>
              <a:tblPr/>
              <a:tblGrid>
                <a:gridCol w="6400800"/>
                <a:gridCol w="1463040"/>
                <a:gridCol w="1280160"/>
                <a:gridCol w="1828800"/>
              </a:tblGrid>
              <a:tr h="457200">
                <a:tc>
                  <a:txBody>
                    <a:bodyPr wrap="square"/>
                    <a:lstStyle/>
                    <a:p>
                      <a:r>
                        <a:rPr sz="1200" b="1">
                          <a:solidFill>
                            <a:srgbClr val="FFFFFF"/>
                          </a:solidFill>
                          <a:latin typeface="Arial"/>
                          <a:ea typeface="Arial"/>
                          <a:cs typeface="Arial"/>
                        </a:rPr>
                        <a:t>Review text (excerpt)</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Playtime at review</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Language</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Target: review is</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411480">
                <a:tc>
                  <a:txBody>
                    <a:bodyPr wrap="square"/>
                    <a:lstStyle/>
                    <a:p>
                      <a:r>
                        <a:rPr sz="1200" b="0">
                          <a:solidFill>
                            <a:srgbClr val="233247"/>
                          </a:solidFill>
                          <a:latin typeface="Arial"/>
                          <a:ea typeface="Arial"/>
                          <a:cs typeface="Arial"/>
                        </a:rPr>
                        <a:t>If you're reading comments right now to decide if you should buy it - ...</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23.9 h</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english</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positive</a:t>
                      </a:r>
                    </a:p>
                  </a:txBody>
                  <a:tcPr marL="91440" marR="91440" marT="45720" marB="45720">
                    <a:lnR w="9525">
                      <a:solidFill>
                        <a:srgbClr val="CDD7DF"/>
                      </a:solidFill>
                      <a:prstDash val="solid"/>
                    </a:lnR>
                    <a:lnB w="9525">
                      <a:solidFill>
                        <a:srgbClr val="CDD7DF"/>
                      </a:solidFill>
                      <a:prstDash val="solid"/>
                    </a:lnB>
                    <a:solidFill>
                      <a:srgbClr val="F0F5F7"/>
                    </a:solidFill>
                  </a:tcPr>
                </a:tc>
              </a:tr>
              <a:tr h="411480">
                <a:tc>
                  <a:txBody>
                    <a:bodyPr wrap="square"/>
                    <a:lstStyle/>
                    <a:p>
                      <a:r>
                        <a:rPr sz="1200" b="0">
                          <a:solidFill>
                            <a:srgbClr val="233247"/>
                          </a:solidFill>
                          <a:latin typeface="Arial"/>
                          <a:ea typeface="Arial"/>
                          <a:cs typeface="Arial"/>
                        </a:rPr>
                        <a:t>Why Nerf a coop hades ripoff? It's a PvE game lmao</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13 h</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english</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negative</a:t>
                      </a:r>
                    </a:p>
                  </a:txBody>
                  <a:tcPr marL="91440" marR="91440" marT="45720" marB="45720">
                    <a:lnR w="9525">
                      <a:solidFill>
                        <a:srgbClr val="CDD7DF"/>
                      </a:solidFill>
                      <a:prstDash val="solid"/>
                    </a:lnR>
                    <a:lnB w="9525">
                      <a:solidFill>
                        <a:srgbClr val="CDD7DF"/>
                      </a:solidFill>
                      <a:prstDash val="solid"/>
                    </a:lnB>
                    <a:solidFill>
                      <a:srgbClr val="FFFFFF"/>
                    </a:solidFill>
                  </a:tcPr>
                </a:tc>
              </a:tr>
              <a:tr h="411480">
                <a:tc>
                  <a:txBody>
                    <a:bodyPr wrap="square"/>
                    <a:lstStyle/>
                    <a:p>
                      <a:r>
                        <a:rPr sz="1200" b="0">
                          <a:solidFill>
                            <a:srgbClr val="233247"/>
                          </a:solidFill>
                          <a:latin typeface="Arial"/>
                          <a:ea typeface="Arial"/>
                          <a:cs typeface="Arial"/>
                        </a:rPr>
                        <a:t>Hardness for the sake of hardness. Game has several situations where y...</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11.6 h</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english</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negative</a:t>
                      </a:r>
                    </a:p>
                  </a:txBody>
                  <a:tcPr marL="91440" marR="91440" marT="45720" marB="45720">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E0B9EDCC-2CBB-4C64-AF5F-48DEDA996D9B}"/>
              </a:ext>
            </a:extLst>
          </p:cNvPr>
          <p:cNvSpPr>
            <a:spLocks xmlns:a="http://schemas.openxmlformats.org/drawingml/2006/main" noGrp="1"/>
          </p:cNvSpPr>
          <p:nvPr/>
        </p:nvSpPr>
        <p:spPr>
          <a:xfrm xmlns:a="http://schemas.openxmlformats.org/drawingml/2006/main">
            <a:off x="685800" y="5486400"/>
            <a:ext cx="10477500" cy="502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950" b="0">
                <a:solidFill>
                  <a:srgbClr val="233247"/>
                </a:solidFill>
                <a:latin typeface="Arial"/>
                <a:ea typeface="Arial"/>
                <a:cs typeface="Arial"/>
              </a:defRPr>
            </a:defPPr>
          </a:lstStyle>
          <a:p xmlns:a="http://schemas.openxmlformats.org/drawingml/2006/main">
            <a:pPr>
              <a:defRPr sz="1950" b="0">
                <a:solidFill>
                  <a:srgbClr val="233247"/>
                </a:solidFill>
                <a:latin typeface="Arial"/>
                <a:ea typeface="Arial"/>
                <a:cs typeface="Arial"/>
              </a:defRPr>
            </a:pPr>
            <a:r>
              <a:rPr sz="1300" b="1">
                <a:solidFill>
                  <a:srgbClr val="233247"/>
                </a:solidFill>
                <a:latin typeface="Arial"/>
                <a:ea typeface="Arial"/>
                <a:cs typeface="Arial"/>
              </a:rPr>
              <a:t>Key variables: </a:t>
            </a:r>
            <a:r>
              <a:rPr sz="1300" b="0">
                <a:solidFill>
                  <a:srgbClr val="233247"/>
                </a:solidFill>
                <a:latin typeface="Arial"/>
                <a:ea typeface="Arial"/>
                <a:cs typeface="Arial"/>
              </a:rPr>
              <a:t>voted_up (target: negative review), playtime at review (hours), language, review text; per game: price (USD), launch year, DLC, achievements, tags (text), review totals, success tier.</a:t>
            </a:r>
          </a:p>
        </p:txBody>
      </p:sp>
      <p:sp>
        <p:nvSpPr>
          <p:cNvPr id="6" name="">
            <a:extLst xmlns:a="http://schemas.openxmlformats.org/drawingml/2006/main">
              <a:ext uri="{FF2B5EF4-FFF2-40B4-BE49-F238E27FC236}">
                <a16:creationId xmlns:a16="http://schemas.microsoft.com/office/drawing/2014/main" id="{AF628CDC-22BC-40DC-8AC3-B989D8B9467C}"/>
              </a:ext>
            </a:extLst>
          </p:cNvPr>
          <p:cNvSpPr>
            <a:spLocks xmlns:a="http://schemas.openxmlformats.org/drawingml/2006/main" noGrp="1"/>
          </p:cNvSpPr>
          <p:nvPr/>
        </p:nvSpPr>
        <p:spPr>
          <a:xfrm xmlns:a="http://schemas.openxmlformats.org/drawingml/2006/main">
            <a:off x="685800" y="598932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33247"/>
                </a:solidFill>
                <a:latin typeface="Arial"/>
                <a:ea typeface="Arial"/>
                <a:cs typeface="Arial"/>
              </a:defRPr>
            </a:defPPr>
          </a:lstStyle>
          <a:p xmlns:a="http://schemas.openxmlformats.org/drawingml/2006/main">
            <a:pPr>
              <a:defRPr sz="1725" b="0">
                <a:solidFill>
                  <a:srgbClr val="233247"/>
                </a:solidFill>
                <a:latin typeface="Arial"/>
                <a:ea typeface="Arial"/>
                <a:cs typeface="Arial"/>
              </a:defRPr>
            </a:pPr>
            <a:r>
              <a:rPr sz="1300" b="0">
                <a:solidFill>
                  <a:srgbClr val="233247"/>
                </a:solidFill>
                <a:latin typeface="Arial"/>
                <a:ea typeface="Arial"/>
                <a:cs typeface="Arial"/>
              </a:rPr>
              <a:t>Linked data: reviews join games on appid; the success tier uses games with at least 20 reviews. Full samples: data/sample/.</a:t>
            </a:r>
          </a:p>
        </p:txBody>
      </p:sp>
      <p:graphicFrame>
        <p:nvGraphicFramePr>
          <p:cNvPr id="900" name="Games table">
            <a:extLst xmlns:a="http://schemas.openxmlformats.org/drawingml/2006/main">
              <a:ext uri="{FF2B5EF4-FFF2-40B4-BE49-F238E27FC236}">
                <a16:creationId xmlns:a16="http://schemas.microsoft.com/office/drawing/2014/main" id="{5BB7FB6C-F550-44F2-8608-EFA2F74D0F59}"/>
              </a:ext>
            </a:extLst>
          </p:cNvPr>
          <p:cNvGraphicFramePr/>
          <p:nvPr/>
        </p:nvGraphicFramePr>
        <p:xfrm>
          <a:off xmlns:a="http://schemas.openxmlformats.org/drawingml/2006/main" x="609600" y="3749039"/>
          <a:ext xmlns:a="http://schemas.openxmlformats.org/drawingml/2006/main" cx="10972800" cy="1645920"/>
        </p:xfrm>
        <a:graphic xmlns:a="http://schemas.openxmlformats.org/drawingml/2006/main">
          <a:graphicData uri="http://schemas.openxmlformats.org/drawingml/2006/table">
            <a:tbl>
              <a:tblPr/>
              <a:tblGrid>
                <a:gridCol w="2926080"/>
                <a:gridCol w="1280160"/>
                <a:gridCol w="1463040"/>
                <a:gridCol w="5303520"/>
              </a:tblGrid>
              <a:tr h="411480">
                <a:tc>
                  <a:txBody>
                    <a:bodyPr wrap="square"/>
                    <a:lstStyle/>
                    <a:p>
                      <a:r>
                        <a:rPr sz="1200" b="1">
                          <a:solidFill>
                            <a:srgbClr val="FFFFFF"/>
                          </a:solidFill>
                          <a:latin typeface="Arial"/>
                          <a:ea typeface="Arial"/>
                          <a:cs typeface="Arial"/>
                        </a:rPr>
                        <a:t>Game</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Released</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Price (USD)</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Reviews and target: success tier</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411480">
                <a:tc>
                  <a:txBody>
                    <a:bodyPr wrap="square"/>
                    <a:lstStyle/>
                    <a:p>
                      <a:r>
                        <a:rPr sz="1200" b="0">
                          <a:solidFill>
                            <a:srgbClr val="233247"/>
                          </a:solidFill>
                          <a:latin typeface="Arial"/>
                          <a:ea typeface="Arial"/>
                          <a:cs typeface="Arial"/>
                        </a:rPr>
                        <a:t>Cross The World</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2025</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$19.99</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23 reviews, 0% negative; tier Strong</a:t>
                      </a:r>
                    </a:p>
                  </a:txBody>
                  <a:tcPr marL="91440" marR="91440" marT="45720" marB="45720">
                    <a:lnR w="9525">
                      <a:solidFill>
                        <a:srgbClr val="CDD7DF"/>
                      </a:solidFill>
                      <a:prstDash val="solid"/>
                    </a:lnR>
                    <a:lnB w="9525">
                      <a:solidFill>
                        <a:srgbClr val="CDD7DF"/>
                      </a:solidFill>
                      <a:prstDash val="solid"/>
                    </a:lnB>
                    <a:solidFill>
                      <a:srgbClr val="F0F5F7"/>
                    </a:solidFill>
                  </a:tcPr>
                </a:tc>
              </a:tr>
              <a:tr h="411480">
                <a:tc>
                  <a:txBody>
                    <a:bodyPr wrap="square"/>
                    <a:lstStyle/>
                    <a:p>
                      <a:r>
                        <a:rPr sz="1200" b="0">
                          <a:solidFill>
                            <a:srgbClr val="233247"/>
                          </a:solidFill>
                          <a:latin typeface="Arial"/>
                          <a:ea typeface="Arial"/>
                          <a:cs typeface="Arial"/>
                        </a:rPr>
                        <a:t>Bloody Heaven 2</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2024</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$4.99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138 reviews, 15% negative; tier Solid</a:t>
                      </a:r>
                    </a:p>
                  </a:txBody>
                  <a:tcPr marL="91440" marR="91440" marT="45720" marB="45720">
                    <a:lnR w="9525">
                      <a:solidFill>
                        <a:srgbClr val="CDD7DF"/>
                      </a:solidFill>
                      <a:prstDash val="solid"/>
                    </a:lnR>
                    <a:lnB w="9525">
                      <a:solidFill>
                        <a:srgbClr val="CDD7DF"/>
                      </a:solidFill>
                      <a:prstDash val="solid"/>
                    </a:lnB>
                    <a:solidFill>
                      <a:srgbClr val="FFFFFF"/>
                    </a:solidFill>
                  </a:tcPr>
                </a:tc>
              </a:tr>
              <a:tr h="411480">
                <a:tc>
                  <a:txBody>
                    <a:bodyPr wrap="square"/>
                    <a:lstStyle/>
                    <a:p>
                      <a:r>
                        <a:rPr sz="1200" b="0">
                          <a:solidFill>
                            <a:srgbClr val="233247"/>
                          </a:solidFill>
                          <a:latin typeface="Arial"/>
                          <a:ea typeface="Arial"/>
                          <a:cs typeface="Arial"/>
                        </a:rPr>
                        <a:t>Firework War</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2025</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$0.00</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55 reviews, 4% negative; tier Strong</a:t>
                      </a:r>
                    </a:p>
                  </a:txBody>
                  <a:tcPr marL="91440" marR="91440" marT="45720" marB="45720">
                    <a:lnR w="9525">
                      <a:solidFill>
                        <a:srgbClr val="CDD7DF"/>
                      </a:solidFill>
                      <a:prstDash val="solid"/>
                    </a:lnR>
                    <a:lnB w="9525">
                      <a:solidFill>
                        <a:srgbClr val="CDD7DF"/>
                      </a:solidFill>
                      <a:prstDash val="solid"/>
                    </a:lnB>
                    <a:solidFill>
                      <a:srgbClr val="F0F5F7"/>
                    </a:solidFill>
                  </a:tcPr>
                </a:tc>
              </a:tr>
            </a:tbl>
          </a:graphicData>
        </a:graphic>
      </p:graphicFrame>
    </p:spTree>
    <p:extLst>
      <p:ext uri="{BB962C8B-B14F-4D97-AF65-F5344CB8AC3E}">
        <p14:creationId xmlns:p14="http://schemas.microsoft.com/office/powerpoint/2010/main" val="7425259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BE5F2A-720E-4573-878E-C101B5918DD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OVERALL VALIDATION FOR UNITS 1 TO 3</a:t>
            </a:r>
          </a:p>
        </p:txBody>
      </p:sp>
      <p:sp>
        <p:nvSpPr>
          <p:cNvPr id="2" name="">
            <a:extLst xmlns:a="http://schemas.openxmlformats.org/drawingml/2006/main">
              <a:ext uri="{FF2B5EF4-FFF2-40B4-BE49-F238E27FC236}">
                <a16:creationId xmlns:a16="http://schemas.microsoft.com/office/drawing/2014/main" id="{43A84140-130B-46E5-9F90-51059CE2CD97}"/>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Dataset validation and preparation</a:t>
            </a:r>
          </a:p>
        </p:txBody>
      </p:sp>
      <p:sp>
        <p:nvSpPr>
          <p:cNvPr id="3" name="">
            <a:extLst xmlns:a="http://schemas.openxmlformats.org/drawingml/2006/main">
              <a:ext uri="{FF2B5EF4-FFF2-40B4-BE49-F238E27FC236}">
                <a16:creationId xmlns:a16="http://schemas.microsoft.com/office/drawing/2014/main" id="{795FDD72-885C-4289-AFCE-70C8027D4E3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B037A3E9-91B6-48BF-AF9D-CCCB5E4C264B}"/>
              </a:ext>
            </a:extLst>
          </p:cNvPr>
          <p:cNvGraphicFramePr/>
          <p:nvPr/>
        </p:nvGraphicFramePr>
        <p:xfrm>
          <a:off xmlns:a="http://schemas.openxmlformats.org/drawingml/2006/main" x="609600" y="1783080"/>
          <a:ext xmlns:a="http://schemas.openxmlformats.org/drawingml/2006/main" cx="10972800" cy="3749040"/>
        </p:xfrm>
        <a:graphic xmlns:a="http://schemas.openxmlformats.org/drawingml/2006/main">
          <a:graphicData uri="http://schemas.openxmlformats.org/drawingml/2006/table">
            <a:tbl>
              <a:tblPr/>
              <a:tblGrid>
                <a:gridCol w="2377440"/>
                <a:gridCol w="4480560"/>
                <a:gridCol w="4114800"/>
              </a:tblGrid>
              <a:tr h="457200">
                <a:tc>
                  <a:txBody>
                    <a:bodyPr wrap="square"/>
                    <a:lstStyle/>
                    <a:p>
                      <a:r>
                        <a:rPr sz="1200" b="1">
                          <a:solidFill>
                            <a:srgbClr val="FFFFFF"/>
                          </a:solidFill>
                          <a:latin typeface="Arial"/>
                          <a:ea typeface="Arial"/>
                          <a:cs typeface="Arial"/>
                        </a:rPr>
                        <a:t>Check</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Finding</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Correction / evidence</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822960">
                <a:tc>
                  <a:txBody>
                    <a:bodyPr wrap="square"/>
                    <a:lstStyle/>
                    <a:p>
                      <a:r>
                        <a:rPr sz="1200" b="0">
                          <a:solidFill>
                            <a:srgbClr val="233247"/>
                          </a:solidFill>
                          <a:latin typeface="Arial"/>
                          <a:ea typeface="Arial"/>
                          <a:cs typeface="Arial"/>
                        </a:rPr>
                        <a:t>Missing values and duplicates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4,612 empty reviews; no duplicate review or game IDs; some game columns mostly empty (Metacritic, about 98%)</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Empty reviews dropped (1,652,999 to 1,648,387); empty columns unused; free games priced 0; unknown playtime flagged</a:t>
                      </a:r>
                    </a:p>
                  </a:txBody>
                  <a:tcPr marL="91440" marR="91440" marT="45720" marB="45720">
                    <a:lnR w="9525">
                      <a:solidFill>
                        <a:srgbClr val="CDD7DF"/>
                      </a:solidFill>
                      <a:prstDash val="solid"/>
                    </a:lnR>
                    <a:lnB w="9525">
                      <a:solidFill>
                        <a:srgbClr val="CDD7DF"/>
                      </a:solidFill>
                      <a:prstDash val="solid"/>
                    </a:lnB>
                    <a:solidFill>
                      <a:srgbClr val="F0F5F7"/>
                    </a:solidFill>
                  </a:tcPr>
                </a:tc>
              </a:tr>
              <a:tr h="822960">
                <a:tc>
                  <a:txBody>
                    <a:bodyPr wrap="square"/>
                    <a:lstStyle/>
                    <a:p>
                      <a:r>
                        <a:rPr sz="1200" b="0">
                          <a:solidFill>
                            <a:srgbClr val="233247"/>
                          </a:solidFill>
                          <a:latin typeface="Arial"/>
                          <a:ea typeface="Arial"/>
                          <a:cs typeface="Arial"/>
                        </a:rPr>
                        <a:t>Types, ranges and consistency</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Playtime outliers (8,242 above 363 h); 318 wrong launch dates; 30,018 reviews before launch; spam and copy-paste reviews</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Timestamps in UTC; playtime winsorised in a copy; dates corrected; the rest flagged and kept (32 logged rules)</a:t>
                      </a:r>
                    </a:p>
                  </a:txBody>
                  <a:tcPr marL="91440" marR="91440" marT="45720" marB="45720">
                    <a:lnR w="9525">
                      <a:solidFill>
                        <a:srgbClr val="CDD7DF"/>
                      </a:solidFill>
                      <a:prstDash val="solid"/>
                    </a:lnR>
                    <a:lnB w="9525">
                      <a:solidFill>
                        <a:srgbClr val="CDD7DF"/>
                      </a:solidFill>
                      <a:prstDash val="solid"/>
                    </a:lnB>
                    <a:solidFill>
                      <a:srgbClr val="FFFFFF"/>
                    </a:solidFill>
                  </a:tcPr>
                </a:tc>
              </a:tr>
              <a:tr h="822960">
                <a:tc>
                  <a:txBody>
                    <a:bodyPr wrap="square"/>
                    <a:lstStyle/>
                    <a:p>
                      <a:r>
                        <a:rPr sz="1200" b="0">
                          <a:solidFill>
                            <a:srgbClr val="233247"/>
                          </a:solidFill>
                          <a:latin typeface="Arial"/>
                          <a:ea typeface="Arial"/>
                          <a:cs typeface="Arial"/>
                        </a:rPr>
                        <a:t>Suitability across all units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Each unit has the fields it needs: tiers (1,490 games), English text (557,202), tag items (137), events (29,918)</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One split by game; 21 feature checks and 21 Review 2 checks pass</a:t>
                      </a:r>
                    </a:p>
                  </a:txBody>
                  <a:tcPr marL="91440" marR="91440" marT="45720" marB="45720">
                    <a:lnR w="9525">
                      <a:solidFill>
                        <a:srgbClr val="CDD7DF"/>
                      </a:solidFill>
                      <a:prstDash val="solid"/>
                    </a:lnR>
                    <a:lnB w="9525">
                      <a:solidFill>
                        <a:srgbClr val="CDD7DF"/>
                      </a:solidFill>
                      <a:prstDash val="solid"/>
                    </a:lnB>
                    <a:solidFill>
                      <a:srgbClr val="F0F5F7"/>
                    </a:solidFill>
                  </a:tcPr>
                </a:tc>
              </a:tr>
              <a:tr h="822960">
                <a:tc>
                  <a:txBody>
                    <a:bodyPr wrap="square"/>
                    <a:lstStyle/>
                    <a:p>
                      <a:r>
                        <a:rPr sz="1200" b="0">
                          <a:solidFill>
                            <a:srgbClr val="233247"/>
                          </a:solidFill>
                          <a:latin typeface="Arial"/>
                          <a:ea typeface="Arial"/>
                          <a:cs typeface="Arial"/>
                        </a:rPr>
                        <a:t>Synthetic data</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None: every record comes from public Steam endpoints</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Not applicable</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A3E419D-441D-4E1D-AEDE-31B45199FD91}"/>
              </a:ext>
            </a:extLst>
          </p:cNvPr>
          <p:cNvSpPr>
            <a:spLocks xmlns:a="http://schemas.openxmlformats.org/drawingml/2006/main" noGrp="1"/>
          </p:cNvSpPr>
          <p:nvPr/>
        </p:nvSpPr>
        <p:spPr>
          <a:xfrm xmlns:a="http://schemas.openxmlformats.org/drawingml/2006/main">
            <a:off x="685800" y="5669280"/>
            <a:ext cx="1057275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1">
                <a:solidFill>
                  <a:srgbClr val="157A80"/>
                </a:solidFill>
                <a:latin typeface="Arial"/>
                <a:ea typeface="Arial"/>
                <a:cs typeface="Arial"/>
              </a:defRPr>
            </a:defPPr>
          </a:lstStyle>
          <a:p xmlns:a="http://schemas.openxmlformats.org/drawingml/2006/main">
            <a:pPr>
              <a:defRPr sz="1875" b="1">
                <a:solidFill>
                  <a:srgbClr val="157A80"/>
                </a:solidFill>
                <a:latin typeface="Arial"/>
                <a:ea typeface="Arial"/>
                <a:cs typeface="Arial"/>
              </a:defRPr>
            </a:pPr>
            <a:r>
              <a:rPr sz="1500" b="1">
                <a:solidFill>
                  <a:srgbClr val="157A80"/>
                </a:solidFill>
                <a:latin typeface="Arial"/>
                <a:ea typeface="Arial"/>
                <a:cs typeface="Arial"/>
              </a:rPr>
              <a:t>Final validated dataset: </a:t>
            </a:r>
            <a:r>
              <a:rPr sz="1500" b="0">
                <a:solidFill>
                  <a:srgbClr val="157A80"/>
                </a:solidFill>
                <a:latin typeface="Arial"/>
                <a:ea typeface="Arial"/>
                <a:cs typeface="Arial"/>
              </a:rPr>
              <a:t>1,861 games and 1,648,387 reviews (data/processed/games_clean.parquet, reviews_clean/).</a:t>
            </a:r>
          </a:p>
        </p:txBody>
      </p:sp>
    </p:spTree>
    <p:extLst>
      <p:ext uri="{BB962C8B-B14F-4D97-AF65-F5344CB8AC3E}">
        <p14:creationId xmlns:p14="http://schemas.microsoft.com/office/powerpoint/2010/main" val="5814248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CE5281-5814-4291-B8DE-FB11715A86D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1</a:t>
            </a:r>
          </a:p>
        </p:txBody>
      </p:sp>
      <p:sp>
        <p:nvSpPr>
          <p:cNvPr id="2" name="">
            <a:extLst xmlns:a="http://schemas.openxmlformats.org/drawingml/2006/main">
              <a:ext uri="{FF2B5EF4-FFF2-40B4-BE49-F238E27FC236}">
                <a16:creationId xmlns:a16="http://schemas.microsoft.com/office/drawing/2014/main" id="{F2D70B92-C245-446F-A6B2-954E4F469C2A}"/>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Exploratory analysis and preprocessing</a:t>
            </a:r>
          </a:p>
        </p:txBody>
      </p:sp>
      <p:sp>
        <p:nvSpPr>
          <p:cNvPr id="3" name="">
            <a:extLst xmlns:a="http://schemas.openxmlformats.org/drawingml/2006/main">
              <a:ext uri="{FF2B5EF4-FFF2-40B4-BE49-F238E27FC236}">
                <a16:creationId xmlns:a16="http://schemas.microsoft.com/office/drawing/2014/main" id="{8A76EF40-5FAD-4E83-9187-5FE9CC845698}"/>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775F0BD-DAEF-4688-97F4-0C8CC4593B56}"/>
              </a:ext>
            </a:extLst>
          </p:cNvPr>
          <p:cNvSpPr>
            <a:spLocks xmlns:a="http://schemas.openxmlformats.org/drawingml/2006/main" noGrp="1"/>
          </p:cNvSpPr>
          <p:nvPr/>
        </p:nvSpPr>
        <p:spPr>
          <a:xfrm xmlns:a="http://schemas.openxmlformats.org/drawingml/2006/main">
            <a:off x="685800" y="4160520"/>
            <a:ext cx="10668000" cy="822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Key findings: </a:t>
            </a:r>
            <a:r>
              <a:rPr sz="1400" b="0">
                <a:solidFill>
                  <a:srgbClr val="233247"/>
                </a:solidFill>
                <a:latin typeface="Arial"/>
                <a:ea typeface="Arial"/>
                <a:cs typeface="Arial"/>
              </a:rPr>
              <a:t>21.2% of reviews under 2 hours of play are negative against 8.8% later, and they are 29% of all negatives; inside that window negativity climbs from 11% (under $5) to 32% ($20 or more).</a:t>
            </a:r>
          </a:p>
        </p:txBody>
      </p:sp>
      <p:sp>
        <p:nvSpPr>
          <p:cNvPr id="6" name="">
            <a:extLst xmlns:a="http://schemas.openxmlformats.org/drawingml/2006/main">
              <a:ext uri="{FF2B5EF4-FFF2-40B4-BE49-F238E27FC236}">
                <a16:creationId xmlns:a16="http://schemas.microsoft.com/office/drawing/2014/main" id="{CD68E0AF-687D-43C3-AA48-711AD2792F7A}"/>
              </a:ext>
            </a:extLst>
          </p:cNvPr>
          <p:cNvSpPr>
            <a:spLocks xmlns:a="http://schemas.openxmlformats.org/drawingml/2006/main" noGrp="1"/>
          </p:cNvSpPr>
          <p:nvPr/>
        </p:nvSpPr>
        <p:spPr>
          <a:xfrm xmlns:a="http://schemas.openxmlformats.org/drawingml/2006/main">
            <a:off x="685800" y="5074920"/>
            <a:ext cx="10668000" cy="822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Preparation: </a:t>
            </a:r>
            <a:r>
              <a:rPr sz="1400" b="0">
                <a:solidFill>
                  <a:srgbClr val="233247"/>
                </a:solidFill>
                <a:latin typeface="Arial"/>
                <a:ea typeface="Arial"/>
                <a:cs typeface="Arial"/>
              </a:rPr>
              <a:t>empty reviews dropped, suspicious ones flagged; 439 tag columns reduced to 68 PCA components; review text to TF-IDF and 78 SVD components; all fitted on training games only.</a:t>
            </a:r>
          </a:p>
        </p:txBody>
      </p:sp>
      <p:graphicFrame xmlns:a="http://schemas.openxmlformats.org/drawingml/2006/main">
        <p:nvGraphicFramePr>
          <p:cNvPr id="8" name="Chart 7"/>
          <p:cNvGraphicFramePr>
            <a:graphicFrameLocks noGrp="1"/>
          </p:cNvGraphicFramePr>
          <p:nvPr/>
        </p:nvGraphicFramePr>
        <p:xfrm>
          <a:off x="640080" y="1600200"/>
          <a:ext cx="5394960" cy="2423160"/>
        </p:xfrm>
        <a:graphic>
          <a:graphicData uri="http://schemas.openxmlformats.org/drawingml/2006/chart">
            <c:chart xmlns:c="http://schemas.openxmlformats.org/drawingml/2006/chart" xmlns:r="http://schemas.openxmlformats.org/officeDocument/2006/relationships" r:id="rId3"/>
          </a:graphicData>
        </a:graphic>
      </p:graphicFrame>
      <p:graphicFrame xmlns:a="http://schemas.openxmlformats.org/drawingml/2006/main">
        <p:nvGraphicFramePr>
          <p:cNvPr id="9" name="Chart 8"/>
          <p:cNvGraphicFramePr>
            <a:graphicFrameLocks noGrp="1"/>
          </p:cNvGraphicFramePr>
          <p:nvPr/>
        </p:nvGraphicFramePr>
        <p:xfrm>
          <a:off x="6217920" y="1600200"/>
          <a:ext cx="5394960" cy="24231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28986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D34040-A608-4A4D-9436-08E9A32AB30D}"/>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2</a:t>
            </a:r>
          </a:p>
        </p:txBody>
      </p:sp>
      <p:sp>
        <p:nvSpPr>
          <p:cNvPr id="2" name="">
            <a:extLst xmlns:a="http://schemas.openxmlformats.org/drawingml/2006/main">
              <a:ext uri="{FF2B5EF4-FFF2-40B4-BE49-F238E27FC236}">
                <a16:creationId xmlns:a16="http://schemas.microsoft.com/office/drawing/2014/main" id="{897D50C3-2951-437D-9286-819C0AD2206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Predictive modelling and final evaluation</a:t>
            </a:r>
          </a:p>
        </p:txBody>
      </p:sp>
      <p:sp>
        <p:nvSpPr>
          <p:cNvPr id="3" name="">
            <a:extLst xmlns:a="http://schemas.openxmlformats.org/drawingml/2006/main">
              <a:ext uri="{FF2B5EF4-FFF2-40B4-BE49-F238E27FC236}">
                <a16:creationId xmlns:a16="http://schemas.microsoft.com/office/drawing/2014/main" id="{0D4E2AA2-04B0-4D08-98E4-3A8D9DD5E6B7}"/>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EB38B4C9-2252-4576-AC7F-097E251FCA5B}"/>
              </a:ext>
            </a:extLst>
          </p:cNvPr>
          <p:cNvGraphicFramePr/>
          <p:nvPr/>
        </p:nvGraphicFramePr>
        <p:xfrm>
          <a:off xmlns:a="http://schemas.openxmlformats.org/drawingml/2006/main" x="609600" y="1783080"/>
          <a:ext xmlns:a="http://schemas.openxmlformats.org/drawingml/2006/main" cx="10972800" cy="2377440"/>
        </p:xfrm>
        <a:graphic xmlns:a="http://schemas.openxmlformats.org/drawingml/2006/main">
          <a:graphicData uri="http://schemas.openxmlformats.org/drawingml/2006/table">
            <a:tbl>
              <a:tblPr/>
              <a:tblGrid>
                <a:gridCol w="3566160"/>
                <a:gridCol w="2468880"/>
                <a:gridCol w="2468880"/>
                <a:gridCol w="2468880"/>
              </a:tblGrid>
              <a:tr h="457200">
                <a:tc>
                  <a:txBody>
                    <a:bodyPr wrap="square"/>
                    <a:lstStyle/>
                    <a:p>
                      <a:r>
                        <a:rPr sz="1400" b="1">
                          <a:solidFill>
                            <a:srgbClr val="FFFFFF"/>
                          </a:solidFill>
                          <a:latin typeface="Arial"/>
                          <a:ea typeface="Arial"/>
                          <a:cs typeface="Arial"/>
                        </a:rPr>
                        <a:t>Model</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400" b="1">
                          <a:solidFill>
                            <a:srgbClr val="FFFFFF"/>
                          </a:solidFill>
                          <a:latin typeface="Arial"/>
                          <a:ea typeface="Arial"/>
                          <a:cs typeface="Arial"/>
                        </a:rPr>
                        <a:t>Review PR-AUC</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400" b="1">
                          <a:solidFill>
                            <a:srgbClr val="FFFFFF"/>
                          </a:solidFill>
                          <a:latin typeface="Arial"/>
                          <a:ea typeface="Arial"/>
                          <a:cs typeface="Arial"/>
                        </a:rPr>
                        <a:t>Review ROC-AUC</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400" b="1">
                          <a:solidFill>
                            <a:srgbClr val="FFFFFF"/>
                          </a:solidFill>
                          <a:latin typeface="Arial"/>
                          <a:ea typeface="Arial"/>
                          <a:cs typeface="Arial"/>
                        </a:rPr>
                        <a:t>Game macro-F1</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384048">
                <a:tc>
                  <a:txBody>
                    <a:bodyPr wrap="square"/>
                    <a:lstStyle/>
                    <a:p>
                      <a:r>
                        <a:rPr sz="1400" b="0">
                          <a:solidFill>
                            <a:srgbClr val="233247"/>
                          </a:solidFill>
                          <a:latin typeface="Arial"/>
                          <a:ea typeface="Arial"/>
                          <a:cs typeface="Arial"/>
                        </a:rPr>
                        <a:t>Dummy (prior)</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0.106</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0.500</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0.220</a:t>
                      </a:r>
                    </a:p>
                  </a:txBody>
                  <a:tcPr marL="91440" marR="91440" marT="45720" marB="45720">
                    <a:lnR w="9525">
                      <a:solidFill>
                        <a:srgbClr val="CDD7DF"/>
                      </a:solidFill>
                      <a:prstDash val="solid"/>
                    </a:lnR>
                    <a:lnB w="9525">
                      <a:solidFill>
                        <a:srgbClr val="CDD7DF"/>
                      </a:solidFill>
                      <a:prstDash val="solid"/>
                    </a:lnB>
                    <a:solidFill>
                      <a:srgbClr val="F0F5F7"/>
                    </a:solidFill>
                  </a:tcPr>
                </a:tc>
              </a:tr>
              <a:tr h="384048">
                <a:tc>
                  <a:txBody>
                    <a:bodyPr wrap="square"/>
                    <a:lstStyle/>
                    <a:p>
                      <a:r>
                        <a:rPr sz="1400" b="0">
                          <a:solidFill>
                            <a:srgbClr val="233247"/>
                          </a:solidFill>
                          <a:latin typeface="Arial"/>
                          <a:ea typeface="Arial"/>
                          <a:cs typeface="Arial"/>
                        </a:rPr>
                        <a:t>Logistic Regression</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0.194</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0.663</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0.423</a:t>
                      </a:r>
                    </a:p>
                  </a:txBody>
                  <a:tcPr marL="91440" marR="91440" marT="45720" marB="45720">
                    <a:lnR w="9525">
                      <a:solidFill>
                        <a:srgbClr val="CDD7DF"/>
                      </a:solidFill>
                      <a:prstDash val="solid"/>
                    </a:lnR>
                    <a:lnB w="9525">
                      <a:solidFill>
                        <a:srgbClr val="CDD7DF"/>
                      </a:solidFill>
                      <a:prstDash val="solid"/>
                    </a:lnB>
                    <a:solidFill>
                      <a:srgbClr val="FFFFFF"/>
                    </a:solidFill>
                  </a:tcPr>
                </a:tc>
              </a:tr>
              <a:tr h="384048">
                <a:tc>
                  <a:txBody>
                    <a:bodyPr wrap="square"/>
                    <a:lstStyle/>
                    <a:p>
                      <a:r>
                        <a:rPr sz="1400" b="0">
                          <a:solidFill>
                            <a:srgbClr val="233247"/>
                          </a:solidFill>
                          <a:latin typeface="Arial"/>
                          <a:ea typeface="Arial"/>
                          <a:cs typeface="Arial"/>
                        </a:rPr>
                        <a:t>Random Forest</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0.280</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0.726</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0.371</a:t>
                      </a:r>
                    </a:p>
                  </a:txBody>
                  <a:tcPr marL="91440" marR="91440" marT="45720" marB="45720">
                    <a:lnR w="9525">
                      <a:solidFill>
                        <a:srgbClr val="CDD7DF"/>
                      </a:solidFill>
                      <a:prstDash val="solid"/>
                    </a:lnR>
                    <a:lnB w="9525">
                      <a:solidFill>
                        <a:srgbClr val="CDD7DF"/>
                      </a:solidFill>
                      <a:prstDash val="solid"/>
                    </a:lnB>
                    <a:solidFill>
                      <a:srgbClr val="FFFFFF"/>
                    </a:solidFill>
                  </a:tcPr>
                </a:tc>
              </a:tr>
              <a:tr h="384048">
                <a:tc>
                  <a:txBody>
                    <a:bodyPr wrap="square"/>
                    <a:lstStyle/>
                    <a:p>
                      <a:r>
                        <a:rPr sz="1400" b="0">
                          <a:solidFill>
                            <a:srgbClr val="233247"/>
                          </a:solidFill>
                          <a:latin typeface="Arial"/>
                          <a:ea typeface="Arial"/>
                          <a:cs typeface="Arial"/>
                        </a:rPr>
                        <a:t>LightGBM</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0.254</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0.724</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0.372</a:t>
                      </a:r>
                    </a:p>
                  </a:txBody>
                  <a:tcPr marL="91440" marR="91440" marT="45720" marB="45720">
                    <a:lnR w="9525">
                      <a:solidFill>
                        <a:srgbClr val="CDD7DF"/>
                      </a:solidFill>
                      <a:prstDash val="solid"/>
                    </a:lnR>
                    <a:lnB w="9525">
                      <a:solidFill>
                        <a:srgbClr val="CDD7DF"/>
                      </a:solidFill>
                      <a:prstDash val="solid"/>
                    </a:lnB>
                    <a:solidFill>
                      <a:srgbClr val="FFFFFF"/>
                    </a:solidFill>
                  </a:tcPr>
                </a:tc>
              </a:tr>
              <a:tr h="384048">
                <a:tc>
                  <a:txBody>
                    <a:bodyPr wrap="square"/>
                    <a:lstStyle/>
                    <a:p>
                      <a:r>
                        <a:rPr sz="1400" b="0">
                          <a:solidFill>
                            <a:srgbClr val="233247"/>
                          </a:solidFill>
                          <a:latin typeface="Arial"/>
                          <a:ea typeface="Arial"/>
                          <a:cs typeface="Arial"/>
                        </a:rPr>
                        <a:t>XGBoost</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0.275</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0.729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0.437</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DA00C4-C299-46D2-926D-D007DABEEB54}"/>
              </a:ext>
            </a:extLst>
          </p:cNvPr>
          <p:cNvSpPr>
            <a:spLocks xmlns:a="http://schemas.openxmlformats.org/drawingml/2006/main" noGrp="1"/>
          </p:cNvSpPr>
          <p:nvPr/>
        </p:nvSpPr>
        <p:spPr>
          <a:xfrm xmlns:a="http://schemas.openxmlformats.org/drawingml/2006/main">
            <a:off x="685800" y="434340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300" b="1">
                <a:solidFill>
                  <a:srgbClr val="233247"/>
                </a:solidFill>
                <a:latin typeface="Arial"/>
                <a:ea typeface="Arial"/>
                <a:cs typeface="Arial"/>
              </a:rPr>
              <a:t>Evaluation setup: </a:t>
            </a:r>
            <a:r>
              <a:rPr sz="1300" b="0">
                <a:solidFill>
                  <a:srgbClr val="233247"/>
                </a:solidFill>
                <a:latin typeface="Arial"/>
                <a:ea typeface="Arial"/>
                <a:cs typeface="Arial"/>
              </a:rPr>
              <a:t>review is negative (1,257,095 train and 316,341 test reviews); game tier (1,191 train and 299 test games). Split by game, 5 folds inside train, preprocessing fitted on train, tuned by grid search, test scored once.</a:t>
            </a:r>
          </a:p>
        </p:txBody>
      </p:sp>
      <p:sp>
        <p:nvSpPr>
          <p:cNvPr id="6" name="">
            <a:extLst xmlns:a="http://schemas.openxmlformats.org/drawingml/2006/main">
              <a:ext uri="{FF2B5EF4-FFF2-40B4-BE49-F238E27FC236}">
                <a16:creationId xmlns:a16="http://schemas.microsoft.com/office/drawing/2014/main" id="{C2AB3FF8-F154-49D7-A7C7-108D021980FD}"/>
              </a:ext>
            </a:extLst>
          </p:cNvPr>
          <p:cNvSpPr>
            <a:spLocks xmlns:a="http://schemas.openxmlformats.org/drawingml/2006/main" noGrp="1"/>
          </p:cNvSpPr>
          <p:nvPr/>
        </p:nvSpPr>
        <p:spPr>
          <a:xfrm xmlns:a="http://schemas.openxmlformats.org/drawingml/2006/main">
            <a:off x="685800" y="5257800"/>
            <a:ext cx="1057275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300" b="1">
                <a:solidFill>
                  <a:srgbClr val="233247"/>
                </a:solidFill>
                <a:latin typeface="Arial"/>
                <a:ea typeface="Arial"/>
                <a:cs typeface="Arial"/>
              </a:rPr>
              <a:t>Selected model and interpretation: </a:t>
            </a:r>
            <a:r>
              <a:rPr sz="1300" b="0">
                <a:solidFill>
                  <a:srgbClr val="233247"/>
                </a:solidFill>
                <a:latin typeface="Arial"/>
                <a:ea typeface="Arial"/>
                <a:cs typeface="Arial"/>
              </a:rPr>
              <a:t>the three tree models tie at review level (PR-AUC about 0.28 against 0.11 for guessing) and at game level tuned XGBoost (0.44) and Logistic Regression (0.42) lead, while Random Forest and LightGBM fall to 0.37 on test after tuning (intervals overlap, no winner); store metadata says little about how good a game is.</a:t>
            </a:r>
          </a:p>
        </p:txBody>
      </p:sp>
    </p:spTree>
    <p:extLst>
      <p:ext uri="{BB962C8B-B14F-4D97-AF65-F5344CB8AC3E}">
        <p14:creationId xmlns:p14="http://schemas.microsoft.com/office/powerpoint/2010/main" val="1190559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0A2372-5E66-42DE-8B53-9300E5035622}"/>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22EAF5FB-AC58-4E29-9EA6-A0EA2B8A645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Selected advanced analytics methods</a:t>
            </a:r>
          </a:p>
        </p:txBody>
      </p:sp>
      <p:sp>
        <p:nvSpPr>
          <p:cNvPr id="3" name="">
            <a:extLst xmlns:a="http://schemas.openxmlformats.org/drawingml/2006/main">
              <a:ext uri="{FF2B5EF4-FFF2-40B4-BE49-F238E27FC236}">
                <a16:creationId xmlns:a16="http://schemas.microsoft.com/office/drawing/2014/main" id="{AF2A2B95-75AB-4A68-84B4-6C002BEFE498}"/>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36A543E7-13D8-4126-84D0-9539E1F5455E}"/>
              </a:ext>
            </a:extLst>
          </p:cNvPr>
          <p:cNvGraphicFramePr/>
          <p:nvPr/>
        </p:nvGraphicFramePr>
        <p:xfrm>
          <a:off xmlns:a="http://schemas.openxmlformats.org/drawingml/2006/main" x="609600" y="1828800"/>
          <a:ext xmlns:a="http://schemas.openxmlformats.org/drawingml/2006/main" cx="10972800" cy="2651760"/>
        </p:xfrm>
        <a:graphic xmlns:a="http://schemas.openxmlformats.org/drawingml/2006/main">
          <a:graphicData uri="http://schemas.openxmlformats.org/drawingml/2006/table">
            <a:tbl>
              <a:tblPr/>
              <a:tblGrid>
                <a:gridCol w="3200400"/>
                <a:gridCol w="4206240"/>
                <a:gridCol w="3566160"/>
              </a:tblGrid>
              <a:tr h="457200">
                <a:tc>
                  <a:txBody>
                    <a:bodyPr wrap="square"/>
                    <a:lstStyle/>
                    <a:p>
                      <a:r>
                        <a:rPr sz="1400" b="1">
                          <a:solidFill>
                            <a:srgbClr val="FFFFFF"/>
                          </a:solidFill>
                          <a:latin typeface="Arial"/>
                          <a:ea typeface="Arial"/>
                          <a:cs typeface="Arial"/>
                        </a:rPr>
                        <a:t>Selected method</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400" b="1">
                          <a:solidFill>
                            <a:srgbClr val="FFFFFF"/>
                          </a:solidFill>
                          <a:latin typeface="Arial"/>
                          <a:ea typeface="Arial"/>
                          <a:cs typeface="Arial"/>
                        </a:rPr>
                        <a:t>Business question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400" b="1">
                          <a:solidFill>
                            <a:srgbClr val="FFFFFF"/>
                          </a:solidFill>
                          <a:latin typeface="Arial"/>
                          <a:ea typeface="Arial"/>
                          <a:cs typeface="Arial"/>
                        </a:rPr>
                        <a:t>Data used</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1097280">
                <a:tc>
                  <a:txBody>
                    <a:bodyPr wrap="square"/>
                    <a:lstStyle/>
                    <a:p>
                      <a:r>
                        <a:rPr sz="1400" b="0">
                          <a:solidFill>
                            <a:srgbClr val="233247"/>
                          </a:solidFill>
                          <a:latin typeface="Arial"/>
                          <a:ea typeface="Arial"/>
                          <a:cs typeface="Arial"/>
                        </a:rPr>
                        <a:t>Method 1: Text mining</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What do players complain about, and can the review text flag a negative review?</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400" b="0">
                          <a:solidFill>
                            <a:srgbClr val="233247"/>
                          </a:solidFill>
                          <a:latin typeface="Arial"/>
                          <a:ea typeface="Arial"/>
                          <a:cs typeface="Arial"/>
                        </a:rPr>
                        <a:t>557,202 English reviews: text, playtime, price tier, target</a:t>
                      </a:r>
                    </a:p>
                  </a:txBody>
                  <a:tcPr marL="91440" marR="91440" marT="45720" marB="45720">
                    <a:lnR w="9525">
                      <a:solidFill>
                        <a:srgbClr val="CDD7DF"/>
                      </a:solidFill>
                      <a:prstDash val="solid"/>
                    </a:lnR>
                    <a:lnB w="9525">
                      <a:solidFill>
                        <a:srgbClr val="CDD7DF"/>
                      </a:solidFill>
                      <a:prstDash val="solid"/>
                    </a:lnB>
                    <a:solidFill>
                      <a:srgbClr val="F0F5F7"/>
                    </a:solidFill>
                  </a:tcPr>
                </a:tc>
              </a:tr>
              <a:tr h="1097280">
                <a:tc>
                  <a:txBody>
                    <a:bodyPr wrap="square"/>
                    <a:lstStyle/>
                    <a:p>
                      <a:r>
                        <a:rPr sz="1400" b="0">
                          <a:solidFill>
                            <a:srgbClr val="233247"/>
                          </a:solidFill>
                          <a:latin typeface="Arial"/>
                          <a:ea typeface="Arial"/>
                          <a:cs typeface="Arial"/>
                        </a:rPr>
                        <a:t>Method 2: Association rule mining</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Which tag, price and Early Access combinations go with Strong reception?</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400" b="0">
                          <a:solidFill>
                            <a:srgbClr val="233247"/>
                          </a:solidFill>
                          <a:latin typeface="Arial"/>
                          <a:ea typeface="Arial"/>
                          <a:cs typeface="Arial"/>
                        </a:rPr>
                        <a:t>1,490 games: 137 items (tags, price band, Early Access) and tiers</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6D661E-F7DF-42DC-BD9B-EDE438C1C04A}"/>
              </a:ext>
            </a:extLst>
          </p:cNvPr>
          <p:cNvSpPr>
            <a:spLocks xmlns:a="http://schemas.openxmlformats.org/drawingml/2006/main" noGrp="1"/>
          </p:cNvSpPr>
          <p:nvPr/>
        </p:nvSpPr>
        <p:spPr>
          <a:xfrm xmlns:a="http://schemas.openxmlformats.org/drawingml/2006/main">
            <a:off x="685800" y="457200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7A80"/>
                </a:solidFill>
                <a:latin typeface="Arial"/>
                <a:ea typeface="Arial"/>
                <a:cs typeface="Arial"/>
              </a:defRPr>
            </a:defPPr>
          </a:lstStyle>
          <a:p xmlns:a="http://schemas.openxmlformats.org/drawingml/2006/main">
            <a:pPr>
              <a:defRPr sz="1875" b="1">
                <a:solidFill>
                  <a:srgbClr val="157A80"/>
                </a:solidFill>
                <a:latin typeface="Arial"/>
                <a:ea typeface="Arial"/>
                <a:cs typeface="Arial"/>
              </a:defRPr>
            </a:pPr>
            <a:r>
              <a:rPr sz="1600" b="1">
                <a:solidFill>
                  <a:srgbClr val="157A80"/>
                </a:solidFill>
                <a:latin typeface="Arial"/>
                <a:ea typeface="Arial"/>
                <a:cs typeface="Arial"/>
              </a:rPr>
              <a:t>Selected: Text Mining and Association Rule Mining. Patch impact and the launch-risk scorer are extra analyses.</a:t>
            </a:r>
          </a:p>
        </p:txBody>
      </p:sp>
    </p:spTree>
    <p:extLst>
      <p:ext uri="{BB962C8B-B14F-4D97-AF65-F5344CB8AC3E}">
        <p14:creationId xmlns:p14="http://schemas.microsoft.com/office/powerpoint/2010/main" val="12370993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69BBDF-8FEE-4A35-9821-C8CF275E386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FD2BBE01-1719-4C72-B8A4-45DC27F96536}"/>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1 implementation</a:t>
            </a:r>
          </a:p>
        </p:txBody>
      </p:sp>
      <p:sp>
        <p:nvSpPr>
          <p:cNvPr id="3" name="">
            <a:extLst xmlns:a="http://schemas.openxmlformats.org/drawingml/2006/main">
              <a:ext uri="{FF2B5EF4-FFF2-40B4-BE49-F238E27FC236}">
                <a16:creationId xmlns:a16="http://schemas.microsoft.com/office/drawing/2014/main" id="{0FA7164B-B878-4DBD-809C-47ABFBDCAF5D}"/>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B13C200-B169-49BC-BF61-D922B846709E}"/>
              </a:ext>
            </a:extLst>
          </p:cNvPr>
          <p:cNvSpPr>
            <a:spLocks xmlns:a="http://schemas.openxmlformats.org/drawingml/2006/main" noGrp="1"/>
          </p:cNvSpPr>
          <p:nvPr/>
        </p:nvSpPr>
        <p:spPr>
          <a:xfrm xmlns:a="http://schemas.openxmlformats.org/drawingml/2006/main">
            <a:off x="685800" y="1783080"/>
            <a:ext cx="10668000" cy="640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Selected method: </a:t>
            </a:r>
            <a:r>
              <a:rPr sz="1500" b="0">
                <a:solidFill>
                  <a:srgbClr val="233247"/>
                </a:solidFill>
                <a:latin typeface="Arial"/>
                <a:ea typeface="Arial"/>
                <a:cs typeface="Arial"/>
              </a:rPr>
              <a:t>Text mining, to find complaint themes and to flag negative reviews from their own words.</a:t>
            </a:r>
          </a:p>
        </p:txBody>
      </p:sp>
      <p:sp>
        <p:nvSpPr>
          <p:cNvPr id="5" name="">
            <a:extLst xmlns:a="http://schemas.openxmlformats.org/drawingml/2006/main">
              <a:ext uri="{FF2B5EF4-FFF2-40B4-BE49-F238E27FC236}">
                <a16:creationId xmlns:a16="http://schemas.microsoft.com/office/drawing/2014/main" id="{54E5F75A-D3D1-435A-BCBD-8F48202A6F65}"/>
              </a:ext>
            </a:extLst>
          </p:cNvPr>
          <p:cNvSpPr>
            <a:spLocks xmlns:a="http://schemas.openxmlformats.org/drawingml/2006/main" noGrp="1"/>
          </p:cNvSpPr>
          <p:nvPr/>
        </p:nvSpPr>
        <p:spPr>
          <a:xfrm xmlns:a="http://schemas.openxmlformats.org/drawingml/2006/main">
            <a:off x="685800" y="251460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Input and preparation: </a:t>
            </a:r>
            <a:r>
              <a:rPr sz="1400" b="0">
                <a:solidFill>
                  <a:srgbClr val="233247"/>
                </a:solidFill>
                <a:latin typeface="Arial"/>
                <a:ea typeface="Arial"/>
                <a:cs typeface="Arial"/>
              </a:rPr>
              <a:t>English reviews only (557,202 after script and language filters); negation binding (not_fun, too_hard); stopwords; TF-IDF with 1 to 2 word groups and 100,000 terms; 78 SVD components for the compact model.</a:t>
            </a:r>
          </a:p>
        </p:txBody>
      </p:sp>
      <p:sp>
        <p:nvSpPr>
          <p:cNvPr id="6" name="">
            <a:extLst xmlns:a="http://schemas.openxmlformats.org/drawingml/2006/main">
              <a:ext uri="{FF2B5EF4-FFF2-40B4-BE49-F238E27FC236}">
                <a16:creationId xmlns:a16="http://schemas.microsoft.com/office/drawing/2014/main" id="{4695D477-8E18-4ECE-A35E-8096C2E64517}"/>
              </a:ext>
            </a:extLst>
          </p:cNvPr>
          <p:cNvSpPr>
            <a:spLocks xmlns:a="http://schemas.openxmlformats.org/drawingml/2006/main" noGrp="1"/>
          </p:cNvSpPr>
          <p:nvPr/>
        </p:nvSpPr>
        <p:spPr>
          <a:xfrm xmlns:a="http://schemas.openxmlformats.org/drawingml/2006/main">
            <a:off x="685800" y="361188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Implementation: </a:t>
            </a:r>
            <a:r>
              <a:rPr sz="1400" b="0">
                <a:solidFill>
                  <a:srgbClr val="233247"/>
                </a:solidFill>
                <a:latin typeface="Arial"/>
                <a:ea typeface="Arial"/>
                <a:cs typeface="Arial"/>
              </a:rPr>
              <a:t>(a) Logistic Regression on TF-IDF, grid search over 30 settings, threshold from out-of-fold predictions; (b) NMF topic model, 8 topics, on 40,000 negative training reviews, with LDA as the baseline (scikit-learn).</a:t>
            </a:r>
          </a:p>
        </p:txBody>
      </p:sp>
      <p:sp>
        <p:nvSpPr>
          <p:cNvPr id="7" name="">
            <a:extLst xmlns:a="http://schemas.openxmlformats.org/drawingml/2006/main">
              <a:ext uri="{FF2B5EF4-FFF2-40B4-BE49-F238E27FC236}">
                <a16:creationId xmlns:a16="http://schemas.microsoft.com/office/drawing/2014/main" id="{CFE21DF4-4D18-4483-A88C-629FCF536B12}"/>
              </a:ext>
            </a:extLst>
          </p:cNvPr>
          <p:cNvSpPr>
            <a:spLocks xmlns:a="http://schemas.openxmlformats.org/drawingml/2006/main" noGrp="1"/>
          </p:cNvSpPr>
          <p:nvPr/>
        </p:nvSpPr>
        <p:spPr>
          <a:xfrm xmlns:a="http://schemas.openxmlformats.org/drawingml/2006/main">
            <a:off x="685800" y="4709160"/>
            <a:ext cx="10668000" cy="1097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Output: </a:t>
            </a:r>
            <a:r>
              <a:rPr sz="1400" b="0">
                <a:solidFill>
                  <a:srgbClr val="233247"/>
                </a:solidFill>
                <a:latin typeface="Arial"/>
                <a:ea typeface="Arial"/>
                <a:cs typeface="Arial"/>
              </a:rPr>
              <a:t>a negative-review detector (PR-AUC 0.84, ROC-AUC 0.97, accuracy 94.6%) and 8 complaint themes: crashes and multiplayer bugs lead early (29%), boss and balance later (34%); “boring” is in 9.1% of negative reviews against 0.8% of positive ones.</a:t>
            </a:r>
          </a:p>
        </p:txBody>
      </p:sp>
    </p:spTree>
    <p:extLst>
      <p:ext uri="{BB962C8B-B14F-4D97-AF65-F5344CB8AC3E}">
        <p14:creationId xmlns:p14="http://schemas.microsoft.com/office/powerpoint/2010/main" val="680234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A0D3AE-4AF7-4CC4-8F37-1474DB9B9BA5}"/>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8BB2EEA-EA2C-4AF7-AF01-C4956469B876}"/>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1 evaluation and comparison</a:t>
            </a:r>
          </a:p>
        </p:txBody>
      </p:sp>
      <p:sp>
        <p:nvSpPr>
          <p:cNvPr id="3" name="">
            <a:extLst xmlns:a="http://schemas.openxmlformats.org/drawingml/2006/main">
              <a:ext uri="{FF2B5EF4-FFF2-40B4-BE49-F238E27FC236}">
                <a16:creationId xmlns:a16="http://schemas.microsoft.com/office/drawing/2014/main" id="{8695F8C2-A08E-4AA5-A111-378AE00DBA0C}"/>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664F9693-7496-4F1A-816E-0D86D969D454}"/>
              </a:ext>
            </a:extLst>
          </p:cNvPr>
          <p:cNvGraphicFramePr/>
          <p:nvPr/>
        </p:nvGraphicFramePr>
        <p:xfrm>
          <a:off xmlns:a="http://schemas.openxmlformats.org/drawingml/2006/main" x="609600" y="1737360"/>
          <a:ext xmlns:a="http://schemas.openxmlformats.org/drawingml/2006/main" cx="10972800" cy="2103120"/>
        </p:xfrm>
        <a:graphic xmlns:a="http://schemas.openxmlformats.org/drawingml/2006/main">
          <a:graphicData uri="http://schemas.openxmlformats.org/drawingml/2006/table">
            <a:tbl>
              <a:tblPr/>
              <a:tblGrid>
                <a:gridCol w="4389120"/>
                <a:gridCol w="2651760"/>
                <a:gridCol w="2103120"/>
                <a:gridCol w="1828800"/>
              </a:tblGrid>
              <a:tr h="457200">
                <a:tc>
                  <a:txBody>
                    <a:bodyPr wrap="square"/>
                    <a:lstStyle/>
                    <a:p>
                      <a:r>
                        <a:rPr sz="1300" b="1">
                          <a:solidFill>
                            <a:srgbClr val="FFFFFF"/>
                          </a:solidFill>
                          <a:latin typeface="Arial"/>
                          <a:ea typeface="Arial"/>
                          <a:cs typeface="Arial"/>
                        </a:rPr>
                        <a:t>Approach</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300" b="1">
                          <a:solidFill>
                            <a:srgbClr val="FFFFFF"/>
                          </a:solidFill>
                          <a:latin typeface="Arial"/>
                          <a:ea typeface="Arial"/>
                          <a:cs typeface="Arial"/>
                        </a:rPr>
                        <a:t>PR-AUC / ROC-AUC (test)</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300" b="1">
                          <a:solidFill>
                            <a:srgbClr val="FFFFFF"/>
                          </a:solidFill>
                          <a:latin typeface="Arial"/>
                          <a:ea typeface="Arial"/>
                          <a:cs typeface="Arial"/>
                        </a:rPr>
                        <a:t>Precision / recall</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300" b="1">
                          <a:solidFill>
                            <a:srgbClr val="FFFFFF"/>
                          </a:solidFill>
                          <a:latin typeface="Arial"/>
                          <a:ea typeface="Arial"/>
                          <a:cs typeface="Arial"/>
                        </a:rPr>
                        <a:t>F1</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411480">
                <a:tc>
                  <a:txBody>
                    <a:bodyPr wrap="square"/>
                    <a:lstStyle/>
                    <a:p>
                      <a:r>
                        <a:rPr sz="1300" b="0">
                          <a:solidFill>
                            <a:srgbClr val="233247"/>
                          </a:solidFill>
                          <a:latin typeface="Arial"/>
                          <a:ea typeface="Arial"/>
                          <a:cs typeface="Arial"/>
                        </a:rPr>
                        <a:t>Dummy (prior)</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300" b="0">
                          <a:solidFill>
                            <a:srgbClr val="233247"/>
                          </a:solidFill>
                          <a:latin typeface="Arial"/>
                          <a:ea typeface="Arial"/>
                          <a:cs typeface="Arial"/>
                        </a:rPr>
                        <a:t>0.115  /  0.500</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300" b="0">
                          <a:solidFill>
                            <a:srgbClr val="233247"/>
                          </a:solidFill>
                          <a:latin typeface="Arial"/>
                          <a:ea typeface="Arial"/>
                          <a:cs typeface="Arial"/>
                        </a:rPr>
                        <a:t>0.12 / 1.00</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300" b="0">
                          <a:solidFill>
                            <a:srgbClr val="233247"/>
                          </a:solidFill>
                          <a:latin typeface="Arial"/>
                          <a:ea typeface="Arial"/>
                          <a:cs typeface="Arial"/>
                        </a:rPr>
                        <a:t>0.21</a:t>
                      </a:r>
                    </a:p>
                  </a:txBody>
                  <a:tcPr marL="91440" marR="91440" marT="45720" marB="45720">
                    <a:lnR w="9525">
                      <a:solidFill>
                        <a:srgbClr val="CDD7DF"/>
                      </a:solidFill>
                      <a:prstDash val="solid"/>
                    </a:lnR>
                    <a:lnB w="9525">
                      <a:solidFill>
                        <a:srgbClr val="CDD7DF"/>
                      </a:solidFill>
                      <a:prstDash val="solid"/>
                    </a:lnB>
                    <a:solidFill>
                      <a:srgbClr val="F0F5F7"/>
                    </a:solidFill>
                  </a:tcPr>
                </a:tc>
              </a:tr>
              <a:tr h="411480">
                <a:tc>
                  <a:txBody>
                    <a:bodyPr wrap="square"/>
                    <a:lstStyle/>
                    <a:p>
                      <a:r>
                        <a:rPr sz="1300" b="0">
                          <a:solidFill>
                            <a:srgbClr val="233247"/>
                          </a:solidFill>
                          <a:latin typeface="Arial"/>
                          <a:ea typeface="Arial"/>
                          <a:cs typeface="Arial"/>
                        </a:rPr>
                        <a:t>LightGBM, metadata only</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0.360  /  0.758</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0.32 / 0.49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0.39</a:t>
                      </a:r>
                    </a:p>
                  </a:txBody>
                  <a:tcPr marL="91440" marR="91440" marT="45720" marB="45720">
                    <a:lnR w="9525">
                      <a:solidFill>
                        <a:srgbClr val="CDD7DF"/>
                      </a:solidFill>
                      <a:prstDash val="solid"/>
                    </a:lnR>
                    <a:lnB w="9525">
                      <a:solidFill>
                        <a:srgbClr val="CDD7DF"/>
                      </a:solidFill>
                      <a:prstDash val="solid"/>
                    </a:lnB>
                    <a:solidFill>
                      <a:srgbClr val="FFFFFF"/>
                    </a:solidFill>
                  </a:tcPr>
                </a:tc>
              </a:tr>
              <a:tr h="411480">
                <a:tc>
                  <a:txBody>
                    <a:bodyPr wrap="square"/>
                    <a:lstStyle/>
                    <a:p>
                      <a:r>
                        <a:rPr sz="1300" b="0">
                          <a:solidFill>
                            <a:srgbClr val="233247"/>
                          </a:solidFill>
                          <a:latin typeface="Arial"/>
                          <a:ea typeface="Arial"/>
                          <a:cs typeface="Arial"/>
                        </a:rPr>
                        <a:t>LightGBM, metadata + text components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0.593  /  0.895</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0.52 / 0.62</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0.56</a:t>
                      </a:r>
                    </a:p>
                  </a:txBody>
                  <a:tcPr marL="91440" marR="91440" marT="45720" marB="45720">
                    <a:lnR w="9525">
                      <a:solidFill>
                        <a:srgbClr val="CDD7DF"/>
                      </a:solidFill>
                      <a:prstDash val="solid"/>
                    </a:lnR>
                    <a:lnB w="9525">
                      <a:solidFill>
                        <a:srgbClr val="CDD7DF"/>
                      </a:solidFill>
                      <a:prstDash val="solid"/>
                    </a:lnB>
                    <a:solidFill>
                      <a:srgbClr val="FFFFFF"/>
                    </a:solidFill>
                  </a:tcPr>
                </a:tc>
              </a:tr>
              <a:tr h="411480">
                <a:tc>
                  <a:txBody>
                    <a:bodyPr wrap="square"/>
                    <a:lstStyle/>
                    <a:p>
                      <a:r>
                        <a:rPr sz="1300" b="0">
                          <a:solidFill>
                            <a:srgbClr val="233247"/>
                          </a:solidFill>
                          <a:latin typeface="Arial"/>
                          <a:ea typeface="Arial"/>
                          <a:cs typeface="Arial"/>
                        </a:rPr>
                        <a:t>Logistic Regression, full text + metadata</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0.838  /  0.971</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0.75 / 0.79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300" b="0">
                          <a:solidFill>
                            <a:srgbClr val="233247"/>
                          </a:solidFill>
                          <a:latin typeface="Arial"/>
                          <a:ea typeface="Arial"/>
                          <a:cs typeface="Arial"/>
                        </a:rPr>
                        <a:t>0.77</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7D322C2-0A52-4759-AAEB-4AE4EA38E33E}"/>
              </a:ext>
            </a:extLst>
          </p:cNvPr>
          <p:cNvSpPr>
            <a:spLocks xmlns:a="http://schemas.openxmlformats.org/drawingml/2006/main" noGrp="1"/>
          </p:cNvSpPr>
          <p:nvPr/>
        </p:nvSpPr>
        <p:spPr>
          <a:xfrm xmlns:a="http://schemas.openxmlformats.org/drawingml/2006/main">
            <a:off x="685800" y="3977639"/>
            <a:ext cx="10572750" cy="12801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200" b="1">
                <a:solidFill>
                  <a:srgbClr val="233247"/>
                </a:solidFill>
                <a:latin typeface="Arial"/>
                <a:ea typeface="Arial"/>
                <a:cs typeface="Arial"/>
              </a:rPr>
              <a:t>Evaluation data: </a:t>
            </a:r>
            <a:r>
              <a:rPr sz="1200" b="0">
                <a:solidFill>
                  <a:srgbClr val="233247"/>
                </a:solidFill>
                <a:latin typeface="Arial"/>
                <a:ea typeface="Arial"/>
                <a:cs typeface="Arial"/>
              </a:rPr>
              <a:t>120,487 English test reviews from games never seen in training. Confusion matrix of the selected model: 10,980 negatives caught, 2,893 missed, 3,607 false alarms, 103,007 correct positives; accuracy 94.6% against 88.5% for always guessing positive. Topics: NMF diversity 90.0% against 86.25% for LDA, coherence -2.380 against -1.732 (LDA better), stability 0.745.</a:t>
            </a:r>
          </a:p>
        </p:txBody>
      </p:sp>
      <p:sp>
        <p:nvSpPr>
          <p:cNvPr id="6" name="">
            <a:extLst xmlns:a="http://schemas.openxmlformats.org/drawingml/2006/main">
              <a:ext uri="{FF2B5EF4-FFF2-40B4-BE49-F238E27FC236}">
                <a16:creationId xmlns:a16="http://schemas.microsoft.com/office/drawing/2014/main" id="{55789FB3-CBB4-4A8A-A567-D7BA9CB667B9}"/>
              </a:ext>
            </a:extLst>
          </p:cNvPr>
          <p:cNvSpPr>
            <a:spLocks xmlns:a="http://schemas.openxmlformats.org/drawingml/2006/main" noGrp="1"/>
          </p:cNvSpPr>
          <p:nvPr/>
        </p:nvSpPr>
        <p:spPr>
          <a:xfrm xmlns:a="http://schemas.openxmlformats.org/drawingml/2006/main">
            <a:off x="685800" y="534924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200" b="1">
                <a:solidFill>
                  <a:srgbClr val="233247"/>
                </a:solidFill>
                <a:latin typeface="Arial"/>
                <a:ea typeface="Arial"/>
                <a:cs typeface="Arial"/>
              </a:rPr>
              <a:t>Interpretation: </a:t>
            </a:r>
            <a:r>
              <a:rPr sz="1200" b="0">
                <a:solidFill>
                  <a:srgbClr val="233247"/>
                </a:solidFill>
                <a:latin typeface="Arial"/>
                <a:ea typeface="Arial"/>
                <a:cs typeface="Arial"/>
              </a:rPr>
              <a:t>the full text model is selected: ROC-AUC 0.971 (per-game 0.976) against 0.758 for metadata alone, and PR-AUC 0.838 against 0.360. It detects, it does not forecast. A blind check of 200 reviews (labelled by an AI assistant) agrees with the topics on 35.5%: only the Early Access, repetition and crash topics are reliable.</a:t>
            </a:r>
          </a:p>
        </p:txBody>
      </p:sp>
    </p:spTree>
    <p:extLst>
      <p:ext uri="{BB962C8B-B14F-4D97-AF65-F5344CB8AC3E}">
        <p14:creationId xmlns:p14="http://schemas.microsoft.com/office/powerpoint/2010/main" val="20558782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0E9F37-639D-4246-AF3B-4C040AF937E8}"/>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B39A008-B14A-400A-B17C-5ACE4BE13EF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2 implementation</a:t>
            </a:r>
          </a:p>
        </p:txBody>
      </p:sp>
      <p:sp>
        <p:nvSpPr>
          <p:cNvPr id="3" name="">
            <a:extLst xmlns:a="http://schemas.openxmlformats.org/drawingml/2006/main">
              <a:ext uri="{FF2B5EF4-FFF2-40B4-BE49-F238E27FC236}">
                <a16:creationId xmlns:a16="http://schemas.microsoft.com/office/drawing/2014/main" id="{400AEDA9-D1EF-49B0-8EC7-EB9C731CAF80}"/>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6D144C8-4E31-4C1F-8148-17B4DBCE0DA2}"/>
              </a:ext>
            </a:extLst>
          </p:cNvPr>
          <p:cNvSpPr>
            <a:spLocks xmlns:a="http://schemas.openxmlformats.org/drawingml/2006/main" noGrp="1"/>
          </p:cNvSpPr>
          <p:nvPr/>
        </p:nvSpPr>
        <p:spPr>
          <a:xfrm xmlns:a="http://schemas.openxmlformats.org/drawingml/2006/main">
            <a:off x="685800" y="1783080"/>
            <a:ext cx="10668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500" b="1">
                <a:solidFill>
                  <a:srgbClr val="233247"/>
                </a:solidFill>
                <a:latin typeface="Arial"/>
                <a:ea typeface="Arial"/>
                <a:cs typeface="Arial"/>
              </a:rPr>
              <a:t>Selected method: </a:t>
            </a:r>
            <a:r>
              <a:rPr sz="1500" b="0">
                <a:solidFill>
                  <a:srgbClr val="233247"/>
                </a:solidFill>
                <a:latin typeface="Arial"/>
                <a:ea typeface="Arial"/>
                <a:cs typeface="Arial"/>
              </a:rPr>
              <a:t>Association rule mining with FP-Growth, to find tag, price and Early Access combinations that go with the Strong tier.</a:t>
            </a:r>
          </a:p>
        </p:txBody>
      </p:sp>
      <p:sp>
        <p:nvSpPr>
          <p:cNvPr id="5" name="">
            <a:extLst xmlns:a="http://schemas.openxmlformats.org/drawingml/2006/main">
              <a:ext uri="{FF2B5EF4-FFF2-40B4-BE49-F238E27FC236}">
                <a16:creationId xmlns:a16="http://schemas.microsoft.com/office/drawing/2014/main" id="{0C0900EB-1B60-44F0-8102-7BBACAA3517F}"/>
              </a:ext>
            </a:extLst>
          </p:cNvPr>
          <p:cNvSpPr>
            <a:spLocks xmlns:a="http://schemas.openxmlformats.org/drawingml/2006/main" noGrp="1"/>
          </p:cNvSpPr>
          <p:nvPr/>
        </p:nvSpPr>
        <p:spPr>
          <a:xfrm xmlns:a="http://schemas.openxmlformats.org/drawingml/2006/main">
            <a:off x="685800" y="260604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Input and preparation: </a:t>
            </a:r>
            <a:r>
              <a:rPr sz="1400" b="0">
                <a:solidFill>
                  <a:srgbClr val="233247"/>
                </a:solidFill>
                <a:latin typeface="Arial"/>
                <a:ea typeface="Arial"/>
                <a:cs typeface="Arial"/>
              </a:rPr>
              <a:t>transactions = the 1,191 training games, each a set of items: user tags (without after-play opinion tags such as Great Soundtrack), price band and Early Access; 137 items; Strong is the tier for 35.3% of training games.</a:t>
            </a:r>
          </a:p>
        </p:txBody>
      </p:sp>
      <p:sp>
        <p:nvSpPr>
          <p:cNvPr id="6" name="">
            <a:extLst xmlns:a="http://schemas.openxmlformats.org/drawingml/2006/main">
              <a:ext uri="{FF2B5EF4-FFF2-40B4-BE49-F238E27FC236}">
                <a16:creationId xmlns:a16="http://schemas.microsoft.com/office/drawing/2014/main" id="{878C613F-0AE4-461E-A735-039F81AECD9D}"/>
              </a:ext>
            </a:extLst>
          </p:cNvPr>
          <p:cNvSpPr>
            <a:spLocks xmlns:a="http://schemas.openxmlformats.org/drawingml/2006/main" noGrp="1"/>
          </p:cNvSpPr>
          <p:nvPr/>
        </p:nvSpPr>
        <p:spPr>
          <a:xfrm xmlns:a="http://schemas.openxmlformats.org/drawingml/2006/main">
            <a:off x="685800" y="370332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Implementation: </a:t>
            </a:r>
            <a:r>
              <a:rPr sz="1400" b="0">
                <a:solidFill>
                  <a:srgbClr val="233247"/>
                </a:solidFill>
                <a:latin typeface="Arial"/>
                <a:ea typeface="Arial"/>
                <a:cs typeface="Arial"/>
              </a:rPr>
              <a:t>mlxtend FP-Growth, minimum support 25 games, up to 3 items, at least 10 hits, lift at least 1.2, Benjamini-Hochberg q below 0.10; each rule is then checked once on the 299 test games (at least 10 test games to count).</a:t>
            </a:r>
          </a:p>
        </p:txBody>
      </p:sp>
      <p:sp>
        <p:nvSpPr>
          <p:cNvPr id="7" name="">
            <a:extLst xmlns:a="http://schemas.openxmlformats.org/drawingml/2006/main">
              <a:ext uri="{FF2B5EF4-FFF2-40B4-BE49-F238E27FC236}">
                <a16:creationId xmlns:a16="http://schemas.microsoft.com/office/drawing/2014/main" id="{8204A492-FAC6-4974-8483-659032AA8362}"/>
              </a:ext>
            </a:extLst>
          </p:cNvPr>
          <p:cNvSpPr>
            <a:spLocks xmlns:a="http://schemas.openxmlformats.org/drawingml/2006/main" noGrp="1"/>
          </p:cNvSpPr>
          <p:nvPr/>
        </p:nvSpPr>
        <p:spPr>
          <a:xfrm xmlns:a="http://schemas.openxmlformats.org/drawingml/2006/main">
            <a:off x="685800" y="480060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Output: </a:t>
            </a:r>
            <a:r>
              <a:rPr sz="1400" b="0">
                <a:solidFill>
                  <a:srgbClr val="233247"/>
                </a:solidFill>
                <a:latin typeface="Arial"/>
                <a:ea typeface="Arial"/>
                <a:cs typeface="Arial"/>
              </a:rPr>
              <a:t>4,715 candidate rules, 95 Strong rules pass, 0 Struggling rules. Top rule: Pixel Graphics + Retro + Shooter, 25 games, 80% Strong (lift 2.26), 3 of 4 test games Strong.</a:t>
            </a:r>
          </a:p>
        </p:txBody>
      </p:sp>
    </p:spTree>
    <p:extLst>
      <p:ext uri="{BB962C8B-B14F-4D97-AF65-F5344CB8AC3E}">
        <p14:creationId xmlns:p14="http://schemas.microsoft.com/office/powerpoint/2010/main" val="14430134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058891-18A5-414B-856B-FE11F25A696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83AB2B7-C380-4333-8683-F6BBF01123F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2 evaluation and comparison</a:t>
            </a:r>
          </a:p>
        </p:txBody>
      </p:sp>
      <p:sp>
        <p:nvSpPr>
          <p:cNvPr id="3" name="">
            <a:extLst xmlns:a="http://schemas.openxmlformats.org/drawingml/2006/main">
              <a:ext uri="{FF2B5EF4-FFF2-40B4-BE49-F238E27FC236}">
                <a16:creationId xmlns:a16="http://schemas.microsoft.com/office/drawing/2014/main" id="{5260EA7B-3BBC-4C86-9EB4-FC754B5614C4}"/>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E7A23880-1490-47B2-AD56-821CBFA136CC}"/>
              </a:ext>
            </a:extLst>
          </p:cNvPr>
          <p:cNvGraphicFramePr/>
          <p:nvPr/>
        </p:nvGraphicFramePr>
        <p:xfrm>
          <a:off xmlns:a="http://schemas.openxmlformats.org/drawingml/2006/main" x="609600" y="1691640"/>
          <a:ext xmlns:a="http://schemas.openxmlformats.org/drawingml/2006/main" cx="10972800" cy="2651760"/>
        </p:xfrm>
        <a:graphic xmlns:a="http://schemas.openxmlformats.org/drawingml/2006/main">
          <a:graphicData uri="http://schemas.openxmlformats.org/drawingml/2006/table">
            <a:tbl>
              <a:tblPr/>
              <a:tblGrid>
                <a:gridCol w="4754880"/>
                <a:gridCol w="1828800"/>
                <a:gridCol w="2194560"/>
                <a:gridCol w="2194560"/>
              </a:tblGrid>
              <a:tr h="457200">
                <a:tc>
                  <a:txBody>
                    <a:bodyPr wrap="square"/>
                    <a:lstStyle/>
                    <a:p>
                      <a:r>
                        <a:rPr sz="1200" b="1">
                          <a:solidFill>
                            <a:srgbClr val="FFFFFF"/>
                          </a:solidFill>
                          <a:latin typeface="Arial"/>
                          <a:ea typeface="Arial"/>
                          <a:cs typeface="Arial"/>
                        </a:rPr>
                        <a:t>Configuration</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Strong rules (FDR)</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Mean confidence / lift</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200" b="1">
                          <a:solidFill>
                            <a:srgbClr val="FFFFFF"/>
                          </a:solidFill>
                          <a:latin typeface="Arial"/>
                          <a:ea typeface="Arial"/>
                          <a:cs typeface="Arial"/>
                        </a:rPr>
                        <a:t>Hold on test games</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365760">
                <a:tc>
                  <a:txBody>
                    <a:bodyPr wrap="square"/>
                    <a:lstStyle/>
                    <a:p>
                      <a:r>
                        <a:rPr sz="1200" b="0">
                          <a:solidFill>
                            <a:srgbClr val="233247"/>
                          </a:solidFill>
                          <a:latin typeface="Arial"/>
                          <a:ea typeface="Arial"/>
                          <a:cs typeface="Arial"/>
                        </a:rPr>
                        <a:t>FP-Growth, support 25, up to 3 items (chosen)</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95</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0.59 / 1.68</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200" b="0">
                          <a:solidFill>
                            <a:srgbClr val="233247"/>
                          </a:solidFill>
                          <a:latin typeface="Arial"/>
                          <a:ea typeface="Arial"/>
                          <a:cs typeface="Arial"/>
                        </a:rPr>
                        <a:t>68% of 66</a:t>
                      </a:r>
                    </a:p>
                  </a:txBody>
                  <a:tcPr marL="91440" marR="91440" marT="45720" marB="45720">
                    <a:lnR w="9525">
                      <a:solidFill>
                        <a:srgbClr val="CDD7DF"/>
                      </a:solidFill>
                      <a:prstDash val="solid"/>
                    </a:lnR>
                    <a:lnB w="9525">
                      <a:solidFill>
                        <a:srgbClr val="CDD7DF"/>
                      </a:solidFill>
                      <a:prstDash val="solid"/>
                    </a:lnB>
                    <a:solidFill>
                      <a:srgbClr val="F0F5F7"/>
                    </a:solidFill>
                  </a:tcPr>
                </a:tc>
              </a:tr>
              <a:tr h="365760">
                <a:tc>
                  <a:txBody>
                    <a:bodyPr wrap="square"/>
                    <a:lstStyle/>
                    <a:p>
                      <a:r>
                        <a:rPr sz="1200" b="0">
                          <a:solidFill>
                            <a:srgbClr val="233247"/>
                          </a:solidFill>
                          <a:latin typeface="Arial"/>
                          <a:ea typeface="Arial"/>
                          <a:cs typeface="Arial"/>
                        </a:rPr>
                        <a:t>Apriori, same thresholds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95</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0.59 / 1.68</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68% of 66</a:t>
                      </a:r>
                    </a:p>
                  </a:txBody>
                  <a:tcPr marL="91440" marR="91440" marT="45720" marB="45720">
                    <a:lnR w="9525">
                      <a:solidFill>
                        <a:srgbClr val="CDD7DF"/>
                      </a:solidFill>
                      <a:prstDash val="solid"/>
                    </a:lnR>
                    <a:lnB w="9525">
                      <a:solidFill>
                        <a:srgbClr val="CDD7DF"/>
                      </a:solidFill>
                      <a:prstDash val="solid"/>
                    </a:lnB>
                    <a:solidFill>
                      <a:srgbClr val="FFFFFF"/>
                    </a:solidFill>
                  </a:tcPr>
                </a:tc>
              </a:tr>
              <a:tr h="365760">
                <a:tc>
                  <a:txBody>
                    <a:bodyPr wrap="square"/>
                    <a:lstStyle/>
                    <a:p>
                      <a:r>
                        <a:rPr sz="1200" b="0">
                          <a:solidFill>
                            <a:srgbClr val="233247"/>
                          </a:solidFill>
                          <a:latin typeface="Arial"/>
                          <a:ea typeface="Arial"/>
                          <a:cs typeface="Arial"/>
                        </a:rPr>
                        <a:t>FP-Growth, support 15 (looser)</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107</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0.65 / 1.85</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66% of 56</a:t>
                      </a:r>
                    </a:p>
                  </a:txBody>
                  <a:tcPr marL="91440" marR="91440" marT="45720" marB="45720">
                    <a:lnR w="9525">
                      <a:solidFill>
                        <a:srgbClr val="CDD7DF"/>
                      </a:solidFill>
                      <a:prstDash val="solid"/>
                    </a:lnR>
                    <a:lnB w="9525">
                      <a:solidFill>
                        <a:srgbClr val="CDD7DF"/>
                      </a:solidFill>
                      <a:prstDash val="solid"/>
                    </a:lnB>
                    <a:solidFill>
                      <a:srgbClr val="FFFFFF"/>
                    </a:solidFill>
                  </a:tcPr>
                </a:tc>
              </a:tr>
              <a:tr h="365760">
                <a:tc>
                  <a:txBody>
                    <a:bodyPr wrap="square"/>
                    <a:lstStyle/>
                    <a:p>
                      <a:r>
                        <a:rPr sz="1200" b="0">
                          <a:solidFill>
                            <a:srgbClr val="233247"/>
                          </a:solidFill>
                          <a:latin typeface="Arial"/>
                          <a:ea typeface="Arial"/>
                          <a:cs typeface="Arial"/>
                        </a:rPr>
                        <a:t>FP-Growth, support 40 (stricter)</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69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0.57 / 1.60</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69% of 59</a:t>
                      </a:r>
                    </a:p>
                  </a:txBody>
                  <a:tcPr marL="91440" marR="91440" marT="45720" marB="45720">
                    <a:lnR w="9525">
                      <a:solidFill>
                        <a:srgbClr val="CDD7DF"/>
                      </a:solidFill>
                      <a:prstDash val="solid"/>
                    </a:lnR>
                    <a:lnB w="9525">
                      <a:solidFill>
                        <a:srgbClr val="CDD7DF"/>
                      </a:solidFill>
                      <a:prstDash val="solid"/>
                    </a:lnB>
                    <a:solidFill>
                      <a:srgbClr val="FFFFFF"/>
                    </a:solidFill>
                  </a:tcPr>
                </a:tc>
              </a:tr>
              <a:tr h="365760">
                <a:tc>
                  <a:txBody>
                    <a:bodyPr wrap="square"/>
                    <a:lstStyle/>
                    <a:p>
                      <a:r>
                        <a:rPr sz="1200" b="0">
                          <a:solidFill>
                            <a:srgbClr val="233247"/>
                          </a:solidFill>
                          <a:latin typeface="Arial"/>
                          <a:ea typeface="Arial"/>
                          <a:cs typeface="Arial"/>
                        </a:rPr>
                        <a:t>FP-Growth, pairs only</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41</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0.56 / 1.59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83% of 30</a:t>
                      </a:r>
                    </a:p>
                  </a:txBody>
                  <a:tcPr marL="91440" marR="91440" marT="45720" marB="45720">
                    <a:lnR w="9525">
                      <a:solidFill>
                        <a:srgbClr val="CDD7DF"/>
                      </a:solidFill>
                      <a:prstDash val="solid"/>
                    </a:lnR>
                    <a:lnB w="9525">
                      <a:solidFill>
                        <a:srgbClr val="CDD7DF"/>
                      </a:solidFill>
                      <a:prstDash val="solid"/>
                    </a:lnB>
                    <a:solidFill>
                      <a:srgbClr val="FFFFFF"/>
                    </a:solidFill>
                  </a:tcPr>
                </a:tc>
              </a:tr>
              <a:tr h="365760">
                <a:tc>
                  <a:txBody>
                    <a:bodyPr wrap="square"/>
                    <a:lstStyle/>
                    <a:p>
                      <a:r>
                        <a:rPr sz="1200" b="0">
                          <a:solidFill>
                            <a:srgbClr val="233247"/>
                          </a:solidFill>
                          <a:latin typeface="Arial"/>
                          <a:ea typeface="Arial"/>
                          <a:cs typeface="Arial"/>
                        </a:rPr>
                        <a:t>FP-Growth, keeping after-play tags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131</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0.60 / 1.69</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200" b="0">
                          <a:solidFill>
                            <a:srgbClr val="233247"/>
                          </a:solidFill>
                          <a:latin typeface="Arial"/>
                          <a:ea typeface="Arial"/>
                          <a:cs typeface="Arial"/>
                        </a:rPr>
                        <a:t>69% of 88</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FBBCF54-64EE-45B6-BD01-F09AAEC5E7AF}"/>
              </a:ext>
            </a:extLst>
          </p:cNvPr>
          <p:cNvSpPr>
            <a:spLocks xmlns:a="http://schemas.openxmlformats.org/drawingml/2006/main" noGrp="1"/>
          </p:cNvSpPr>
          <p:nvPr/>
        </p:nvSpPr>
        <p:spPr>
          <a:xfrm xmlns:a="http://schemas.openxmlformats.org/drawingml/2006/main">
            <a:off x="685800" y="4389120"/>
            <a:ext cx="1057275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200" b="1">
                <a:solidFill>
                  <a:srgbClr val="233247"/>
                </a:solidFill>
                <a:latin typeface="Arial"/>
                <a:ea typeface="Arial"/>
                <a:cs typeface="Arial"/>
              </a:rPr>
              <a:t>Evaluation data: </a:t>
            </a:r>
            <a:r>
              <a:rPr sz="1200" b="0">
                <a:solidFill>
                  <a:srgbClr val="233247"/>
                </a:solidFill>
                <a:latin typeface="Arial"/>
                <a:ea typeface="Arial"/>
                <a:cs typeface="Arial"/>
              </a:rPr>
              <a:t>same 1,191 training and 299 test games for every row; support, confidence and lift on training games, then a held-out check of whether each rule still holds.</a:t>
            </a:r>
          </a:p>
        </p:txBody>
      </p:sp>
      <p:sp>
        <p:nvSpPr>
          <p:cNvPr id="6" name="">
            <a:extLst xmlns:a="http://schemas.openxmlformats.org/drawingml/2006/main">
              <a:ext uri="{FF2B5EF4-FFF2-40B4-BE49-F238E27FC236}">
                <a16:creationId xmlns:a16="http://schemas.microsoft.com/office/drawing/2014/main" id="{5191BCC3-0A13-4EAB-B38D-D4450625F4BE}"/>
              </a:ext>
            </a:extLst>
          </p:cNvPr>
          <p:cNvSpPr>
            <a:spLocks xmlns:a="http://schemas.openxmlformats.org/drawingml/2006/main" noGrp="1"/>
          </p:cNvSpPr>
          <p:nvPr/>
        </p:nvSpPr>
        <p:spPr>
          <a:xfrm xmlns:a="http://schemas.openxmlformats.org/drawingml/2006/main">
            <a:off x="685800" y="5074920"/>
            <a:ext cx="10572750" cy="11887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200" b="1">
                <a:solidFill>
                  <a:srgbClr val="233247"/>
                </a:solidFill>
                <a:latin typeface="Arial"/>
                <a:ea typeface="Arial"/>
                <a:cs typeface="Arial"/>
              </a:rPr>
              <a:t>Interpretation: </a:t>
            </a:r>
            <a:r>
              <a:rPr sz="1200" b="0">
                <a:solidFill>
                  <a:srgbClr val="233247"/>
                </a:solidFill>
                <a:latin typeface="Arial"/>
                <a:ea typeface="Arial"/>
                <a:cs typeface="Arial"/>
              </a:rPr>
              <a:t>FP-Growth and Apriori return the same 95 rules. Lower support finds more rules with higher lift that hold less often on test games; keeping after-play tags adds circular rules. No configuration finds a Struggling rule. Supports are small (30 to 60 games): hypotheses, not recipes.</a:t>
            </a:r>
          </a:p>
        </p:txBody>
      </p:sp>
    </p:spTree>
    <p:extLst>
      <p:ext uri="{BB962C8B-B14F-4D97-AF65-F5344CB8AC3E}">
        <p14:creationId xmlns:p14="http://schemas.microsoft.com/office/powerpoint/2010/main" val="13614668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2DBF9C-744E-492C-A7E5-BDEFF7589C7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BUSINESS OUTCOMES</a:t>
            </a:r>
          </a:p>
        </p:txBody>
      </p:sp>
      <p:sp>
        <p:nvSpPr>
          <p:cNvPr id="2" name="">
            <a:extLst xmlns:a="http://schemas.openxmlformats.org/drawingml/2006/main">
              <a:ext uri="{FF2B5EF4-FFF2-40B4-BE49-F238E27FC236}">
                <a16:creationId xmlns:a16="http://schemas.microsoft.com/office/drawing/2014/main" id="{2DABD7BE-F155-4E5B-8B7C-CEB00E6CAB55}"/>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Combined insights and recommendations</a:t>
            </a:r>
          </a:p>
        </p:txBody>
      </p:sp>
      <p:sp>
        <p:nvSpPr>
          <p:cNvPr id="3" name="">
            <a:extLst xmlns:a="http://schemas.openxmlformats.org/drawingml/2006/main">
              <a:ext uri="{FF2B5EF4-FFF2-40B4-BE49-F238E27FC236}">
                <a16:creationId xmlns:a16="http://schemas.microsoft.com/office/drawing/2014/main" id="{8EB3C204-9B86-4425-8ACC-1F35AFE39C7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E302BA3C-6A30-4CD9-AEDE-C59CC09F7462}"/>
              </a:ext>
            </a:extLst>
          </p:cNvPr>
          <p:cNvGraphicFramePr/>
          <p:nvPr/>
        </p:nvGraphicFramePr>
        <p:xfrm>
          <a:off xmlns:a="http://schemas.openxmlformats.org/drawingml/2006/main" x="609600" y="1737360"/>
          <a:ext xmlns:a="http://schemas.openxmlformats.org/drawingml/2006/main" cx="10972800" cy="3749040"/>
        </p:xfrm>
        <a:graphic xmlns:a="http://schemas.openxmlformats.org/drawingml/2006/main">
          <a:graphicData uri="http://schemas.openxmlformats.org/drawingml/2006/table">
            <a:tbl>
              <a:tblPr/>
              <a:tblGrid>
                <a:gridCol w="4297680"/>
                <a:gridCol w="3657600"/>
                <a:gridCol w="3017520"/>
              </a:tblGrid>
              <a:tr h="457200">
                <a:tc>
                  <a:txBody>
                    <a:bodyPr wrap="square"/>
                    <a:lstStyle/>
                    <a:p>
                      <a:r>
                        <a:rPr sz="1100" b="1">
                          <a:solidFill>
                            <a:srgbClr val="FFFFFF"/>
                          </a:solidFill>
                          <a:latin typeface="Arial"/>
                          <a:ea typeface="Arial"/>
                          <a:cs typeface="Arial"/>
                        </a:rPr>
                        <a:t>Evidence from the project</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100" b="1">
                          <a:solidFill>
                            <a:srgbClr val="FFFFFF"/>
                          </a:solidFill>
                          <a:latin typeface="Arial"/>
                          <a:ea typeface="Arial"/>
                          <a:cs typeface="Arial"/>
                        </a:rPr>
                        <a:t>Recommended action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100" b="1">
                          <a:solidFill>
                            <a:srgbClr val="FFFFFF"/>
                          </a:solidFill>
                          <a:latin typeface="Arial"/>
                          <a:ea typeface="Arial"/>
                          <a:cs typeface="Arial"/>
                        </a:rPr>
                        <a:t>Expected benefit / limitation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1097280">
                <a:tc>
                  <a:txBody>
                    <a:bodyPr wrap="square"/>
                    <a:lstStyle/>
                    <a:p>
                      <a:r>
                        <a:rPr sz="1100" b="0">
                          <a:solidFill>
                            <a:srgbClr val="233247"/>
                          </a:solidFill>
                          <a:latin typeface="Arial"/>
                          <a:ea typeface="Arial"/>
                          <a:cs typeface="Arial"/>
                        </a:rPr>
                        <a:t>Refund window: 21.2% negative under 2 h against 8.8% later (Unit 2); crashes, multiplayer bugs and controls lead early negatives (text mining)</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Blind-test the first 30 minutes; fix crashes and controls before launch; monitor early reviews</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Targets the 29% of negatives written in the window; association, not cause</a:t>
                      </a:r>
                    </a:p>
                  </a:txBody>
                  <a:tcPr marL="91440" marR="91440" marT="45720" marB="45720">
                    <a:lnR w="9525">
                      <a:solidFill>
                        <a:srgbClr val="CDD7DF"/>
                      </a:solidFill>
                      <a:prstDash val="solid"/>
                    </a:lnR>
                    <a:lnB w="9525">
                      <a:solidFill>
                        <a:srgbClr val="CDD7DF"/>
                      </a:solidFill>
                      <a:prstDash val="solid"/>
                    </a:lnB>
                    <a:solidFill>
                      <a:srgbClr val="F0F5F7"/>
                    </a:solidFill>
                  </a:tcPr>
                </a:tc>
              </a:tr>
              <a:tr h="1097280">
                <a:tc>
                  <a:txBody>
                    <a:bodyPr wrap="square"/>
                    <a:lstStyle/>
                    <a:p>
                      <a:r>
                        <a:rPr sz="1100" b="0">
                          <a:solidFill>
                            <a:srgbClr val="233247"/>
                          </a:solidFill>
                          <a:latin typeface="Arial"/>
                          <a:ea typeface="Arial"/>
                          <a:cs typeface="Arial"/>
                        </a:rPr>
                        <a:t>Early negativity rises with price (11% to 32%); 2D, pixel, retro and procedural combinations are Strong about two-thirds of the time; no rule predicts Struggling (rules)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Prefer focused scope; price below about $15 unless depth is verified; complete the store page</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Small supports (30 to 60 games); treat as hypotheses to test</a:t>
                      </a:r>
                    </a:p>
                  </a:txBody>
                  <a:tcPr marL="91440" marR="91440" marT="45720" marB="45720">
                    <a:lnR w="9525">
                      <a:solidFill>
                        <a:srgbClr val="CDD7DF"/>
                      </a:solidFill>
                      <a:prstDash val="solid"/>
                    </a:lnR>
                    <a:lnB w="9525">
                      <a:solidFill>
                        <a:srgbClr val="CDD7DF"/>
                      </a:solidFill>
                      <a:prstDash val="solid"/>
                    </a:lnB>
                    <a:solidFill>
                      <a:srgbClr val="FFFFFF"/>
                    </a:solidFill>
                  </a:tcPr>
                </a:tc>
              </a:tr>
              <a:tr h="1097280">
                <a:tc>
                  <a:txBody>
                    <a:bodyPr wrap="square"/>
                    <a:lstStyle/>
                    <a:p>
                      <a:r>
                        <a:rPr sz="1100" b="0">
                          <a:solidFill>
                            <a:srgbClr val="233247"/>
                          </a:solidFill>
                          <a:latin typeface="Arial"/>
                          <a:ea typeface="Arial"/>
                          <a:cs typeface="Arial"/>
                        </a:rPr>
                        <a:t>Patches: no clear effect against matched controls (+0.27 points, interval includes zero); themes show what to patch (patch impact, text mining)</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Patch for specific problems (crashes, controls, balance), not to lift ratings in general</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Controls cover 164 of 617 games</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427B3EC-740C-4640-BB6D-A6F13A67A394}"/>
              </a:ext>
            </a:extLst>
          </p:cNvPr>
          <p:cNvSpPr>
            <a:spLocks xmlns:a="http://schemas.openxmlformats.org/drawingml/2006/main" noGrp="1"/>
          </p:cNvSpPr>
          <p:nvPr/>
        </p:nvSpPr>
        <p:spPr>
          <a:xfrm xmlns:a="http://schemas.openxmlformats.org/drawingml/2006/main">
            <a:off x="685800" y="5532120"/>
            <a:ext cx="10572750" cy="640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1950" b="0">
                <a:solidFill>
                  <a:srgbClr val="233247"/>
                </a:solidFill>
                <a:latin typeface="Arial"/>
                <a:ea typeface="Arial"/>
                <a:cs typeface="Arial"/>
              </a:defRPr>
            </a:defPPr>
          </a:lstStyle>
          <a:p xmlns:a="http://schemas.openxmlformats.org/drawingml/2006/main">
            <a:pPr>
              <a:defRPr sz="1950" b="0">
                <a:solidFill>
                  <a:srgbClr val="233247"/>
                </a:solidFill>
                <a:latin typeface="Arial"/>
                <a:ea typeface="Arial"/>
                <a:cs typeface="Arial"/>
              </a:defRPr>
            </a:pPr>
            <a:r>
              <a:rPr sz="1400" b="1">
                <a:solidFill>
                  <a:srgbClr val="233247"/>
                </a:solidFill>
                <a:latin typeface="Arial"/>
                <a:ea typeface="Arial"/>
                <a:cs typeface="Arial"/>
              </a:rPr>
              <a:t>Business objective addressed: </a:t>
            </a:r>
            <a:r>
              <a:rPr sz="1400" b="0">
                <a:solidFill>
                  <a:srgbClr val="233247"/>
                </a:solidFill>
                <a:latin typeface="Arial"/>
                <a:ea typeface="Arial"/>
                <a:cs typeface="Arial"/>
              </a:rPr>
              <a:t>evidence for what to fix before the refund window closes, which combinations and price to back, and when to patch.</a:t>
            </a:r>
          </a:p>
        </p:txBody>
      </p:sp>
    </p:spTree>
    <p:extLst>
      <p:ext uri="{BB962C8B-B14F-4D97-AF65-F5344CB8AC3E}">
        <p14:creationId xmlns:p14="http://schemas.microsoft.com/office/powerpoint/2010/main" val="19362603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3E0F18-477D-4762-971E-5CA6A560D37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MANDATORY LIVE DEMONSTRATION</a:t>
            </a:r>
          </a:p>
        </p:txBody>
      </p:sp>
      <p:sp>
        <p:nvSpPr>
          <p:cNvPr id="2" name="">
            <a:extLst xmlns:a="http://schemas.openxmlformats.org/drawingml/2006/main">
              <a:ext uri="{FF2B5EF4-FFF2-40B4-BE49-F238E27FC236}">
                <a16:creationId xmlns:a16="http://schemas.microsoft.com/office/drawing/2014/main" id="{8C0E321D-DD7C-40A2-8CD0-AAF7C8D3298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Interactive dashboard or website</a:t>
            </a:r>
          </a:p>
        </p:txBody>
      </p:sp>
      <p:sp>
        <p:nvSpPr>
          <p:cNvPr id="3" name="">
            <a:extLst xmlns:a="http://schemas.openxmlformats.org/drawingml/2006/main">
              <a:ext uri="{FF2B5EF4-FFF2-40B4-BE49-F238E27FC236}">
                <a16:creationId xmlns:a16="http://schemas.microsoft.com/office/drawing/2014/main" id="{740C65A0-85F7-48CD-A9F0-1A88D47161BA}"/>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880743C-0EA1-46B2-9CF4-F59562FB79C8}"/>
              </a:ext>
            </a:extLst>
          </p:cNvPr>
          <p:cNvSpPr>
            <a:spLocks xmlns:a="http://schemas.openxmlformats.org/drawingml/2006/main" noGrp="1"/>
          </p:cNvSpPr>
          <p:nvPr/>
        </p:nvSpPr>
        <p:spPr>
          <a:xfrm xmlns:a="http://schemas.openxmlformats.org/drawingml/2006/main">
            <a:off x="685800" y="1691640"/>
            <a:ext cx="106680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Application: </a:t>
            </a:r>
            <a:r>
              <a:rPr sz="1400" b="0">
                <a:solidFill>
                  <a:srgbClr val="233247"/>
                </a:solidFill>
                <a:latin typeface="Arial"/>
                <a:ea typeface="Arial"/>
                <a:cs typeface="Arial"/>
              </a:rPr>
              <a:t>IndieGuard dashboard (Streamlit), live at https://indieguard.streamlit.app. Local launch: streamlit run src/dashboard/app.py; steps in docs/dashboard.md.</a:t>
            </a:r>
          </a:p>
        </p:txBody>
      </p:sp>
      <p:sp>
        <p:nvSpPr>
          <p:cNvPr id="6" name="">
            <a:extLst xmlns:a="http://schemas.openxmlformats.org/drawingml/2006/main">
              <a:ext uri="{FF2B5EF4-FFF2-40B4-BE49-F238E27FC236}">
                <a16:creationId xmlns:a16="http://schemas.microsoft.com/office/drawing/2014/main" id="{93497154-6AB2-4230-8A48-5CCF86C6154E}"/>
              </a:ext>
            </a:extLst>
          </p:cNvPr>
          <p:cNvSpPr>
            <a:spLocks xmlns:a="http://schemas.openxmlformats.org/drawingml/2006/main" noGrp="1"/>
          </p:cNvSpPr>
          <p:nvPr/>
        </p:nvSpPr>
        <p:spPr>
          <a:xfrm xmlns:a="http://schemas.openxmlformats.org/drawingml/2006/main">
            <a:off x="685800" y="4663440"/>
            <a:ext cx="10668000" cy="822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300" b="1">
                <a:solidFill>
                  <a:srgbClr val="233247"/>
                </a:solidFill>
                <a:latin typeface="Arial"/>
                <a:ea typeface="Arial"/>
                <a:cs typeface="Arial"/>
              </a:rPr>
              <a:t>Live demo: </a:t>
            </a:r>
            <a:r>
              <a:rPr sz="1300" b="0">
                <a:solidFill>
                  <a:srgbClr val="233247"/>
                </a:solidFill>
                <a:latin typeface="Arial"/>
                <a:ea typeface="Arial"/>
                <a:cs typeface="Arial"/>
              </a:rPr>
              <a:t>Market explorer: tick the tag Pixel Graphics and the tier mix and risky tags update; Tag rules: set lift 1.8 and stability stable; Scorer: describe a game and read its tier.</a:t>
            </a:r>
          </a:p>
        </p:txBody>
      </p:sp>
      <p:sp>
        <p:nvSpPr>
          <p:cNvPr id="7" name="">
            <a:extLst xmlns:a="http://schemas.openxmlformats.org/drawingml/2006/main">
              <a:ext uri="{FF2B5EF4-FFF2-40B4-BE49-F238E27FC236}">
                <a16:creationId xmlns:a16="http://schemas.microsoft.com/office/drawing/2014/main" id="{9A38DA68-B5B4-4369-B709-940A40FCC51E}"/>
              </a:ext>
            </a:extLst>
          </p:cNvPr>
          <p:cNvSpPr>
            <a:spLocks xmlns:a="http://schemas.openxmlformats.org/drawingml/2006/main" noGrp="1"/>
          </p:cNvSpPr>
          <p:nvPr/>
        </p:nvSpPr>
        <p:spPr>
          <a:xfrm xmlns:a="http://schemas.openxmlformats.org/drawingml/2006/main">
            <a:off x="685800" y="5486400"/>
            <a:ext cx="10668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300" b="1">
                <a:solidFill>
                  <a:srgbClr val="233247"/>
                </a:solidFill>
                <a:latin typeface="Arial"/>
                <a:ea typeface="Arial"/>
                <a:cs typeface="Arial"/>
              </a:rPr>
              <a:t>Business scenario: </a:t>
            </a:r>
            <a:r>
              <a:rPr sz="1300" b="0">
                <a:solidFill>
                  <a:srgbClr val="233247"/>
                </a:solidFill>
                <a:latin typeface="Arial"/>
                <a:ea typeface="Arial"/>
                <a:cs typeface="Arial"/>
              </a:rPr>
              <a:t>a studio planning a $9.99 pixel-art roguelike checks tag risk, the rules that apply, the patch evidence and a launch-risk score.</a:t>
            </a:r>
          </a:p>
        </p:txBody>
      </p:sp>
      <p:pic xmlns:a="http://schemas.openxmlformats.org/drawingml/2006/main" xmlns:r="http://schemas.openxmlformats.org/officeDocument/2006/relationships">
        <p:nvPicPr>
          <p:cNvPr id="9" name="Picture 8" descr="market_explorer.png"/>
          <p:cNvPicPr>
            <a:picLocks noChangeAspect="1"/>
          </p:cNvPicPr>
          <p:nvPr/>
        </p:nvPicPr>
        <p:blipFill>
          <a:blip r:embed="rId3"/>
          <a:stretch>
            <a:fillRect/>
          </a:stretch>
        </p:blipFill>
        <p:spPr>
          <a:xfrm>
            <a:off x="4544568" y="2286000"/>
            <a:ext cx="3108960" cy="2331720"/>
          </a:xfrm>
          <a:prstGeom prst="rect">
            <a:avLst/>
          </a:prstGeom>
        </p:spPr>
      </p:pic>
    </p:spTree>
    <p:extLst>
      <p:ext uri="{BB962C8B-B14F-4D97-AF65-F5344CB8AC3E}">
        <p14:creationId xmlns:p14="http://schemas.microsoft.com/office/powerpoint/2010/main" val="14781037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E938C6-860B-4635-A66D-4DF17DF3BAD0}"/>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100% PROJECT IMPLEMENTATION</a:t>
            </a:r>
          </a:p>
        </p:txBody>
      </p:sp>
      <p:sp>
        <p:nvSpPr>
          <p:cNvPr id="2" name="">
            <a:extLst xmlns:a="http://schemas.openxmlformats.org/drawingml/2006/main">
              <a:ext uri="{FF2B5EF4-FFF2-40B4-BE49-F238E27FC236}">
                <a16:creationId xmlns:a16="http://schemas.microsoft.com/office/drawing/2014/main" id="{53E8BDEE-51BC-4EB0-9606-BE325A7B9E2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Completion and individual contribution</a:t>
            </a:r>
          </a:p>
        </p:txBody>
      </p:sp>
      <p:sp>
        <p:nvSpPr>
          <p:cNvPr id="3" name="">
            <a:extLst xmlns:a="http://schemas.openxmlformats.org/drawingml/2006/main">
              <a:ext uri="{FF2B5EF4-FFF2-40B4-BE49-F238E27FC236}">
                <a16:creationId xmlns:a16="http://schemas.microsoft.com/office/drawing/2014/main" id="{2CE01CEC-B3F6-4B79-ABAA-76237ECB70C5}"/>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5C96931B-A7B7-41CA-AFD9-EBB6170071EC}"/>
              </a:ext>
            </a:extLst>
          </p:cNvPr>
          <p:cNvGraphicFramePr/>
          <p:nvPr/>
        </p:nvGraphicFramePr>
        <p:xfrm>
          <a:off xmlns:a="http://schemas.openxmlformats.org/drawingml/2006/main" x="609600" y="1737360"/>
          <a:ext xmlns:a="http://schemas.openxmlformats.org/drawingml/2006/main" cx="10972800" cy="4114800"/>
        </p:xfrm>
        <a:graphic xmlns:a="http://schemas.openxmlformats.org/drawingml/2006/main">
          <a:graphicData uri="http://schemas.openxmlformats.org/drawingml/2006/table">
            <a:tbl>
              <a:tblPr/>
              <a:tblGrid>
                <a:gridCol w="3291840"/>
                <a:gridCol w="4206240"/>
                <a:gridCol w="3474720"/>
              </a:tblGrid>
              <a:tr h="457200">
                <a:tc>
                  <a:txBody>
                    <a:bodyPr wrap="square"/>
                    <a:lstStyle/>
                    <a:p>
                      <a:r>
                        <a:rPr sz="1100" b="1">
                          <a:solidFill>
                            <a:srgbClr val="FFFFFF"/>
                          </a:solidFill>
                          <a:latin typeface="Arial"/>
                          <a:ea typeface="Arial"/>
                          <a:cs typeface="Arial"/>
                        </a:rPr>
                        <a:t>Team member</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100" b="1">
                          <a:solidFill>
                            <a:srgbClr val="FFFFFF"/>
                          </a:solidFill>
                          <a:latin typeface="Arial"/>
                          <a:ea typeface="Arial"/>
                          <a:cs typeface="Arial"/>
                        </a:rPr>
                        <a:t>Completed responsibility</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wrap="square"/>
                    <a:lstStyle/>
                    <a:p>
                      <a:r>
                        <a:rPr sz="1100" b="1">
                          <a:solidFill>
                            <a:srgbClr val="FFFFFF"/>
                          </a:solidFill>
                          <a:latin typeface="Arial"/>
                          <a:ea typeface="Arial"/>
                          <a:cs typeface="Arial"/>
                        </a:rPr>
                        <a:t>Evidence / project-board task</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731520">
                <a:tc>
                  <a:txBody>
                    <a:bodyPr wrap="square"/>
                    <a:lstStyle/>
                    <a:p>
                      <a:r>
                        <a:rPr sz="1100" b="0">
                          <a:solidFill>
                            <a:srgbClr val="233247"/>
                          </a:solidFill>
                          <a:latin typeface="Arial"/>
                          <a:ea typeface="Arial"/>
                          <a:cs typeface="Arial"/>
                        </a:rPr>
                        <a:t>Thotakura Srihitha (CB.SC.U4CSE23450)</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Exploratory analysis: 29 figures, association tests, tag combinations; dashboard wireframe and CSV downloads</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PRs #1, #101, notebooks/02_EDA_Visualizations.ipynb; cards #20, #21, #37, #40, #41</a:t>
                      </a:r>
                    </a:p>
                  </a:txBody>
                  <a:tcPr marL="91440" marR="91440" marT="45720" marB="45720">
                    <a:lnR w="9525">
                      <a:solidFill>
                        <a:srgbClr val="CDD7DF"/>
                      </a:solidFill>
                      <a:prstDash val="solid"/>
                    </a:lnR>
                    <a:lnB w="9525">
                      <a:solidFill>
                        <a:srgbClr val="CDD7DF"/>
                      </a:solidFill>
                      <a:prstDash val="solid"/>
                    </a:lnB>
                    <a:solidFill>
                      <a:srgbClr val="F0F5F7"/>
                    </a:solidFill>
                  </a:tcPr>
                </a:tc>
              </a:tr>
              <a:tr h="731520">
                <a:tc>
                  <a:txBody>
                    <a:bodyPr wrap="square"/>
                    <a:lstStyle/>
                    <a:p>
                      <a:r>
                        <a:rPr sz="1100" b="0">
                          <a:solidFill>
                            <a:srgbClr val="233247"/>
                          </a:solidFill>
                          <a:latin typeface="Arial"/>
                          <a:ea typeface="Arial"/>
                          <a:cs typeface="Arial"/>
                        </a:rPr>
                        <a:t>Gayas Sheik (CB.SC.U4CSE23118)</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Features and tag PCA; patch impact with controls; launch-risk scorer; reproducibility</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PRs #2, #49, #50, #69, #71, #80; cards #4, #18, #19, #38, #39, #42</a:t>
                      </a:r>
                    </a:p>
                  </a:txBody>
                  <a:tcPr marL="91440" marR="91440" marT="45720" marB="45720">
                    <a:lnR w="9525">
                      <a:solidFill>
                        <a:srgbClr val="CDD7DF"/>
                      </a:solidFill>
                      <a:prstDash val="solid"/>
                    </a:lnR>
                    <a:lnB w="9525">
                      <a:solidFill>
                        <a:srgbClr val="CDD7DF"/>
                      </a:solidFill>
                      <a:prstDash val="solid"/>
                    </a:lnB>
                    <a:solidFill>
                      <a:srgbClr val="FFFFFF"/>
                    </a:solidFill>
                  </a:tcPr>
                </a:tc>
              </a:tr>
              <a:tr h="731520">
                <a:tc>
                  <a:txBody>
                    <a:bodyPr wrap="square"/>
                    <a:lstStyle/>
                    <a:p>
                      <a:r>
                        <a:rPr sz="1100" b="0">
                          <a:solidFill>
                            <a:srgbClr val="233247"/>
                          </a:solidFill>
                          <a:latin typeface="Arial"/>
                          <a:ea typeface="Arial"/>
                          <a:cs typeface="Arial"/>
                        </a:rPr>
                        <a:t>Shantharam P (CB.SC.U4CSE23146)</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Data collection and cleaning; split and targets; models and tuning; dashboard; final report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src/collect, src/clean, src/models; PRs #56, #57, #95-#97; cards #5-#17, #23-#27, #43, #45, #83-#94</a:t>
                      </a:r>
                    </a:p>
                  </a:txBody>
                  <a:tcPr marL="91440" marR="91440" marT="45720" marB="45720">
                    <a:lnR w="9525">
                      <a:solidFill>
                        <a:srgbClr val="CDD7DF"/>
                      </a:solidFill>
                      <a:prstDash val="solid"/>
                    </a:lnR>
                    <a:lnB w="9525">
                      <a:solidFill>
                        <a:srgbClr val="CDD7DF"/>
                      </a:solidFill>
                      <a:prstDash val="solid"/>
                    </a:lnB>
                    <a:solidFill>
                      <a:srgbClr val="F0F5F7"/>
                    </a:solidFill>
                  </a:tcPr>
                </a:tc>
              </a:tr>
              <a:tr h="731520">
                <a:tc>
                  <a:txBody>
                    <a:bodyPr wrap="square"/>
                    <a:lstStyle/>
                    <a:p>
                      <a:r>
                        <a:rPr sz="1100" b="0">
                          <a:solidFill>
                            <a:srgbClr val="233247"/>
                          </a:solidFill>
                          <a:latin typeface="Arial"/>
                          <a:ea typeface="Arial"/>
                          <a:cs typeface="Arial"/>
                        </a:rPr>
                        <a:t>Pradeep Sasidharan (CB.SC.U4CSE23232)</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XGBoost models with SHAP; association rules</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wrap="square"/>
                    <a:lstStyle/>
                    <a:p>
                      <a:r>
                        <a:rPr sz="1100" b="0">
                          <a:solidFill>
                            <a:srgbClr val="233247"/>
                          </a:solidFill>
                          <a:latin typeface="Arial"/>
                          <a:ea typeface="Arial"/>
                          <a:cs typeface="Arial"/>
                        </a:rPr>
                        <a:t>PRs #55, #70; cards #34, #35, #36</a:t>
                      </a:r>
                    </a:p>
                  </a:txBody>
                  <a:tcPr marL="91440" marR="91440" marT="45720" marB="45720">
                    <a:lnR w="9525">
                      <a:solidFill>
                        <a:srgbClr val="CDD7DF"/>
                      </a:solidFill>
                      <a:prstDash val="solid"/>
                    </a:lnR>
                    <a:lnB w="9525">
                      <a:solidFill>
                        <a:srgbClr val="CDD7DF"/>
                      </a:solidFill>
                      <a:prstDash val="solid"/>
                    </a:lnB>
                    <a:solidFill>
                      <a:srgbClr val="FFFFFF"/>
                    </a:solidFill>
                  </a:tcPr>
                </a:tc>
              </a:tr>
              <a:tr h="731520">
                <a:tc>
                  <a:txBody>
                    <a:bodyPr wrap="square"/>
                    <a:lstStyle/>
                    <a:p>
                      <a:r>
                        <a:rPr sz="1100" b="0">
                          <a:solidFill>
                            <a:srgbClr val="233247"/>
                          </a:solidFill>
                          <a:latin typeface="Arial"/>
                          <a:ea typeface="Arial"/>
                          <a:cs typeface="Arial"/>
                        </a:rPr>
                        <a:t>Valikala Tejaswini (CB.SC.U4CSE23752)</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Text mining and topic modelling; combined insights</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wrap="square"/>
                    <a:lstStyle/>
                    <a:p>
                      <a:r>
                        <a:rPr sz="1100" b="0">
                          <a:solidFill>
                            <a:srgbClr val="233247"/>
                          </a:solidFill>
                          <a:latin typeface="Arial"/>
                          <a:ea typeface="Arial"/>
                          <a:cs typeface="Arial"/>
                        </a:rPr>
                        <a:t>PRs #66, #81; cards #31, #32, #44</a:t>
                      </a:r>
                    </a:p>
                  </a:txBody>
                  <a:tcPr marL="91440" marR="91440" marT="45720" marB="45720">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32CF6CB9-3CF9-4DC7-906F-7E9CEC23CFA8}"/>
              </a:ext>
            </a:extLst>
          </p:cNvPr>
          <p:cNvSpPr>
            <a:spLocks xmlns:a="http://schemas.openxmlformats.org/drawingml/2006/main" noGrp="1"/>
          </p:cNvSpPr>
          <p:nvPr/>
        </p:nvSpPr>
        <p:spPr>
          <a:xfrm xmlns:a="http://schemas.openxmlformats.org/drawingml/2006/main">
            <a:off x="685800" y="589788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33247"/>
                </a:solidFill>
                <a:latin typeface="Arial"/>
                <a:ea typeface="Arial"/>
                <a:cs typeface="Arial"/>
              </a:defRPr>
            </a:defPPr>
          </a:lstStyle>
          <a:p xmlns:a="http://schemas.openxmlformats.org/drawingml/2006/main">
            <a:pPr>
              <a:defRPr sz="1800" b="0">
                <a:solidFill>
                  <a:srgbClr val="233247"/>
                </a:solidFill>
                <a:latin typeface="Arial"/>
                <a:ea typeface="Arial"/>
                <a:cs typeface="Arial"/>
              </a:defRPr>
            </a:pPr>
            <a:r>
              <a:rPr sz="1400" b="0">
                <a:solidFill>
                  <a:srgbClr val="233247"/>
                </a:solidFill>
                <a:latin typeface="Arial"/>
                <a:ea typeface="Arial"/>
                <a:cs typeface="Arial"/>
              </a:rPr>
              <a:t>Board: github.com/users/Shan713/projects/1     Repository: github.com/Shan713/IndieGuard</a:t>
            </a:r>
          </a:p>
        </p:txBody>
      </p:sp>
    </p:spTree>
    <p:extLst>
      <p:ext uri="{BB962C8B-B14F-4D97-AF65-F5344CB8AC3E}">
        <p14:creationId xmlns:p14="http://schemas.microsoft.com/office/powerpoint/2010/main" val="15339769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6803CC-FC81-4DB3-867E-9169406E566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FINAL PROJECT OUTCOME</a:t>
            </a:r>
          </a:p>
        </p:txBody>
      </p:sp>
      <p:sp>
        <p:nvSpPr>
          <p:cNvPr id="2" name="">
            <a:extLst xmlns:a="http://schemas.openxmlformats.org/drawingml/2006/main">
              <a:ext uri="{FF2B5EF4-FFF2-40B4-BE49-F238E27FC236}">
                <a16:creationId xmlns:a16="http://schemas.microsoft.com/office/drawing/2014/main" id="{D8153AE4-85B4-4AC7-8DCC-76514376694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Conclusion and limitations</a:t>
            </a:r>
          </a:p>
        </p:txBody>
      </p:sp>
      <p:sp>
        <p:nvSpPr>
          <p:cNvPr id="3" name="">
            <a:extLst xmlns:a="http://schemas.openxmlformats.org/drawingml/2006/main">
              <a:ext uri="{FF2B5EF4-FFF2-40B4-BE49-F238E27FC236}">
                <a16:creationId xmlns:a16="http://schemas.microsoft.com/office/drawing/2014/main" id="{EF2C747F-EA61-439C-89A8-AD7274EEF46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090B09B-3D22-4D3D-9291-CD42A174B0F2}"/>
              </a:ext>
            </a:extLst>
          </p:cNvPr>
          <p:cNvSpPr>
            <a:spLocks xmlns:a="http://schemas.openxmlformats.org/drawingml/2006/main" noGrp="1"/>
          </p:cNvSpPr>
          <p:nvPr/>
        </p:nvSpPr>
        <p:spPr>
          <a:xfrm xmlns:a="http://schemas.openxmlformats.org/drawingml/2006/main">
            <a:off x="685800" y="1737360"/>
            <a:ext cx="10668000" cy="822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Main outcome: </a:t>
            </a:r>
            <a:r>
              <a:rPr sz="1400" b="0">
                <a:solidFill>
                  <a:srgbClr val="233247"/>
                </a:solidFill>
                <a:latin typeface="Arial"/>
                <a:ea typeface="Arial"/>
                <a:cs typeface="Arial"/>
              </a:rPr>
              <a:t>Units 1 to 3 are implemented end to end: own data, cleaning, models with held-out evaluation, text mining and association rules, and a working dashboard.</a:t>
            </a:r>
          </a:p>
        </p:txBody>
      </p:sp>
      <p:sp>
        <p:nvSpPr>
          <p:cNvPr id="5" name="">
            <a:extLst xmlns:a="http://schemas.openxmlformats.org/drawingml/2006/main">
              <a:ext uri="{FF2B5EF4-FFF2-40B4-BE49-F238E27FC236}">
                <a16:creationId xmlns:a16="http://schemas.microsoft.com/office/drawing/2014/main" id="{7F33CED7-ECE6-4436-B3FC-9B1FEB2006FC}"/>
              </a:ext>
            </a:extLst>
          </p:cNvPr>
          <p:cNvSpPr>
            <a:spLocks xmlns:a="http://schemas.openxmlformats.org/drawingml/2006/main" noGrp="1"/>
          </p:cNvSpPr>
          <p:nvPr/>
        </p:nvSpPr>
        <p:spPr>
          <a:xfrm xmlns:a="http://schemas.openxmlformats.org/drawingml/2006/main">
            <a:off x="685800" y="269748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Business value: </a:t>
            </a:r>
            <a:r>
              <a:rPr sz="1400" b="0">
                <a:solidFill>
                  <a:srgbClr val="233247"/>
                </a:solidFill>
                <a:latin typeface="Arial"/>
                <a:ea typeface="Arial"/>
                <a:cs typeface="Arial"/>
              </a:rPr>
              <a:t>the first two hours decide a lot (21% against 9% negative); crashes, controls and price matter early; focused 2D and pixel-style combinations go with strong reception; patches do not lift sentiment on their own.</a:t>
            </a:r>
          </a:p>
        </p:txBody>
      </p:sp>
      <p:sp>
        <p:nvSpPr>
          <p:cNvPr id="6" name="">
            <a:extLst xmlns:a="http://schemas.openxmlformats.org/drawingml/2006/main">
              <a:ext uri="{FF2B5EF4-FFF2-40B4-BE49-F238E27FC236}">
                <a16:creationId xmlns:a16="http://schemas.microsoft.com/office/drawing/2014/main" id="{62C3EDBE-8DDB-4748-8A2E-63915D6FAF3E}"/>
              </a:ext>
            </a:extLst>
          </p:cNvPr>
          <p:cNvSpPr>
            <a:spLocks xmlns:a="http://schemas.openxmlformats.org/drawingml/2006/main" noGrp="1"/>
          </p:cNvSpPr>
          <p:nvPr/>
        </p:nvSpPr>
        <p:spPr>
          <a:xfrm xmlns:a="http://schemas.openxmlformats.org/drawingml/2006/main">
            <a:off x="685800" y="3840480"/>
            <a:ext cx="10668000" cy="1005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Limitations: </a:t>
            </a:r>
            <a:r>
              <a:rPr sz="1400" b="0">
                <a:solidFill>
                  <a:srgbClr val="233247"/>
                </a:solidFill>
                <a:latin typeface="Arial"/>
                <a:ea typeface="Arial"/>
                <a:cs typeface="Arial"/>
              </a:rPr>
              <a:t>associations, not causes; store data are October 2026 snapshots; only 51 Struggling test games; five large games capped; about 60% of reviews are not English; the AI-labelled topic check is weak for boss and balance topics.</a:t>
            </a:r>
          </a:p>
        </p:txBody>
      </p:sp>
      <p:sp>
        <p:nvSpPr>
          <p:cNvPr id="7" name="">
            <a:extLst xmlns:a="http://schemas.openxmlformats.org/drawingml/2006/main">
              <a:ext uri="{FF2B5EF4-FFF2-40B4-BE49-F238E27FC236}">
                <a16:creationId xmlns:a16="http://schemas.microsoft.com/office/drawing/2014/main" id="{267F9F37-67EA-4B36-8737-F205DB4ECA6F}"/>
              </a:ext>
            </a:extLst>
          </p:cNvPr>
          <p:cNvSpPr>
            <a:spLocks xmlns:a="http://schemas.openxmlformats.org/drawingml/2006/main" noGrp="1"/>
          </p:cNvSpPr>
          <p:nvPr/>
        </p:nvSpPr>
        <p:spPr>
          <a:xfrm xmlns:a="http://schemas.openxmlformats.org/drawingml/2006/main">
            <a:off x="685800" y="4983480"/>
            <a:ext cx="1066800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1400" b="1">
                <a:solidFill>
                  <a:srgbClr val="233247"/>
                </a:solidFill>
                <a:latin typeface="Arial"/>
                <a:ea typeface="Arial"/>
                <a:cs typeface="Arial"/>
              </a:rPr>
              <a:t>Future scope: </a:t>
            </a:r>
            <a:r>
              <a:rPr sz="1400" b="0">
                <a:solidFill>
                  <a:srgbClr val="233247"/>
                </a:solidFill>
                <a:latin typeface="Arial"/>
                <a:ea typeface="Arial"/>
                <a:cs typeface="Arial"/>
              </a:rPr>
              <a:t>re-label a sample by hand, add discount-impact analysis, calibrate the scorer, and extend to more genres.</a:t>
            </a:r>
          </a:p>
        </p:txBody>
      </p:sp>
    </p:spTree>
    <p:extLst>
      <p:ext uri="{BB962C8B-B14F-4D97-AF65-F5344CB8AC3E}">
        <p14:creationId xmlns:p14="http://schemas.microsoft.com/office/powerpoint/2010/main" val="1957275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2026-10-16T08:19:46.1960000Z</dcterms:created>
  <dcterms:modified xsi:type="dcterms:W3CDTF">2026-10-16T08:19:46.1960000Z</dcterms:modified>
</coreProperties>
</file>