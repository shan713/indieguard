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6" r:id="rId17"/>
    <p:sldId id="267" r:id="rId18"/>
    <p:sldId id="268" r:id="rId19"/>
    <p:sldId id="269" r:id="rId20"/>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Negative share by playtime</a:t>
            </a:r>
          </a:p>
        </c:rich>
      </c:tx>
      <c:layout/>
      <c:overlay val="0"/>
    </c:title>
    <c:autoTitleDeleted val="0"/>
    <c:plotArea>
      <c:barChart>
        <c:barDir val="col"/>
        <c:grouping val="clustered"/>
        <c:ser>
          <c:idx val="0"/>
          <c:order val="0"/>
          <c:tx>
            <c:strRef>
              <c:f>Sheet1!$B$1</c:f>
              <c:strCache>
                <c:ptCount val="1"/>
                <c:pt idx="0">
                  <c:v>negative reviews</c:v>
                </c:pt>
              </c:strCache>
            </c:strRef>
          </c:tx>
          <c:spPr>
            <a:solidFill>
              <a:srgbClr val="D1495B"/>
            </a:solidFill>
          </c:spPr>
          <c:cat>
            <c:strRef>
              <c:f>Sheet1!$A$2:$A$5</c:f>
              <c:strCache>
                <c:ptCount val="4"/>
                <c:pt idx="0">
                  <c:v>&lt;2 h</c:v>
                </c:pt>
                <c:pt idx="1">
                  <c:v>2–10 h</c:v>
                </c:pt>
                <c:pt idx="2">
                  <c:v>10–50 h</c:v>
                </c:pt>
                <c:pt idx="3">
                  <c:v>50 h+</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Negative share by price tier</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D1495B"/>
            </a:solidFill>
          </c:spPr>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ser>
          <c:idx val="1"/>
          <c:order val="1"/>
          <c:tx>
            <c:strRef>
              <c:f>Sheet1!$C$1</c:f>
              <c:strCache>
                <c:ptCount val="1"/>
                <c:pt idx="0">
                  <c:v>2 h or more</c:v>
                </c:pt>
              </c:strCache>
            </c:strRef>
          </c:tx>
          <c:spPr>
            <a:solidFill>
              <a:srgbClr val="8C99A6"/>
            </a:solidFill>
          </c:spPr>
          <c:cat>
            <c:strRef>
              <c:f>Sheet1!$A$2:$A$6</c:f>
              <c:strCache>
                <c:ptCount val="5"/>
                <c:pt idx="0">
                  <c:v>free</c:v>
                </c:pt>
                <c:pt idx="1">
                  <c:v>&lt;$5</c:v>
                </c:pt>
                <c:pt idx="2">
                  <c:v>$5–10</c:v>
                </c:pt>
                <c:pt idx="3">
                  <c:v>$10–20</c:v>
                </c:pt>
                <c:pt idx="4">
                  <c:v>$20+</c:v>
                </c:pt>
              </c:strCache>
            </c:strRef>
          </c:cat>
          <c:val>
            <c:numRef>
              <c:f>Sheet1!$C$2:$C$6</c:f>
              <c:numCache>
                <c:formatCode>General</c:formatCode>
                <c:ptCount val="5"/>
                <c:pt idx="0">
                  <c:v>10.02738402061855</c:v>
                </c:pt>
                <c:pt idx="1">
                  <c:v>5.78891977880924</c:v>
                </c:pt>
                <c:pt idx="2">
                  <c:v>7.87148136438319</c:v>
                </c:pt>
                <c:pt idx="3">
                  <c:v>9.37640413376981</c:v>
                </c:pt>
                <c:pt idx="4">
                  <c:v>9.81874911974692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38.0"/>
          <c:min val="0.0"/>
        </c:scaling>
        <c:delete/>
        <c:axPos val="l"/>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Complaint themes: share of negatives</a:t>
            </a:r>
          </a:p>
        </c:rich>
      </c:tx>
      <c:layout/>
      <c:overlay val="0"/>
    </c:title>
    <c:autoTitleDeleted val="0"/>
    <c:plotArea>
      <c:barChart>
        <c:barDir val="col"/>
        <c:grouping val="clustered"/>
        <c:ser>
          <c:idx val="0"/>
          <c:order val="0"/>
          <c:tx>
            <c:strRef>
              <c:f>Sheet1!$B$1</c:f>
              <c:strCache>
                <c:ptCount val="1"/>
                <c:pt idx="0">
                  <c:v>early negatives</c:v>
                </c:pt>
              </c:strCache>
            </c:strRef>
          </c:tx>
          <c:spPr>
            <a:solidFill>
              <a:srgbClr val="D1495B"/>
            </a:solidFill>
          </c:spPr>
          <c:cat>
            <c:strRef>
              <c:f>Sheet1!$A$2:$A$5</c:f>
              <c:strCache>
                <c:ptCount val="4"/>
                <c:pt idx="0">
                  <c:v>controls/UI</c:v>
                </c:pt>
                <c:pt idx="1">
                  <c:v>bugs</c:v>
                </c:pt>
                <c:pt idx="2">
                  <c:v>repetitive</c:v>
                </c:pt>
                <c:pt idx="3">
                  <c:v>unfair</c:v>
                </c:pt>
              </c:strCache>
            </c:strRef>
          </c:cat>
          <c:val>
            <c:numRef>
              <c:f>Sheet1!$B$2:$B$5</c:f>
              <c:numCache>
                <c:formatCode>General</c:formatCode>
                <c:ptCount val="4"/>
                <c:pt idx="0">
                  <c:v>13.06831821018771</c:v>
                </c:pt>
                <c:pt idx="1">
                  <c:v>12.924288251956401</c:v>
                </c:pt>
                <c:pt idx="2">
                  <c:v>15.21916558644198</c:v>
                </c:pt>
                <c:pt idx="3">
                  <c:v>7.883239713860481</c:v>
                </c:pt>
              </c:numCache>
            </c:numRef>
          </c:val>
        </c:ser>
        <c:ser>
          <c:idx val="1"/>
          <c:order val="1"/>
          <c:tx>
            <c:strRef>
              <c:f>Sheet1!$C$1</c:f>
              <c:strCache>
                <c:ptCount val="1"/>
                <c:pt idx="0">
                  <c:v>later negatives</c:v>
                </c:pt>
              </c:strCache>
            </c:strRef>
          </c:tx>
          <c:spPr>
            <a:solidFill>
              <a:srgbClr val="8C99A6"/>
            </a:solidFill>
          </c:spPr>
          <c:cat>
            <c:strRef>
              <c:f>Sheet1!$A$2:$A$5</c:f>
              <c:strCache>
                <c:ptCount val="4"/>
                <c:pt idx="0">
                  <c:v>controls/UI</c:v>
                </c:pt>
                <c:pt idx="1">
                  <c:v>bugs</c:v>
                </c:pt>
                <c:pt idx="2">
                  <c:v>repetitive</c:v>
                </c:pt>
                <c:pt idx="3">
                  <c:v>unfair</c:v>
                </c:pt>
              </c:strCache>
            </c:strRef>
          </c:cat>
          <c:val>
            <c:numRef>
              <c:f>Sheet1!$C$2:$C$5</c:f>
              <c:numCache>
                <c:formatCode>General</c:formatCode>
                <c:ptCount val="4"/>
                <c:pt idx="0">
                  <c:v>7.22474878135127</c:v>
                </c:pt>
                <c:pt idx="1">
                  <c:v>15.33454971269845</c:v>
                </c:pt>
                <c:pt idx="2">
                  <c:v>21.16227771574848</c:v>
                </c:pt>
                <c:pt idx="3">
                  <c:v>17.526755807303722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i="0">
                <a:solidFill>
                  <a:srgbClr val="132C43"/>
                </a:solidFill>
                <a:latin typeface="Bitstream Charter"/>
              </a:rPr>
              <a:t>Tag PCA: cumulative variance (%)</a:t>
            </a:r>
          </a:p>
        </c:rich>
      </c:tx>
      <c:layout/>
      <c:overlay val="0"/>
    </c:title>
    <c:plotArea>
      <c:scatterChart>
        <c:scatterStyle val="lineMarker"/>
        <c:varyColors val="0"/>
        <c:ser>
          <c:idx val="0"/>
          <c:order val="0"/>
          <c:tx>
            <c:strRef>
              <c:f>Sheet1!$B$1</c:f>
              <c:strCache>
                <c:ptCount val="1"/>
                <c:pt idx="0">
                  <c:v>cumulative variance</c:v>
                </c:pt>
              </c:strCache>
            </c:strRef>
          </c:tx>
          <c:spPr>
            <a:ln w="28575">
              <a:solidFill>
                <a:srgbClr val="132C43"/>
              </a:solidFill>
            </a:ln>
          </c:spPr>
          <c:marker>
            <c:symbol val="none"/>
          </c:marker>
          <c:xVal>
            <c:numRef>
              <c:f>Sheet1!$A$2:$A$235</c:f>
              <c:numCache>
                <c:formatCode>General</c:formatCode>
                <c:ptCount val="2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numCache>
            </c:numRef>
          </c:xVal>
          <c:yVal>
            <c:numRef>
              <c:f>Sheet1!$B$2:$B$235</c:f>
              <c:numCache>
                <c:formatCode>General</c:formatCode>
                <c:ptCount val="234"/>
                <c:pt idx="0">
                  <c:v>7.645102</c:v>
                </c:pt>
                <c:pt idx="1">
                  <c:v>12.041591</c:v>
                </c:pt>
                <c:pt idx="2">
                  <c:v>15.622562</c:v>
                </c:pt>
                <c:pt idx="3">
                  <c:v>18.697487</c:v>
                </c:pt>
                <c:pt idx="4">
                  <c:v>21.024157</c:v>
                </c:pt>
                <c:pt idx="5">
                  <c:v>23.241036</c:v>
                </c:pt>
                <c:pt idx="6">
                  <c:v>25.36101</c:v>
                </c:pt>
                <c:pt idx="7">
                  <c:v>27.427414</c:v>
                </c:pt>
                <c:pt idx="8">
                  <c:v>29.28134</c:v>
                </c:pt>
                <c:pt idx="9">
                  <c:v>30.992946</c:v>
                </c:pt>
                <c:pt idx="10">
                  <c:v>32.659182</c:v>
                </c:pt>
                <c:pt idx="11">
                  <c:v>34.265572</c:v>
                </c:pt>
                <c:pt idx="12">
                  <c:v>35.794693</c:v>
                </c:pt>
                <c:pt idx="13">
                  <c:v>37.183625</c:v>
                </c:pt>
                <c:pt idx="14">
                  <c:v>38.533297</c:v>
                </c:pt>
                <c:pt idx="15">
                  <c:v>39.8229</c:v>
                </c:pt>
                <c:pt idx="16">
                  <c:v>41.077816</c:v>
                </c:pt>
                <c:pt idx="17">
                  <c:v>42.282468</c:v>
                </c:pt>
                <c:pt idx="18">
                  <c:v>43.46376</c:v>
                </c:pt>
                <c:pt idx="19">
                  <c:v>44.55931</c:v>
                </c:pt>
                <c:pt idx="20">
                  <c:v>45.621908</c:v>
                </c:pt>
                <c:pt idx="21">
                  <c:v>46.679562000000004</c:v>
                </c:pt>
                <c:pt idx="22">
                  <c:v>47.685552</c:v>
                </c:pt>
                <c:pt idx="23">
                  <c:v>48.651803</c:v>
                </c:pt>
                <c:pt idx="24">
                  <c:v>49.599004</c:v>
                </c:pt>
                <c:pt idx="25">
                  <c:v>50.53221</c:v>
                </c:pt>
                <c:pt idx="26">
                  <c:v>51.44292</c:v>
                </c:pt>
                <c:pt idx="27">
                  <c:v>52.314519999999995</c:v>
                </c:pt>
                <c:pt idx="28">
                  <c:v>53.15529</c:v>
                </c:pt>
                <c:pt idx="29">
                  <c:v>53.95892</c:v>
                </c:pt>
                <c:pt idx="30">
                  <c:v>54.752283999999996</c:v>
                </c:pt>
                <c:pt idx="31">
                  <c:v>55.532014</c:v>
                </c:pt>
                <c:pt idx="32">
                  <c:v>56.296009999999995</c:v>
                </c:pt>
                <c:pt idx="33">
                  <c:v>57.039845</c:v>
                </c:pt>
                <c:pt idx="34">
                  <c:v>57.779709999999994</c:v>
                </c:pt>
                <c:pt idx="35">
                  <c:v>58.495104</c:v>
                </c:pt>
                <c:pt idx="36">
                  <c:v>59.18748</c:v>
                </c:pt>
                <c:pt idx="37">
                  <c:v>59.871936000000005</c:v>
                </c:pt>
                <c:pt idx="38">
                  <c:v>60.536045</c:v>
                </c:pt>
                <c:pt idx="39">
                  <c:v>61.193470000000005</c:v>
                </c:pt>
                <c:pt idx="40">
                  <c:v>61.844646999999995</c:v>
                </c:pt>
                <c:pt idx="41">
                  <c:v>62.48621</c:v>
                </c:pt>
                <c:pt idx="42">
                  <c:v>63.11105</c:v>
                </c:pt>
                <c:pt idx="43">
                  <c:v>63.731384000000006</c:v>
                </c:pt>
                <c:pt idx="44">
                  <c:v>64.33516999999999</c:v>
                </c:pt>
                <c:pt idx="45">
                  <c:v>64.90862</c:v>
                </c:pt>
                <c:pt idx="46">
                  <c:v>65.47424</c:v>
                </c:pt>
                <c:pt idx="47">
                  <c:v>66.02741</c:v>
                </c:pt>
                <c:pt idx="48">
                  <c:v>66.57280300000001</c:v>
                </c:pt>
                <c:pt idx="49">
                  <c:v>67.11329</c:v>
                </c:pt>
                <c:pt idx="50">
                  <c:v>67.650604</c:v>
                </c:pt>
                <c:pt idx="51">
                  <c:v>68.16872000000001</c:v>
                </c:pt>
                <c:pt idx="52">
                  <c:v>68.67403399999999</c:v>
                </c:pt>
                <c:pt idx="53">
                  <c:v>69.178414</c:v>
                </c:pt>
                <c:pt idx="54">
                  <c:v>69.67455</c:v>
                </c:pt>
                <c:pt idx="55">
                  <c:v>70.14574</c:v>
                </c:pt>
                <c:pt idx="56">
                  <c:v>70.6161</c:v>
                </c:pt>
                <c:pt idx="57">
                  <c:v>71.08026</c:v>
                </c:pt>
                <c:pt idx="58">
                  <c:v>71.536815</c:v>
                </c:pt>
                <c:pt idx="59">
                  <c:v>71.989346</c:v>
                </c:pt>
                <c:pt idx="60">
                  <c:v>72.42914</c:v>
                </c:pt>
                <c:pt idx="61">
                  <c:v>72.866213</c:v>
                </c:pt>
                <c:pt idx="62">
                  <c:v>73.28752</c:v>
                </c:pt>
                <c:pt idx="63">
                  <c:v>73.70612600000001</c:v>
                </c:pt>
                <c:pt idx="64">
                  <c:v>74.11744</c:v>
                </c:pt>
                <c:pt idx="65">
                  <c:v>74.527544</c:v>
                </c:pt>
                <c:pt idx="66">
                  <c:v>74.93058</c:v>
                </c:pt>
                <c:pt idx="67">
                  <c:v>75.329167</c:v>
                </c:pt>
                <c:pt idx="68">
                  <c:v>75.72176</c:v>
                </c:pt>
                <c:pt idx="69">
                  <c:v>76.1113</c:v>
                </c:pt>
                <c:pt idx="70">
                  <c:v>76.49664</c:v>
                </c:pt>
                <c:pt idx="71">
                  <c:v>76.872253</c:v>
                </c:pt>
                <c:pt idx="72">
                  <c:v>77.244264</c:v>
                </c:pt>
                <c:pt idx="73">
                  <c:v>77.613914</c:v>
                </c:pt>
                <c:pt idx="74">
                  <c:v>77.97511</c:v>
                </c:pt>
                <c:pt idx="75">
                  <c:v>78.331554</c:v>
                </c:pt>
                <c:pt idx="76">
                  <c:v>78.68123</c:v>
                </c:pt>
                <c:pt idx="77">
                  <c:v>79.024744</c:v>
                </c:pt>
                <c:pt idx="78">
                  <c:v>79.35857</c:v>
                </c:pt>
                <c:pt idx="79">
                  <c:v>79.69032</c:v>
                </c:pt>
                <c:pt idx="80">
                  <c:v>80.017436</c:v>
                </c:pt>
                <c:pt idx="81">
                  <c:v>80.33933</c:v>
                </c:pt>
                <c:pt idx="82">
                  <c:v>80.65728</c:v>
                </c:pt>
                <c:pt idx="83">
                  <c:v>80.96518</c:v>
                </c:pt>
                <c:pt idx="84">
                  <c:v>81.26723</c:v>
                </c:pt>
                <c:pt idx="85">
                  <c:v>81.56588</c:v>
                </c:pt>
                <c:pt idx="86">
                  <c:v>81.85757</c:v>
                </c:pt>
                <c:pt idx="87">
                  <c:v>82.146853</c:v>
                </c:pt>
                <c:pt idx="88">
                  <c:v>82.429785</c:v>
                </c:pt>
                <c:pt idx="89">
                  <c:v>82.71006</c:v>
                </c:pt>
                <c:pt idx="90">
                  <c:v>82.983935</c:v>
                </c:pt>
                <c:pt idx="91">
                  <c:v>83.25483</c:v>
                </c:pt>
                <c:pt idx="92">
                  <c:v>83.518666</c:v>
                </c:pt>
                <c:pt idx="93">
                  <c:v>83.77731</c:v>
                </c:pt>
                <c:pt idx="94">
                  <c:v>84.03407</c:v>
                </c:pt>
                <c:pt idx="95">
                  <c:v>84.28768</c:v>
                </c:pt>
                <c:pt idx="96">
                  <c:v>84.53682</c:v>
                </c:pt>
                <c:pt idx="97">
                  <c:v>84.78461</c:v>
                </c:pt>
                <c:pt idx="98">
                  <c:v>85.02794999999999</c:v>
                </c:pt>
                <c:pt idx="99">
                  <c:v>85.26808</c:v>
                </c:pt>
                <c:pt idx="100">
                  <c:v>85.502267</c:v>
                </c:pt>
                <c:pt idx="101">
                  <c:v>85.732293</c:v>
                </c:pt>
                <c:pt idx="102">
                  <c:v>85.96086</c:v>
                </c:pt>
                <c:pt idx="103">
                  <c:v>86.187255</c:v>
                </c:pt>
                <c:pt idx="104">
                  <c:v>86.411124</c:v>
                </c:pt>
                <c:pt idx="105">
                  <c:v>86.630905</c:v>
                </c:pt>
                <c:pt idx="106">
                  <c:v>86.848503</c:v>
                </c:pt>
                <c:pt idx="107">
                  <c:v>87.065154</c:v>
                </c:pt>
                <c:pt idx="108">
                  <c:v>87.27625599999999</c:v>
                </c:pt>
                <c:pt idx="109">
                  <c:v>87.48578</c:v>
                </c:pt>
                <c:pt idx="110">
                  <c:v>87.69371</c:v>
                </c:pt>
                <c:pt idx="111">
                  <c:v>87.89698</c:v>
                </c:pt>
                <c:pt idx="112">
                  <c:v>88.09832</c:v>
                </c:pt>
                <c:pt idx="113">
                  <c:v>88.29844999999999</c:v>
                </c:pt>
                <c:pt idx="114">
                  <c:v>88.495785</c:v>
                </c:pt>
                <c:pt idx="115">
                  <c:v>88.69093</c:v>
                </c:pt>
                <c:pt idx="116">
                  <c:v>88.88307</c:v>
                </c:pt>
                <c:pt idx="117">
                  <c:v>89.07386699999999</c:v>
                </c:pt>
                <c:pt idx="118">
                  <c:v>89.263535</c:v>
                </c:pt>
                <c:pt idx="119">
                  <c:v>89.44840400000001</c:v>
                </c:pt>
                <c:pt idx="120">
                  <c:v>89.63224</c:v>
                </c:pt>
                <c:pt idx="121">
                  <c:v>89.811724</c:v>
                </c:pt>
                <c:pt idx="122">
                  <c:v>89.989716</c:v>
                </c:pt>
                <c:pt idx="123">
                  <c:v>90.16233</c:v>
                </c:pt>
                <c:pt idx="124">
                  <c:v>90.33368</c:v>
                </c:pt>
                <c:pt idx="125">
                  <c:v>90.503705</c:v>
                </c:pt>
                <c:pt idx="126">
                  <c:v>90.672046</c:v>
                </c:pt>
                <c:pt idx="127">
                  <c:v>90.83772</c:v>
                </c:pt>
                <c:pt idx="128">
                  <c:v>90.999514</c:v>
                </c:pt>
                <c:pt idx="129">
                  <c:v>91.15967</c:v>
                </c:pt>
                <c:pt idx="130">
                  <c:v>91.31888000000001</c:v>
                </c:pt>
                <c:pt idx="131">
                  <c:v>91.474694</c:v>
                </c:pt>
                <c:pt idx="132">
                  <c:v>91.62841</c:v>
                </c:pt>
                <c:pt idx="133">
                  <c:v>91.778356</c:v>
                </c:pt>
                <c:pt idx="134">
                  <c:v>91.92690999999999</c:v>
                </c:pt>
                <c:pt idx="135">
                  <c:v>92.07343</c:v>
                </c:pt>
                <c:pt idx="136">
                  <c:v>92.217636</c:v>
                </c:pt>
                <c:pt idx="137">
                  <c:v>92.36052000000001</c:v>
                </c:pt>
                <c:pt idx="138">
                  <c:v>92.50212</c:v>
                </c:pt>
                <c:pt idx="139">
                  <c:v>92.64198</c:v>
                </c:pt>
                <c:pt idx="140">
                  <c:v>92.779964</c:v>
                </c:pt>
                <c:pt idx="141">
                  <c:v>92.9147</c:v>
                </c:pt>
                <c:pt idx="142">
                  <c:v>93.048316</c:v>
                </c:pt>
                <c:pt idx="143">
                  <c:v>93.1803</c:v>
                </c:pt>
                <c:pt idx="144">
                  <c:v>93.310183</c:v>
                </c:pt>
                <c:pt idx="145">
                  <c:v>93.438345</c:v>
                </c:pt>
                <c:pt idx="146">
                  <c:v>93.56569999999999</c:v>
                </c:pt>
                <c:pt idx="147">
                  <c:v>93.69057</c:v>
                </c:pt>
                <c:pt idx="148">
                  <c:v>93.81338</c:v>
                </c:pt>
                <c:pt idx="149">
                  <c:v>93.93301</c:v>
                </c:pt>
                <c:pt idx="150">
                  <c:v>94.0523</c:v>
                </c:pt>
                <c:pt idx="151">
                  <c:v>94.17018999999999</c:v>
                </c:pt>
                <c:pt idx="152">
                  <c:v>94.28556</c:v>
                </c:pt>
                <c:pt idx="153">
                  <c:v>94.39885</c:v>
                </c:pt>
                <c:pt idx="154">
                  <c:v>94.51055000000001</c:v>
                </c:pt>
                <c:pt idx="155">
                  <c:v>94.62178300000001</c:v>
                </c:pt>
                <c:pt idx="156">
                  <c:v>94.730943</c:v>
                </c:pt>
                <c:pt idx="157">
                  <c:v>94.83973</c:v>
                </c:pt>
                <c:pt idx="158">
                  <c:v>94.94584</c:v>
                </c:pt>
                <c:pt idx="159">
                  <c:v>95.05104399999999</c:v>
                </c:pt>
                <c:pt idx="160">
                  <c:v>95.15357</c:v>
                </c:pt>
                <c:pt idx="161">
                  <c:v>95.25518</c:v>
                </c:pt>
                <c:pt idx="162">
                  <c:v>95.35586</c:v>
                </c:pt>
                <c:pt idx="163">
                  <c:v>95.45605</c:v>
                </c:pt>
                <c:pt idx="164">
                  <c:v>95.55498</c:v>
                </c:pt>
                <c:pt idx="165">
                  <c:v>95.65252699999999</c:v>
                </c:pt>
                <c:pt idx="166">
                  <c:v>95.74818</c:v>
                </c:pt>
                <c:pt idx="167">
                  <c:v>95.84340999999999</c:v>
                </c:pt>
                <c:pt idx="168">
                  <c:v>95.936775</c:v>
                </c:pt>
                <c:pt idx="169">
                  <c:v>96.02895000000001</c:v>
                </c:pt>
                <c:pt idx="170">
                  <c:v>96.121037</c:v>
                </c:pt>
                <c:pt idx="171">
                  <c:v>96.21225</c:v>
                </c:pt>
                <c:pt idx="172">
                  <c:v>96.301377</c:v>
                </c:pt>
                <c:pt idx="173">
                  <c:v>96.3893</c:v>
                </c:pt>
                <c:pt idx="174">
                  <c:v>96.47641</c:v>
                </c:pt>
                <c:pt idx="175">
                  <c:v>96.562636</c:v>
                </c:pt>
                <c:pt idx="176">
                  <c:v>96.64864</c:v>
                </c:pt>
                <c:pt idx="177">
                  <c:v>96.73398</c:v>
                </c:pt>
                <c:pt idx="178">
                  <c:v>96.81898</c:v>
                </c:pt>
                <c:pt idx="179">
                  <c:v>96.90128</c:v>
                </c:pt>
                <c:pt idx="180">
                  <c:v>96.9831</c:v>
                </c:pt>
                <c:pt idx="181">
                  <c:v>97.06375</c:v>
                </c:pt>
                <c:pt idx="182">
                  <c:v>97.14398</c:v>
                </c:pt>
                <c:pt idx="183">
                  <c:v>97.224057</c:v>
                </c:pt>
                <c:pt idx="184">
                  <c:v>97.302306</c:v>
                </c:pt>
                <c:pt idx="185">
                  <c:v>97.38032</c:v>
                </c:pt>
                <c:pt idx="186">
                  <c:v>97.4567</c:v>
                </c:pt>
                <c:pt idx="187">
                  <c:v>97.53205</c:v>
                </c:pt>
                <c:pt idx="188">
                  <c:v>97.606033</c:v>
                </c:pt>
                <c:pt idx="189">
                  <c:v>97.679305</c:v>
                </c:pt>
                <c:pt idx="190">
                  <c:v>97.752047</c:v>
                </c:pt>
                <c:pt idx="191">
                  <c:v>97.82321499999999</c:v>
                </c:pt>
                <c:pt idx="192">
                  <c:v>97.8935</c:v>
                </c:pt>
                <c:pt idx="193">
                  <c:v>97.962385</c:v>
                </c:pt>
                <c:pt idx="194">
                  <c:v>98.031175</c:v>
                </c:pt>
                <c:pt idx="195">
                  <c:v>98.099107</c:v>
                </c:pt>
                <c:pt idx="196">
                  <c:v>98.166144</c:v>
                </c:pt>
                <c:pt idx="197">
                  <c:v>98.23249</c:v>
                </c:pt>
                <c:pt idx="198">
                  <c:v>98.29868</c:v>
                </c:pt>
                <c:pt idx="199">
                  <c:v>98.36346999999999</c:v>
                </c:pt>
                <c:pt idx="200">
                  <c:v>98.427683</c:v>
                </c:pt>
                <c:pt idx="201">
                  <c:v>98.490494</c:v>
                </c:pt>
                <c:pt idx="202">
                  <c:v>98.55256999999999</c:v>
                </c:pt>
                <c:pt idx="203">
                  <c:v>98.613137</c:v>
                </c:pt>
                <c:pt idx="204">
                  <c:v>98.67283</c:v>
                </c:pt>
                <c:pt idx="205">
                  <c:v>98.73197</c:v>
                </c:pt>
                <c:pt idx="206">
                  <c:v>98.79007</c:v>
                </c:pt>
                <c:pt idx="207">
                  <c:v>98.846924</c:v>
                </c:pt>
                <c:pt idx="208">
                  <c:v>98.90352</c:v>
                </c:pt>
                <c:pt idx="209">
                  <c:v>98.95902</c:v>
                </c:pt>
                <c:pt idx="210">
                  <c:v>99.01352</c:v>
                </c:pt>
                <c:pt idx="211">
                  <c:v>99.06779</c:v>
                </c:pt>
                <c:pt idx="212">
                  <c:v>99.12173</c:v>
                </c:pt>
                <c:pt idx="213">
                  <c:v>99.174476</c:v>
                </c:pt>
                <c:pt idx="214">
                  <c:v>99.225557</c:v>
                </c:pt>
                <c:pt idx="215">
                  <c:v>99.27557999999999</c:v>
                </c:pt>
                <c:pt idx="216">
                  <c:v>99.32521</c:v>
                </c:pt>
                <c:pt idx="217">
                  <c:v>99.37424700000001</c:v>
                </c:pt>
                <c:pt idx="218">
                  <c:v>99.42227</c:v>
                </c:pt>
                <c:pt idx="219">
                  <c:v>99.47013</c:v>
                </c:pt>
                <c:pt idx="220">
                  <c:v>99.517715</c:v>
                </c:pt>
                <c:pt idx="221">
                  <c:v>99.564105</c:v>
                </c:pt>
                <c:pt idx="222">
                  <c:v>99.60933</c:v>
                </c:pt>
                <c:pt idx="223">
                  <c:v>99.653673</c:v>
                </c:pt>
                <c:pt idx="224">
                  <c:v>99.696547</c:v>
                </c:pt>
                <c:pt idx="225">
                  <c:v>99.73821600000001</c:v>
                </c:pt>
                <c:pt idx="226">
                  <c:v>99.77936</c:v>
                </c:pt>
                <c:pt idx="227">
                  <c:v>99.81909</c:v>
                </c:pt>
                <c:pt idx="228">
                  <c:v>99.85779000000001</c:v>
                </c:pt>
                <c:pt idx="229">
                  <c:v>99.89495000000001</c:v>
                </c:pt>
                <c:pt idx="230">
                  <c:v>99.931806</c:v>
                </c:pt>
                <c:pt idx="231">
                  <c:v>99.96562</c:v>
                </c:pt>
                <c:pt idx="232">
                  <c:v>99.99262</c:v>
                </c:pt>
                <c:pt idx="233">
                  <c:v>99.999976</c:v>
                </c:pt>
              </c:numCache>
            </c:numRef>
          </c:yVal>
          <c:smooth val="0"/>
        </c:ser>
        <c:ser>
          <c:idx val="1"/>
          <c:order val="1"/>
          <c:tx>
            <c:strRef>
              <c:f>Sheet1!$B$237</c:f>
              <c:strCache>
                <c:ptCount val="1"/>
                <c:pt idx="0">
                  <c:v>k = 68</c:v>
                </c:pt>
              </c:strCache>
            </c:strRef>
          </c:tx>
          <c:spPr>
            <a:ln>
              <a:noFill/>
            </a:ln>
          </c:spPr>
          <c:marker>
            <c:symbol val="circle"/>
            <c:size val="11"/>
            <c:spPr>
              <a:solidFill>
                <a:srgbClr val="D1495B"/>
              </a:solidFill>
              <a:ln>
                <a:solidFill>
                  <a:srgbClr val="D1495B"/>
                </a:solidFill>
              </a:ln>
            </c:spPr>
          </c:marker>
          <c:xVal>
            <c:numRef>
              <c:f>Sheet1!$A$238:$A$238</c:f>
              <c:numCache>
                <c:formatCode>General</c:formatCode>
                <c:ptCount val="1"/>
                <c:pt idx="0">
                  <c:v>68</c:v>
                </c:pt>
              </c:numCache>
            </c:numRef>
          </c:xVal>
          <c:yVal>
            <c:numRef>
              <c:f>Sheet1!$B$238:$B$238</c:f>
              <c:numCache>
                <c:formatCode>General</c:formatCode>
                <c:ptCount val="1"/>
                <c:pt idx="0">
                  <c:v>75.329167</c:v>
                </c:pt>
              </c:numCache>
            </c:numRef>
          </c:yVal>
          <c:smooth val="0"/>
        </c:ser>
        <c:axId val="-2128940872"/>
        <c:axId val="-2129643912"/>
      </c:scatterChart>
      <c:valAx>
        <c:axId val="-2128940872"/>
        <c:scaling>
          <c:orientation val="minMax"/>
          <c:max val="240.0"/>
          <c:min val="0.0"/>
        </c:scaling>
        <c:delete val="0"/>
        <c:axPos val="b"/>
        <c:title>
          <c:tx>
            <c:rich>
              <a:bodyPr/>
              <a:lstStyle/>
              <a:p>
                <a:r>
                  <a:rPr sz="900" b="0" i="0">
                    <a:solidFill>
                      <a:srgbClr val="48677E"/>
                    </a:solidFill>
                    <a:latin typeface="Bitstream Charter"/>
                  </a:rPr>
                  <a:t>number of components</a:t>
                </a:r>
              </a:p>
            </c:rich>
          </c:tx>
          <c:layout/>
          <c:overlay val="0"/>
        </c:title>
        <c:numFmt formatCode="General" sourceLinked="1"/>
        <c:majorTickMark val="out"/>
        <c:minorTickMark val="none"/>
        <c:tickLblPos val="nextTo"/>
        <c:txPr>
          <a:bodyPr/>
          <a:lstStyle/>
          <a:p>
            <a:pPr>
              <a:defRPr sz="900"/>
            </a:pPr>
          </a:p>
        </c:txPr>
        <c:crossAx val="-2129643912"/>
        <c:crosses val="autoZero"/>
        <c:crossBetween val="midCat"/>
      </c:valAx>
      <c:valAx>
        <c:axId val="-2129643912"/>
        <c:scaling>
          <c:orientation val="minMax"/>
          <c:max val="100.0"/>
          <c:min val="0.0"/>
        </c:scaling>
        <c:delete val="0"/>
        <c:axPos val="l"/>
        <c:majorGridlines>
          <c:spPr>
            <a:ln>
              <a:solidFill>
                <a:srgbClr val="DDE5EE"/>
              </a:solidFill>
            </a:ln>
          </c:spPr>
        </c:majorGridlines>
        <c:numFmt formatCode="General" sourceLinked="1"/>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1000">
          <a:solidFill>
            <a:srgbClr val="263C50"/>
          </a:solidFill>
          <a:latin typeface="Bitstream Char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text lifts PR-AUC</a:t>
            </a:r>
          </a:p>
        </c:rich>
      </c:tx>
      <c:layout/>
      <c:overlay val="0"/>
    </c:title>
    <c:autoTitleDeleted val="0"/>
    <c:plotArea>
      <c:barChart>
        <c:barDir val="col"/>
        <c:grouping val="clustered"/>
        <c:ser>
          <c:idx val="0"/>
          <c:order val="0"/>
          <c:tx>
            <c:strRef>
              <c:f>Sheet1!$B$1</c:f>
              <c:strCache>
                <c:ptCount val="1"/>
                <c:pt idx="0">
                  <c:v>PR-AUC</c:v>
                </c:pt>
              </c:strCache>
            </c:strRef>
          </c:tx>
          <c:spPr>
            <a:solidFill>
              <a:srgbClr val="48677E"/>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0.1151</c:v>
                </c:pt>
                <c:pt idx="1">
                  <c:v>0.3597</c:v>
                </c:pt>
                <c:pt idx="2">
                  <c:v>0.5813</c:v>
                </c:pt>
                <c:pt idx="3">
                  <c:v>0.7849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0:30.</a:t>
            </a:r>
          </a:p>
          <a:p>
            <a:r>
              <a:t>Introduce the project in one sentence: we help a small indie studio decide what to fix before Steam's refund window closes, which feature combinations to back, and when to patch.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Tejaswini (problem statement owner). 1:00.</a:t>
            </a:r>
          </a:p>
          <a:p>
            <a:r>
              <a:t>The business problem: reviews decide visibility, and a refund is possible for 14 days under 2 hours of play, so early negatives are doubly costly. Existing approaches (Steam labels, SteamSpy, the Lin et al. study of Steam reviews) describe outcomes after the fact. Our gap: act inside the refund window. Reference [1] was verified (authors, title, venue, year); we cite it only as a large-scale study of Steam 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All data was collected by us on 1–2 October 2026 from public Steam endpoints, then frozen with row counts and SHA256 hashes (docs/data_manifest.md). 99.95% of Steam's reported reviews were collected for the 1,856 fully scraped games; five very large games were capped at their newest ~15,000 reviews. The sample tables are real rows (review text and IDs left out on purpose; reviewer names were never stored).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The pipeline is python -m src.clean; every rule is logged automatically with before/after counts and a justification. Only 4,612 empty reviews are dropped. Everything suspicious is flagged and kept. Evidence: notebooks/review1/IndieGuard_Review1.ipynb section 3 and docs/cleaning_log.md.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Srihitha (EDA author). 1:00, then four more EDA slides.</a:t>
            </a:r>
          </a:p>
          <a:p>
            <a:r>
              <a:t>Three views, all computed live in the notebook (section 4 and 9) from review_features: playtime, price tier and complaint themes. 'Early' means under 2 hours played (inside the refund window). Themes are keyword groups on English reviews, an initial look until Review 2's topic modelling. The full EDA (29 figures, association tests) is in notebooks/02_EDA_Visualizations.ipynb.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Gayas (dimensionality reduction). 1:15.</a:t>
            </a:r>
          </a:p>
          <a:p>
            <a:r>
              <a:t>Three kinds of feature: engineered features kept as they are, tags reduced with PCA, text reduced with TF-IDF+SVD. All fitted on training games only; python -m src.features.validate proves it (the PCA mean equals the training-game mean). Details: docs/feature_engineering.md. Honest note: the first SVD (154 components) was replaced by this PCA after removing constant, rare and duplicate columns.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(XGBoost models) and Shantharam. 1:15.</a:t>
            </a:r>
          </a:p>
          <a:p>
            <a:r>
              <a:t>Two prediction tasks, five models each. Why these: the brief names Logistic Regression, Random Forest and XGBoost; we added LightGBM and a Dummy baseline. Split by game so no game leaks across train and test. Everything is tuned on cross-validation inside train; the test set is used once.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and Shantharam. 2:00.</a:t>
            </a:r>
          </a:p>
          <a:p>
            <a:r>
              <a:t>Every model beats the Dummy baseline. Review level: the three tree models tie (gaps smaller than the fold spread), Logistic Regression is weaker. Game level: no winner; simple models match boosting; Struggling games are hard to find (recall 0.14 to 0.45 depending on the model). The text model reaches PR-AUC 0.785, but note it detects negative reviews from their own text; it does not forecast them. Limits: XGBoost is on default settings; cross-validation is slightly optimistic, so quote the test 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(board admin). 0:45.</a:t>
            </a:r>
          </a:p>
          <a:p>
            <a:r>
              <a:t>The board uses the five required stages; every card has an owner, a due date and an Evidence field. Activity history is also visible in GitHub as dated pull requests and commits. The table is a snapshot of the 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speakers: all five, about 15 seconds each. 1:15.</a:t>
            </a:r>
          </a:p>
          <a:p>
            <a:r>
              <a:t>Each member states their own contribution and evidence link, then the Review 2 task they 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the EDA notebook section 3: the high-risk label is a negative share of 30% or more, on games with enough reviews for a stable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Bars show the high-risk rate with Wilson 95% intervals. Release year is confounded with exposure time. Store attributes were captured at the snapshot date, not at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Spearman correlations on games with enough reviews. This slide is why the protocol bans outcome and after-the-fact columns as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EDA section 11. Pairs are ranked by the confidence bound nearest the overall rate so small samples cannot top the list. Not causal.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users/Shan713/projects/1" TargetMode="External"/><Relationship Id="rId4" Type="http://schemas.openxmlformats.org/officeDocument/2006/relationships/hyperlink" Target="https://github.com/Shan713/IndieGuar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Shan713/IndieGuard/blob/main/notebooks/review1/IndieGuard_Review1.ipynb" TargetMode="External"/><Relationship Id="rId4" Type="http://schemas.openxmlformats.org/officeDocument/2006/relationships/hyperlink" Target="https://github.com/Shan713/IndieGuard/blob/main/notebooks/02_EDA_Visualizations.ipynb" TargetMode="External"/><Relationship Id="rId5" Type="http://schemas.openxmlformats.org/officeDocument/2006/relationships/hyperlink" Target="https://github.com/Shan713/IndieGuard/blob/main/docs/data_documentation.md" TargetMode="External"/><Relationship Id="rId6" Type="http://schemas.openxmlformats.org/officeDocument/2006/relationships/hyperlink" Target="https://github.com/users/Shan713/projects/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4050" b="1">
                <a:solidFill>
                  <a:srgbClr val="FFFFFF"/>
                </a:solidFill>
                <a:latin typeface="Bitstream Charter"/>
                <a:ea typeface="Bitstream Charter"/>
                <a:cs typeface="Bitstream Charter"/>
              </a:defRPr>
            </a:pPr>
            <a:r>
              <a:rPr sz="4050" b="1" i="0">
                <a:solidFill>
                  <a:srgbClr val="FFFFFF"/>
                </a:solidFill>
                <a:latin typeface="Bitstream Charter"/>
              </a:rPr>
              <a:t>IndieGuard: Indie Game Launch Analytics</a:t>
            </a:r>
          </a:p>
        </p:txBody>
      </p:sp>
      <p:sp>
        <p:nvSpPr>
          <p:cNvPr id="2" name="Rectangle 1">
            <a:extLst>
              <a:ext uri="{FF2B5EF4-FFF2-40B4-BE49-F238E27FC236}">
                <a16:creationId xmlns:a16="http://schemas.microsoft.com/office/drawing/2014/main" id="{42183F9D-1FBB-4C85-9C62-1972FA696E5C}"/>
              </a:ext>
            </a:extLst>
          </p:cNvPr>
          <p:cNvSpPr>
            <a:spLocks noGrp="1"/>
          </p:cNvSpPr>
          <p:nvPr/>
        </p:nvSpPr>
        <p:spPr>
          <a:xfrm>
            <a:off x="723900" y="1762125"/>
            <a:ext cx="10706100" cy="3905250"/>
          </a:xfrm>
          <a:prstGeom prst="rect">
            <a:avLst/>
          </a:prstGeom>
          <a:noFill/>
          <a:ln w="0">
            <a:noFill/>
          </a:ln>
        </p:spPr>
        <p:txBody>
          <a:bodyPr wrap="square">
            <a:noAutofit/>
          </a:bodyPr>
          <a:lstStyle/>
          <a:p>
            <a:pPr>
              <a:spcAft>
                <a:spcPts val="300"/>
              </a:spcAft>
              <a:defRPr sz="2250" b="0">
                <a:solidFill>
                  <a:srgbClr val="DFEAF3"/>
                </a:solidFill>
                <a:latin typeface="Bitstream Charter"/>
                <a:ea typeface="Bitstream Charter"/>
                <a:cs typeface="Bitstream Charter"/>
              </a:defRPr>
            </a:pPr>
            <a:r>
              <a:rPr sz="1700" b="0" i="0">
                <a:solidFill>
                  <a:srgbClr val="FFFFFF"/>
                </a:solidFill>
                <a:latin typeface="Bitstream Charter"/>
              </a:rPr>
              <a:t>Predicting negative-review risk and identifying winning feature combinations on Steam</a:t>
            </a:r>
          </a:p>
          <a:p>
            <a:pPr>
              <a:spcAft>
                <a:spcPts val="300"/>
              </a:spcAft>
            </a:pPr>
            <a:r>
              <a:rPr sz="1700" b="0" i="0">
                <a:solidFill>
                  <a:srgbClr val="DFEAF3"/>
                </a:solidFill>
                <a:latin typeface="Bitstream Charter"/>
              </a:rPr>
              <a:t/>
            </a:r>
          </a:p>
          <a:p>
            <a:pPr>
              <a:spcAft>
                <a:spcPts val="300"/>
              </a:spcAft>
            </a:pPr>
            <a:r>
              <a:rPr sz="1700" b="0" i="0">
                <a:solidFill>
                  <a:srgbClr val="DFEAF3"/>
                </a:solidFill>
                <a:latin typeface="Bitstream Charter"/>
              </a:rPr>
              <a:t>Review 1  •  23CSE452 Business Analytics</a:t>
            </a:r>
          </a:p>
          <a:p>
            <a:pPr>
              <a:spcAft>
                <a:spcPts val="300"/>
              </a:spcAft>
            </a:pPr>
            <a:r>
              <a:rPr sz="1700" b="0" i="0">
                <a:solidFill>
                  <a:srgbClr val="DFEAF3"/>
                </a:solidFill>
                <a:latin typeface="Bitstream Charter"/>
              </a:rPr>
              <a:t>Data Analysis and Predictive Modelling</a:t>
            </a:r>
          </a:p>
          <a:p>
            <a:pPr>
              <a:spcAft>
                <a:spcPts val="300"/>
              </a:spcAft>
            </a:pPr>
            <a:r>
              <a:rPr sz="1700" b="0" i="0">
                <a:solidFill>
                  <a:srgbClr val="DFEAF3"/>
                </a:solidFill>
                <a:latin typeface="Bitstream Charter"/>
              </a:rPr>
              <a:t/>
            </a:r>
          </a:p>
          <a:p>
            <a:pPr>
              <a:spcAft>
                <a:spcPts val="300"/>
              </a:spcAft>
            </a:pPr>
            <a:r>
              <a:rPr sz="1700" b="1" i="0">
                <a:solidFill>
                  <a:srgbClr val="FFFFFF"/>
                </a:solidFill>
                <a:latin typeface="Bitstream Charter"/>
              </a:rPr>
              <a:t>Group 1</a:t>
            </a:r>
          </a:p>
          <a:p>
            <a:pPr>
              <a:spcAft>
                <a:spcPts val="300"/>
              </a:spcAft>
            </a:pPr>
            <a:r>
              <a:rPr sz="1700" b="0" i="0">
                <a:solidFill>
                  <a:srgbClr val="DFEAF3"/>
                </a:solidFill>
                <a:latin typeface="Bitstream Charter"/>
              </a:rPr>
              <a:t>Thotakura Srihitha  •  CB.SC.U4CSE23450</a:t>
            </a:r>
          </a:p>
          <a:p>
            <a:pPr>
              <a:spcAft>
                <a:spcPts val="300"/>
              </a:spcAft>
            </a:pPr>
            <a:r>
              <a:rPr sz="1700" b="0" i="0">
                <a:solidFill>
                  <a:srgbClr val="DFEAF3"/>
                </a:solidFill>
                <a:latin typeface="Bitstream Charter"/>
              </a:rPr>
              <a:t>Gayas Sheik  •  CB.SC.U4CSE23118</a:t>
            </a:r>
          </a:p>
          <a:p>
            <a:pPr>
              <a:spcAft>
                <a:spcPts val="300"/>
              </a:spcAft>
            </a:pPr>
            <a:r>
              <a:rPr sz="1700" b="0" i="0">
                <a:solidFill>
                  <a:srgbClr val="DFEAF3"/>
                </a:solidFill>
                <a:latin typeface="Bitstream Charter"/>
              </a:rPr>
              <a:t>Shantharam P  •  CB.SC.U4CSE23146</a:t>
            </a:r>
          </a:p>
          <a:p>
            <a:pPr>
              <a:spcAft>
                <a:spcPts val="300"/>
              </a:spcAft>
            </a:pPr>
            <a:r>
              <a:rPr sz="1700" b="0" i="0">
                <a:solidFill>
                  <a:srgbClr val="DFEAF3"/>
                </a:solidFill>
                <a:latin typeface="Bitstream Charter"/>
              </a:rPr>
              <a:t>Pradeep Sasidharan  •  CB.SC.U4CSE23232</a:t>
            </a:r>
          </a:p>
          <a:p>
            <a:pPr>
              <a:spcAft>
                <a:spcPts val="300"/>
              </a:spcAft>
            </a:pPr>
            <a:r>
              <a:rPr sz="1700" b="0" i="0">
                <a:solidFill>
                  <a:srgbClr val="DFEAF3"/>
                </a:solidFill>
                <a:latin typeface="Bitstream Charter"/>
              </a:rPr>
              <a:t>Valikala Tejaswini  •  CB.SC.U4CSE23752</a:t>
            </a:r>
          </a:p>
        </p:txBody>
      </p:sp>
      <p:sp>
        <p:nvSpPr>
          <p:cNvPr id="3" name="Rectangle 2">
            <a:extLst>
              <a:ext uri="{FF2B5EF4-FFF2-40B4-BE49-F238E27FC236}">
                <a16:creationId xmlns:a16="http://schemas.microsoft.com/office/drawing/2014/main" id="{200614CC-A0DF-4994-9DFA-DB19CBB82A7A}"/>
              </a:ext>
            </a:extLst>
          </p:cNvPr>
          <p:cNvSpPr>
            <a:spLocks noGrp="1"/>
          </p:cNvSpPr>
          <p:nvPr/>
        </p:nvSpPr>
        <p:spPr>
          <a:xfrm>
            <a:off x="723900" y="6076950"/>
            <a:ext cx="10191750" cy="428625"/>
          </a:xfrm>
          <a:prstGeom prst="rect">
            <a:avLst/>
          </a:prstGeom>
          <a:noFill/>
          <a:ln w="0">
            <a:noFill/>
          </a:ln>
        </p:spPr>
        <p:txBody>
          <a:bodyPr wrap="square">
            <a:noAutofit/>
          </a:bodyPr>
          <a:lstStyle/>
          <a:p>
            <a:pPr>
              <a:spcAft>
                <a:spcPts val="400"/>
              </a:spcAft>
              <a:defRPr sz="1500" b="0">
                <a:solidFill>
                  <a:srgbClr val="C9DCEB"/>
                </a:solidFill>
                <a:latin typeface="Bitstream Charter"/>
                <a:ea typeface="Bitstream Charter"/>
                <a:cs typeface="Bitstream Charter"/>
              </a:defRPr>
            </a:pPr>
            <a:r>
              <a:rPr sz="1500" b="0" i="0">
                <a:solidFill>
                  <a:srgbClr val="C9DCEB"/>
                </a:solidFill>
                <a:latin typeface="Bitstream Charter"/>
              </a:rPr>
              <a:t>15-minute team presentation • 20 marks</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Bitstream Charter"/>
                <a:ea typeface="Bitstream Charter"/>
                <a:cs typeface="Bitstream Charter"/>
              </a:rPr>
              <a:t>01</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02</a:t>
            </a:r>
          </a:p>
        </p:txBody>
      </p:sp>
      <p:graphicFrame>
        <p:nvGraphicFramePr>
          <p:cNvPr id="6" name="Table 5"/>
          <p:cNvGraphicFramePr>
            <a:graphicFrameLocks noGrp="1"/>
          </p:cNvGraphicFramePr>
          <p:nvPr/>
        </p:nvGraphicFramePr>
        <p:xfrm>
          <a:off x="722376" y="1600200"/>
          <a:ext cx="10744200" cy="2286000"/>
        </p:xfrm>
        <a:graphic>
          <a:graphicData uri="http://schemas.openxmlformats.org/drawingml/2006/table">
            <a:tbl>
              <a:tblPr firstRow="0" bandRow="0">
                <a:tableStyleId>{2D5ABB26-0587-4C30-8999-92F81FD0307C}</a:tableStyleId>
              </a:tblPr>
              <a:tblGrid>
                <a:gridCol w="2011680"/>
                <a:gridCol w="8732520"/>
              </a:tblGrid>
              <a:tr h="457200">
                <a:tc>
                  <a:txBody>
                    <a:bodyPr wrap="square"/>
                    <a:lstStyle/>
                    <a:p>
                      <a:r>
                        <a:rPr sz="1400" b="1" i="0">
                          <a:solidFill>
                            <a:srgbClr val="132C43"/>
                          </a:solidFill>
                          <a:latin typeface="Bitstream Charter"/>
                        </a:rPr>
                        <a:t>Problem statement</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A small studio cannot tell why a Steam game collects negative reviews. An early negative review costs the rating and often the sale: Steam refunds a game within 14 days if the player has under 2 hours of playtime.</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Existing methods</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Steam’s own review labels, computed from the share of positive reviews [2]; SteamSpy owner estimates [3]; large-scale descriptive studies of Steam reviews [1].</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Research gap</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These describe games and reviews after the fact. None turns early-playtime negativity into guidance on what to fix inside the refund window, or links review risk to launch features and patch timing.</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Proposed approach</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Collect our own data (1,861 indie roguelikes, 1.65M reviews); predict negative reviews and game success tiers; quantify the refund-window effect; mine complaint themes. Review 2 adds association rules, topic models and patch impact.</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Business objective</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Evidence for a small studio or publisher on which feature combinations to back, what to fix before the refund window closes, and when to patch.</a:t>
                      </a:r>
                    </a:p>
                  </a:txBody>
                  <a:tcPr marL="64008" marR="64008" marT="54864" marB="54864" anchor="t">
                    <a:lnB w="9525" cap="flat" cmpd="sng" algn="ctr">
                      <a:solidFill>
                        <a:srgbClr val="C9D6E2"/>
                      </a:solidFill>
                      <a:prstDash val="solid"/>
                    </a:lnB>
                    <a:noFill/>
                  </a:tcPr>
                </a:tc>
              </a:tr>
            </a:tbl>
          </a:graphicData>
        </a:graphic>
      </p:graphicFrame>
      <p:sp>
        <p:nvSpPr>
          <p:cNvPr id="7" name="TextBox 6"/>
          <p:cNvSpPr txBox="1"/>
          <p:nvPr/>
        </p:nvSpPr>
        <p:spPr>
          <a:xfrm>
            <a:off x="722376" y="4754880"/>
            <a:ext cx="10241280" cy="502920"/>
          </a:xfrm>
          <a:prstGeom prst="rect">
            <a:avLst/>
          </a:prstGeom>
          <a:noFill/>
        </p:spPr>
        <p:txBody>
          <a:bodyPr wrap="square" lIns="45720" rIns="45720" tIns="27432" bIns="27432">
            <a:spAutoFit/>
          </a:bodyPr>
          <a:lstStyle/>
          <a:p>
            <a:pPr>
              <a:spcAft>
                <a:spcPts val="100"/>
              </a:spcAft>
            </a:pPr>
            <a:r>
              <a:rPr sz="950" b="0" i="0">
                <a:solidFill>
                  <a:srgbClr val="48677E"/>
                </a:solidFill>
                <a:latin typeface="Bitstream Charter"/>
              </a:rPr>
              <a:t>[1] Lin, D., Bezemer, C.-P., Zou, Y., Hassan, A. E. (2018). An empirical study of game reviews on the Steam platform. Empirical Software Engineering. doi:10.1007/s10664-018-9627-4</a:t>
            </a:r>
          </a:p>
          <a:p>
            <a:pPr>
              <a:spcAft>
                <a:spcPts val="100"/>
              </a:spcAft>
            </a:pPr>
            <a:r>
              <a:rPr sz="950" b="0" i="0">
                <a:solidFill>
                  <a:srgbClr val="48677E"/>
                </a:solidFill>
                <a:latin typeface="Bitstream Charter"/>
              </a:rPr>
              <a:t>[2] Steam user review summary labels (Valve), Overwhelmingly Positive to Overwhelmingly Negative.   [3] SteamSpy owner estimates (steamspy.com).</a:t>
            </a:r>
          </a:p>
        </p:txBody>
      </p:sp>
      <p:sp>
        <p:nvSpPr>
          <p:cNvPr id="8" name="Rectangle 7"/>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Early negatives are costly because a refund is possible inside the first two hours, so we act inside that window.</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03</a:t>
            </a:r>
          </a:p>
        </p:txBody>
      </p:sp>
      <p:graphicFrame>
        <p:nvGraphicFramePr>
          <p:cNvPr id="6" name="Table 5"/>
          <p:cNvGraphicFramePr>
            <a:graphicFrameLocks noGrp="1"/>
          </p:cNvGraphicFramePr>
          <p:nvPr/>
        </p:nvGraphicFramePr>
        <p:xfrm>
          <a:off x="722376" y="1554480"/>
          <a:ext cx="5989320" cy="2286000"/>
        </p:xfrm>
        <a:graphic>
          <a:graphicData uri="http://schemas.openxmlformats.org/drawingml/2006/table">
            <a:tbl>
              <a:tblPr firstRow="0" bandRow="0">
                <a:tableStyleId>{2D5ABB26-0587-4C30-8999-92F81FD0307C}</a:tableStyleId>
              </a:tblPr>
              <a:tblGrid>
                <a:gridCol w="1600200"/>
                <a:gridCol w="4389120"/>
              </a:tblGrid>
              <a:tr h="457200">
                <a:tc>
                  <a:txBody>
                    <a:bodyPr wrap="square"/>
                    <a:lstStyle/>
                    <a:p>
                      <a:r>
                        <a:rPr sz="1200" b="1" i="0">
                          <a:solidFill>
                            <a:srgbClr val="132C43"/>
                          </a:solidFill>
                          <a:latin typeface="Bitstream Charter"/>
                        </a:rPr>
                        <a:t>Source and 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Four public Steam sources, collected with our own throttled, resumable scrapers: store search, reviews, appdetails, SteamSpy and news. No pre-built dataset.</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Size</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1,861 games × 58 columns; 1,652,999 reviews (1,648,387 after cleaning) × 34 columns; 29,918 patch and sale announcements.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Key variables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recommend flag, playtime at review, language, text, timestamps. Game: price, tags, genres, release date, owner estimate, Steam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Prediction target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level: negative review (10.6% of the 1.57M modelled reviews). Game level: success tier Struggling / Solid / Strong from Steam’s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Period and limits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Collected 1–2 Oct 2026; games released 2022–2025. Snapshot values; 5 very large games capped at their newest ~15,000 reviews; 60% of reviews are not English.</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949440" y="1536192"/>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games (docs/data_documentation.md)</a:t>
            </a:r>
          </a:p>
        </p:txBody>
      </p:sp>
      <p:graphicFrame>
        <p:nvGraphicFramePr>
          <p:cNvPr id="8" name="Table 7"/>
          <p:cNvGraphicFramePr>
            <a:graphicFrameLocks noGrp="1"/>
          </p:cNvGraphicFramePr>
          <p:nvPr/>
        </p:nvGraphicFramePr>
        <p:xfrm>
          <a:off x="6949440" y="1828800"/>
          <a:ext cx="4572000" cy="1280160"/>
        </p:xfrm>
        <a:graphic>
          <a:graphicData uri="http://schemas.openxmlformats.org/drawingml/2006/table">
            <a:tbl>
              <a:tblPr firstRow="0" bandRow="0">
                <a:tableStyleId>{2D5ABB26-0587-4C30-8999-92F81FD0307C}</a:tableStyleId>
              </a:tblPr>
              <a:tblGrid>
                <a:gridCol w="1508760"/>
                <a:gridCol w="457200"/>
                <a:gridCol w="548640"/>
                <a:gridCol w="685800"/>
                <a:gridCol w="457200"/>
                <a:gridCol w="914400"/>
              </a:tblGrid>
              <a:tr h="256032">
                <a:tc>
                  <a:txBody>
                    <a:bodyPr wrap="square"/>
                    <a:lstStyle/>
                    <a:p>
                      <a:r>
                        <a:rPr sz="950" b="1" i="0">
                          <a:solidFill>
                            <a:srgbClr val="FFFFFF"/>
                          </a:solidFill>
                          <a:latin typeface="Bitstream Charter"/>
                        </a:rPr>
                        <a:t>Game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Year</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Price</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Reviews</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Neg.</a:t>
                      </a:r>
                    </a:p>
                  </a:txBody>
                  <a:tcPr marL="64008" marR="64008" marT="32004" marB="32004" anchor="ctr">
                    <a:solidFill>
                      <a:srgbClr val="132C43"/>
                    </a:solidFill>
                  </a:tcPr>
                </a:tc>
                <a:tc>
                  <a:txBody>
                    <a:bodyPr wrap="square"/>
                    <a:lstStyle/>
                    <a:p>
                      <a:r>
                        <a:rPr sz="950" b="1" i="0">
                          <a:solidFill>
                            <a:srgbClr val="FFFFFF"/>
                          </a:solidFill>
                          <a:latin typeface="Bitstream Charter"/>
                        </a:rPr>
                        <a:t>Tier</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Escape of Pig</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27%</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n/a</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Moonlight Chess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$7.99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50</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16%</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Pizza Hero</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980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Ravenswatch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$24.99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22,834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949440" y="3200400"/>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reviews (text and ids left out)</a:t>
            </a:r>
          </a:p>
        </p:txBody>
      </p:sp>
      <p:graphicFrame>
        <p:nvGraphicFramePr>
          <p:cNvPr id="10" name="Table 9"/>
          <p:cNvGraphicFramePr>
            <a:graphicFrameLocks noGrp="1"/>
          </p:cNvGraphicFramePr>
          <p:nvPr/>
        </p:nvGraphicFramePr>
        <p:xfrm>
          <a:off x="6949440" y="3493008"/>
          <a:ext cx="4572000" cy="1024128"/>
        </p:xfrm>
        <a:graphic>
          <a:graphicData uri="http://schemas.openxmlformats.org/drawingml/2006/table">
            <a:tbl>
              <a:tblPr firstRow="0" bandRow="0">
                <a:tableStyleId>{2D5ABB26-0587-4C30-8999-92F81FD0307C}</a:tableStyleId>
              </a:tblPr>
              <a:tblGrid>
                <a:gridCol w="1005840"/>
                <a:gridCol w="868680"/>
                <a:gridCol w="868680"/>
                <a:gridCol w="731520"/>
                <a:gridCol w="1097280"/>
              </a:tblGrid>
              <a:tr h="256032">
                <a:tc>
                  <a:txBody>
                    <a:bodyPr wrap="square"/>
                    <a:lstStyle/>
                    <a:p>
                      <a:r>
                        <a:rPr sz="950" b="1" i="0">
                          <a:solidFill>
                            <a:srgbClr val="FFFFFF"/>
                          </a:solidFill>
                          <a:latin typeface="Bitstream Charter"/>
                        </a:rPr>
                        <a:t>Language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Playtime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In window</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Chars</a:t>
                      </a:r>
                    </a:p>
                  </a:txBody>
                  <a:tcPr marL="64008" marR="64008" marT="32004" marB="32004" anchor="ctr">
                    <a:solidFill>
                      <a:srgbClr val="132C43"/>
                    </a:solidFill>
                  </a:tcPr>
                </a:tc>
                <a:tc>
                  <a:txBody>
                    <a:bodyPr wrap="square"/>
                    <a:lstStyle/>
                    <a:p>
                      <a:r>
                        <a:rPr sz="950" b="1" i="0">
                          <a:solidFill>
                            <a:srgbClr val="FFFFFF"/>
                          </a:solidFill>
                          <a:latin typeface="Bitstream Charter"/>
                        </a:rPr>
                        <a:t>Verdict</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&lt;2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yes</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1,584</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239</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positive</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schinese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4,075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11" name="TextBox 10"/>
          <p:cNvSpPr txBox="1"/>
          <p:nvPr/>
        </p:nvSpPr>
        <p:spPr>
          <a:xfrm>
            <a:off x="694944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1,861</a:t>
            </a:r>
          </a:p>
        </p:txBody>
      </p:sp>
      <p:sp>
        <p:nvSpPr>
          <p:cNvPr id="12" name="TextBox 11"/>
          <p:cNvSpPr txBox="1"/>
          <p:nvPr/>
        </p:nvSpPr>
        <p:spPr>
          <a:xfrm>
            <a:off x="694944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games</a:t>
            </a:r>
          </a:p>
        </p:txBody>
      </p:sp>
      <p:sp>
        <p:nvSpPr>
          <p:cNvPr id="13" name="TextBox 12"/>
          <p:cNvSpPr txBox="1"/>
          <p:nvPr/>
        </p:nvSpPr>
        <p:spPr>
          <a:xfrm>
            <a:off x="8503919"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1.65M</a:t>
            </a:r>
          </a:p>
        </p:txBody>
      </p:sp>
      <p:sp>
        <p:nvSpPr>
          <p:cNvPr id="14" name="TextBox 13"/>
          <p:cNvSpPr txBox="1"/>
          <p:nvPr/>
        </p:nvSpPr>
        <p:spPr>
          <a:xfrm>
            <a:off x="8503919"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reviews</a:t>
            </a:r>
          </a:p>
        </p:txBody>
      </p:sp>
      <p:sp>
        <p:nvSpPr>
          <p:cNvPr id="15" name="TextBox 14"/>
          <p:cNvSpPr txBox="1"/>
          <p:nvPr/>
        </p:nvSpPr>
        <p:spPr>
          <a:xfrm>
            <a:off x="1005840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31</a:t>
            </a:r>
          </a:p>
        </p:txBody>
      </p:sp>
      <p:sp>
        <p:nvSpPr>
          <p:cNvPr id="16" name="TextBox 15"/>
          <p:cNvSpPr txBox="1"/>
          <p:nvPr/>
        </p:nvSpPr>
        <p:spPr>
          <a:xfrm>
            <a:off x="1005840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languages</a:t>
            </a:r>
          </a:p>
        </p:txBody>
      </p:sp>
      <p:sp>
        <p:nvSpPr>
          <p:cNvPr id="17" name="Rectangle 16"/>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Our own, documented, frozen dataset: 1,861 games and 1.65M reviews, ready for modelling.</a:t>
            </a:r>
          </a:p>
        </p:txBody>
      </p:sp>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04</a:t>
            </a:r>
          </a:p>
        </p:txBody>
      </p:sp>
      <p:graphicFrame>
        <p:nvGraphicFramePr>
          <p:cNvPr id="6" name="Table 5"/>
          <p:cNvGraphicFramePr>
            <a:graphicFrameLocks noGrp="1"/>
          </p:cNvGraphicFramePr>
          <p:nvPr/>
        </p:nvGraphicFramePr>
        <p:xfrm>
          <a:off x="722376" y="1554480"/>
          <a:ext cx="5760720" cy="1828800"/>
        </p:xfrm>
        <a:graphic>
          <a:graphicData uri="http://schemas.openxmlformats.org/drawingml/2006/table">
            <a:tbl>
              <a:tblPr firstRow="0" bandRow="0">
                <a:tableStyleId>{2D5ABB26-0587-4C30-8999-92F81FD0307C}</a:tableStyleId>
              </a:tblPr>
              <a:tblGrid>
                <a:gridCol w="1554480"/>
                <a:gridCol w="4206240"/>
              </a:tblGrid>
              <a:tr h="457200">
                <a:tc>
                  <a:txBody>
                    <a:bodyPr wrap="square"/>
                    <a:lstStyle/>
                    <a:p>
                      <a:r>
                        <a:rPr sz="1200" b="1" i="0">
                          <a:solidFill>
                            <a:srgbClr val="132C43"/>
                          </a:solidFill>
                          <a:latin typeface="Bitstream Charter"/>
                        </a:rPr>
                        <a:t>Missing values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Only unusable rows are dropped: 4,612 empty reviews. Free games have no price, and no listed achievements counts as 0; both kept. 12 reviews with unknown playtime are kept and flagged.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Duplicates and outliers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No duplicate review IDs or games. Playtime above the 99.5% quantile (363 h) is winsorised in a copy and flagged. Low-content, symbol-spam and copy-pasted reviews are flagged, not removed.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Encoding and scaling</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multi-hot encoded, filtered and reduced with PCA. Logistic Regression imputes the median and standardises inside its pipeline; tree models use the values as they are.</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Before and after</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1,652,999 → 1,648,387 reviews (−0.28%); all 1,861 games kept. 32 rules, each logged with counts and a reason (docs/cleaning_log.md).</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720840" y="1536192"/>
            <a:ext cx="475488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Notebook section 3: cleaning log, rows affected</a:t>
            </a:r>
          </a:p>
        </p:txBody>
      </p:sp>
      <p:graphicFrame>
        <p:nvGraphicFramePr>
          <p:cNvPr id="8" name="Table 7"/>
          <p:cNvGraphicFramePr>
            <a:graphicFrameLocks noGrp="1"/>
          </p:cNvGraphicFramePr>
          <p:nvPr/>
        </p:nvGraphicFramePr>
        <p:xfrm>
          <a:off x="6720840" y="1828800"/>
          <a:ext cx="4754880" cy="2962656"/>
        </p:xfrm>
        <a:graphic>
          <a:graphicData uri="http://schemas.openxmlformats.org/drawingml/2006/table">
            <a:tbl>
              <a:tblPr firstRow="0" bandRow="0">
                <a:tableStyleId>{2D5ABB26-0587-4C30-8999-92F81FD0307C}</a:tableStyleId>
              </a:tblPr>
              <a:tblGrid>
                <a:gridCol w="2651760"/>
                <a:gridCol w="914400"/>
                <a:gridCol w="1188720"/>
              </a:tblGrid>
              <a:tr h="329184">
                <a:tc>
                  <a:txBody>
                    <a:bodyPr wrap="square"/>
                    <a:lstStyle/>
                    <a:p>
                      <a:r>
                        <a:rPr sz="1050" b="1" i="0">
                          <a:solidFill>
                            <a:srgbClr val="FFFFFF"/>
                          </a:solidFill>
                          <a:latin typeface="Bitstream Charter"/>
                        </a:rPr>
                        <a:t>Rule</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Action</a:t>
                      </a:r>
                    </a:p>
                  </a:txBody>
                  <a:tcPr marL="64008" marR="64008" marT="32004" marB="32004" anchor="ctr">
                    <a:solidFill>
                      <a:srgbClr val="132C43"/>
                    </a:solidFill>
                  </a:tcPr>
                </a:tc>
                <a:tc>
                  <a:txBody>
                    <a:bodyPr wrap="square"/>
                    <a:lstStyle/>
                    <a:p>
                      <a:pPr algn="r"/>
                      <a:r>
                        <a:rPr sz="1050" b="1" i="0">
                          <a:solidFill>
                            <a:srgbClr val="FFFFFF"/>
                          </a:solidFill>
                          <a:latin typeface="Bitstream Charter"/>
                        </a:rPr>
                        <a:t>Affected</a:t>
                      </a:r>
                    </a:p>
                  </a:txBody>
                  <a:tcPr marL="64008" marR="64008" marT="32004" marB="32004" anchor="ctr">
                    <a:solidFill>
                      <a:srgbClr val="132C43"/>
                    </a:solidFill>
                  </a:tcPr>
                </a:tc>
              </a:tr>
              <a:tr h="329184">
                <a:tc>
                  <a:txBody>
                    <a:bodyPr wrap="square"/>
                    <a:lstStyle/>
                    <a:p>
                      <a:r>
                        <a:rPr sz="1050" b="0" i="0">
                          <a:solidFill>
                            <a:srgbClr val="263C50"/>
                          </a:solidFill>
                          <a:latin typeface="Bitstream Charter"/>
                        </a:rPr>
                        <a:t>Empty review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1" i="0">
                          <a:solidFill>
                            <a:srgbClr val="D1495B"/>
                          </a:solidFill>
                          <a:latin typeface="Bitstream Charter"/>
                        </a:rPr>
                        <a:t>drop</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4,612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Low content (very short)</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208,724</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Received for free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34,394</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Written before launch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30,018</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Playtime outlier (&gt;99.5%)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8,242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ASCII art / symbol spam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4,951</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Copy-pasted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2,285</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Game launch date corrected</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fix</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318</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720840" y="5029200"/>
            <a:ext cx="4754880" cy="64008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Dropped rows are the exception; everything else is flagged and kept, so each analysis chooses what it needs (for example a text-mining flag).</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Almost nothing is deleted: suspicious rows are flagged, so every analysis can choose its own rule.</a:t>
            </a:r>
          </a:p>
        </p:txBody>
      </p:sp>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Exploratory Analysis and Visualization</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05</a:t>
            </a:r>
          </a:p>
        </p:txBody>
      </p:sp>
      <p:graphicFrame>
        <p:nvGraphicFramePr>
          <p:cNvPr id="6" name="Chart 5"/>
          <p:cNvGraphicFramePr>
            <a:graphicFrameLocks noGrp="1"/>
          </p:cNvGraphicFramePr>
          <p:nvPr/>
        </p:nvGraphicFramePr>
        <p:xfrm>
          <a:off x="640080" y="1554480"/>
          <a:ext cx="3520440" cy="2697480"/>
        </p:xfrm>
        <a:graphic>
          <a:graphicData uri="http://schemas.openxmlformats.org/drawingml/2006/chart">
            <c:chart xmlns:c="http://schemas.openxmlformats.org/drawingml/2006/chart" r:id="rId3"/>
          </a:graphicData>
        </a:graphic>
      </p:graphicFrame>
      <p:graphicFrame>
        <p:nvGraphicFramePr>
          <p:cNvPr id="7" name="Chart 6"/>
          <p:cNvGraphicFramePr>
            <a:graphicFrameLocks noGrp="1"/>
          </p:cNvGraphicFramePr>
          <p:nvPr/>
        </p:nvGraphicFramePr>
        <p:xfrm>
          <a:off x="4206240" y="1554480"/>
          <a:ext cx="3840480" cy="2697480"/>
        </p:xfrm>
        <a:graphic>
          <a:graphicData uri="http://schemas.openxmlformats.org/drawingml/2006/chart">
            <c:chart xmlns:c="http://schemas.openxmlformats.org/drawingml/2006/chart" r:id="rId4"/>
          </a:graphicData>
        </a:graphic>
      </p:graphicFrame>
      <p:graphicFrame>
        <p:nvGraphicFramePr>
          <p:cNvPr id="8" name="Chart 7"/>
          <p:cNvGraphicFramePr>
            <a:graphicFrameLocks noGrp="1"/>
          </p:cNvGraphicFramePr>
          <p:nvPr/>
        </p:nvGraphicFramePr>
        <p:xfrm>
          <a:off x="8092440" y="1554480"/>
          <a:ext cx="3611880" cy="2697480"/>
        </p:xfrm>
        <a:graphic>
          <a:graphicData uri="http://schemas.openxmlformats.org/drawingml/2006/chart">
            <c:chart xmlns:c="http://schemas.openxmlformats.org/drawingml/2006/chart" r:id="rId5"/>
          </a:graphicData>
        </a:graphic>
      </p:graphicFrame>
      <p:sp>
        <p:nvSpPr>
          <p:cNvPr id="9" name="TextBox 8"/>
          <p:cNvSpPr txBox="1"/>
          <p:nvPr/>
        </p:nvSpPr>
        <p:spPr>
          <a:xfrm>
            <a:off x="722376" y="4370832"/>
            <a:ext cx="10881360" cy="164592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1  Refund window: </a:t>
            </a:r>
            <a:r>
              <a:rPr sz="1300" b="0" i="0">
                <a:solidFill>
                  <a:srgbClr val="263C50"/>
                </a:solidFill>
                <a:latin typeface="Bitstream Charter"/>
              </a:rPr>
              <a:t>21.2% of reviews written under 2 h are negative against 8.8% later, and they are 29.0% of all negatives: the studio loses the review and often the sale.</a:t>
            </a:r>
          </a:p>
          <a:p>
            <a:pPr>
              <a:spcAft>
                <a:spcPts val="600"/>
              </a:spcAft>
            </a:pPr>
            <a:r>
              <a:rPr sz="1300" b="1" i="0">
                <a:solidFill>
                  <a:srgbClr val="132C43"/>
                </a:solidFill>
                <a:latin typeface="Bitstream Charter"/>
              </a:rPr>
              <a:t>2  Price: </a:t>
            </a:r>
            <a:r>
              <a:rPr sz="1300" b="0" i="0">
                <a:solidFill>
                  <a:srgbClr val="263C50"/>
                </a:solidFill>
                <a:latin typeface="Bitstream Charter"/>
              </a:rPr>
              <a:t>inside the window the negative share rises from 11% (under $5) to 32% ($20+); outside it price barely matters.</a:t>
            </a:r>
          </a:p>
          <a:p>
            <a:pPr>
              <a:spcAft>
                <a:spcPts val="600"/>
              </a:spcAft>
            </a:pPr>
            <a:r>
              <a:rPr sz="1300" b="1" i="0">
                <a:solidFill>
                  <a:srgbClr val="132C43"/>
                </a:solidFill>
                <a:latin typeface="Bitstream Charter"/>
              </a:rPr>
              <a:t>3  Complaints change: </a:t>
            </a:r>
            <a:r>
              <a:rPr sz="1300" b="0" i="0">
                <a:solidFill>
                  <a:srgbClr val="263C50"/>
                </a:solidFill>
                <a:latin typeface="Bitstream Charter"/>
              </a:rPr>
              <a:t>controls, camera and interface lead early (13.1% against 7.2%); repetition and unfair difficulty lead later. Fix the opening first, patch for depth after.</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10</a:t>
            </a:r>
          </a:p>
        </p:txBody>
      </p:sp>
      <p:graphicFrame>
        <p:nvGraphicFramePr>
          <p:cNvPr id="6" name="Table 5"/>
          <p:cNvGraphicFramePr>
            <a:graphicFrameLocks noGrp="1"/>
          </p:cNvGraphicFramePr>
          <p:nvPr/>
        </p:nvGraphicFramePr>
        <p:xfrm>
          <a:off x="722376" y="1554480"/>
          <a:ext cx="5897880" cy="1828800"/>
        </p:xfrm>
        <a:graphic>
          <a:graphicData uri="http://schemas.openxmlformats.org/drawingml/2006/table">
            <a:tbl>
              <a:tblPr firstRow="0" bandRow="0">
                <a:tableStyleId>{2D5ABB26-0587-4C30-8999-92F81FD0307C}</a:tableStyleId>
              </a:tblPr>
              <a:tblGrid>
                <a:gridCol w="1417320"/>
                <a:gridCol w="4480560"/>
              </a:tblGrid>
              <a:tr h="457200">
                <a:tc>
                  <a:txBody>
                    <a:bodyPr wrap="square"/>
                    <a:lstStyle/>
                    <a:p>
                      <a:r>
                        <a:rPr sz="1200" b="1" i="0">
                          <a:solidFill>
                            <a:srgbClr val="132C43"/>
                          </a:solidFill>
                          <a:latin typeface="Bitstream Charter"/>
                        </a:rPr>
                        <a:t>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Engineered features kept as they are; tags and categories reduced with PCA; review text with TF-IDF and truncated SVD. Everything is fitted on training games only.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Features used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playtime bucket, refund-window and launch-week flags, days since launch, price tier, patch and sale recency, reviewer and text length. Game: price tier, launch year, DLC, achievements, platforms and 68 tag components.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Justification</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439 sparse tag columns invite overfitting on 1,861 games. PCA keeps their shared structure, and an elbow rule picks the number of components reproducibly.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Effect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439 → 234 → 68 columns, 75% of training variance (70.5% on held-out games). Text: 41,891 terms → 78 components; adding the text lifts PR-AUC from 0.36 to 0.58.</a:t>
                      </a:r>
                    </a:p>
                  </a:txBody>
                  <a:tcPr marL="64008" marR="64008" marT="45720" marB="45720" anchor="t">
                    <a:lnB w="9525" cap="flat" cmpd="sng" algn="ctr">
                      <a:solidFill>
                        <a:srgbClr val="C9D6E2"/>
                      </a:solidFill>
                      <a:prstDash val="solid"/>
                    </a:lnB>
                    <a:noFill/>
                  </a:tcPr>
                </a:tc>
              </a:tr>
            </a:tbl>
          </a:graphicData>
        </a:graphic>
      </p:graphicFrame>
      <p:graphicFrame>
        <p:nvGraphicFramePr>
          <p:cNvPr id="7" name="Chart 6"/>
          <p:cNvGraphicFramePr>
            <a:graphicFrameLocks noGrp="1"/>
          </p:cNvGraphicFramePr>
          <p:nvPr/>
        </p:nvGraphicFramePr>
        <p:xfrm>
          <a:off x="6812280" y="1554480"/>
          <a:ext cx="4754880" cy="3108960"/>
        </p:xfrm>
        <a:graphic>
          <a:graphicData uri="http://schemas.openxmlformats.org/drawingml/2006/chart">
            <c:chart xmlns:c="http://schemas.openxmlformats.org/drawingml/2006/chart" r:id="rId3"/>
          </a:graphicData>
        </a:graphic>
      </p:graphicFrame>
      <p:sp>
        <p:nvSpPr>
          <p:cNvPr id="8" name="TextBox 7"/>
          <p:cNvSpPr txBox="1"/>
          <p:nvPr/>
        </p:nvSpPr>
        <p:spPr>
          <a:xfrm>
            <a:off x="6812280" y="4709160"/>
            <a:ext cx="4754880" cy="822960"/>
          </a:xfrm>
          <a:prstGeom prst="rect">
            <a:avLst/>
          </a:prstGeom>
          <a:noFill/>
        </p:spPr>
        <p:txBody>
          <a:bodyPr wrap="square" lIns="45720" rIns="45720" tIns="27432" bIns="27432">
            <a:spAutoFit/>
          </a:bodyPr>
          <a:lstStyle/>
          <a:p>
            <a:pPr>
              <a:spcAft>
                <a:spcPts val="400"/>
              </a:spcAft>
            </a:pPr>
            <a:r>
              <a:rPr sz="1150" b="1" i="0">
                <a:solidFill>
                  <a:srgbClr val="D1495B"/>
                </a:solidFill>
                <a:latin typeface="Bitstream Charter"/>
              </a:rPr>
              <a:t>k = 68: </a:t>
            </a:r>
            <a:r>
              <a:rPr sz="1150" b="0" i="0">
                <a:solidFill>
                  <a:srgbClr val="263C50"/>
                </a:solidFill>
                <a:latin typeface="Bitstream Charter"/>
              </a:rPr>
              <a:t>the elbow of the curve keeps 75% of the variance. The first components read as action roguelike vs card/strategy, a polished store page vs 3D and free-to-play, and 2D pixel art vs 3D.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Tags shrink from 439 columns to 68 components, and review text adds the biggest lift in accuracy.</a:t>
            </a:r>
          </a:p>
        </p:txBody>
      </p:sp>
    </p:spTree>
    <p:extLst>
      <p:ext uri="{BB962C8B-B14F-4D97-AF65-F5344CB8AC3E}">
        <p14:creationId xmlns:p14="http://schemas.microsoft.com/office/powerpoint/2010/main" val="158466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11</a:t>
            </a:r>
          </a:p>
        </p:txBody>
      </p:sp>
      <p:graphicFrame>
        <p:nvGraphicFramePr>
          <p:cNvPr id="6" name="Table 5"/>
          <p:cNvGraphicFramePr>
            <a:graphicFrameLocks noGrp="1"/>
          </p:cNvGraphicFramePr>
          <p:nvPr/>
        </p:nvGraphicFramePr>
        <p:xfrm>
          <a:off x="722376" y="1554480"/>
          <a:ext cx="10744200" cy="3401568"/>
        </p:xfrm>
        <a:graphic>
          <a:graphicData uri="http://schemas.openxmlformats.org/drawingml/2006/table">
            <a:tbl>
              <a:tblPr firstRow="0" bandRow="0">
                <a:tableStyleId>{2D5ABB26-0587-4C30-8999-92F81FD0307C}</a:tableStyleId>
              </a:tblPr>
              <a:tblGrid>
                <a:gridCol w="1554480"/>
                <a:gridCol w="4754880"/>
                <a:gridCol w="4434840"/>
              </a:tblGrid>
              <a:tr h="566928">
                <a:tc>
                  <a:txBody>
                    <a:bodyPr wrap="square"/>
                    <a:lstStyle/>
                    <a:p>
                      <a:r>
                        <a:rPr sz="1150" b="1" i="0">
                          <a:solidFill>
                            <a:srgbClr val="FFFFFF"/>
                          </a:solidFill>
                          <a:latin typeface="Bitstream Charter"/>
                        </a:rPr>
                        <a:t/>
                      </a:r>
                    </a:p>
                  </a:txBody>
                  <a:tcPr marL="64008" marR="64008" marT="32004" marB="32004" anchor="ctr">
                    <a:solidFill>
                      <a:srgbClr val="132C43"/>
                    </a:solidFill>
                  </a:tcPr>
                </a:tc>
                <a:tc>
                  <a:txBody>
                    <a:bodyPr wrap="square"/>
                    <a:lstStyle/>
                    <a:p>
                      <a:r>
                        <a:rPr sz="1150" b="1" i="0">
                          <a:solidFill>
                            <a:srgbClr val="FFFFFF"/>
                          </a:solidFill>
                          <a:latin typeface="Bitstream Charter"/>
                        </a:rPr>
                        <a:t>Review level</a:t>
                      </a:r>
                    </a:p>
                  </a:txBody>
                  <a:tcPr marL="64008" marR="64008" marT="32004" marB="32004" anchor="ctr">
                    <a:solidFill>
                      <a:srgbClr val="132C43"/>
                    </a:solidFill>
                  </a:tcPr>
                </a:tc>
                <a:tc>
                  <a:txBody>
                    <a:bodyPr wrap="square"/>
                    <a:lstStyle/>
                    <a:p>
                      <a:r>
                        <a:rPr sz="1150" b="1" i="0">
                          <a:solidFill>
                            <a:srgbClr val="FFFFFF"/>
                          </a:solidFill>
                          <a:latin typeface="Bitstream Charter"/>
                        </a:rPr>
                        <a:t>Game level</a:t>
                      </a:r>
                    </a:p>
                  </a:txBody>
                  <a:tcPr marL="64008" marR="64008" marT="32004" marB="32004" anchor="ctr">
                    <a:solidFill>
                      <a:srgbClr val="132C43"/>
                    </a:solidFill>
                  </a:tcPr>
                </a:tc>
              </a:tr>
              <a:tr h="566928">
                <a:tc>
                  <a:txBody>
                    <a:bodyPr wrap="square"/>
                    <a:lstStyle/>
                    <a:p>
                      <a:r>
                        <a:rPr sz="1150" b="1" i="0">
                          <a:solidFill>
                            <a:srgbClr val="263C50"/>
                          </a:solidFill>
                          <a:latin typeface="Bitstream Charter"/>
                        </a:rPr>
                        <a:t>Prediction task</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will a review be negative? (10.6% are)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into 3 ordered tiers: Struggling, Solid, Strong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 plus text models (TF-IDF + 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Model selection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The brief’s three cover linear, bagged and boosted trees; LightGBM adds a second boosting method; the Dummy shows what guessing scores. Large data (1.26M training rows) suits tree ensembles.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Same models. Small data (1,191 games), so simple models can compete with boosting.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Data split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80/20 by game: 1,257,095 train / 316,341 test reviews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1,191 train / 299 test games (a tier needs 20+ reviews)</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Small grids tuned by 5-fold CV on train; class weights; early stopping on PR-AUC; threshold set on out-of-fold predictions; XGBoost on default 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Grids tuned by CV macro-F1; balanced class weights; early stopping on log-loss; class scales set on out-of-fold predictions; XGBoost on defaults</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440680"/>
            <a:ext cx="10744200" cy="548640"/>
          </a:xfrm>
          <a:prstGeom prst="rect">
            <a:avLst/>
          </a:prstGeom>
          <a:noFill/>
        </p:spPr>
        <p:txBody>
          <a:bodyPr wrap="square" lIns="45720" rIns="45720" tIns="27432" bIns="27432">
            <a:spAutoFit/>
          </a:bodyPr>
          <a:lstStyle/>
          <a:p>
            <a:pPr>
              <a:spcAft>
                <a:spcPts val="400"/>
              </a:spcAft>
            </a:pPr>
            <a:r>
              <a:rPr sz="1200" b="1" i="0">
                <a:solidFill>
                  <a:srgbClr val="132C43"/>
                </a:solidFill>
                <a:latin typeface="Bitstream Charter"/>
              </a:rPr>
              <a:t>Rules for every model: </a:t>
            </a:r>
            <a:r>
              <a:rPr sz="1200" b="0" i="0">
                <a:solidFill>
                  <a:srgbClr val="263C50"/>
                </a:solidFill>
                <a:latin typeface="Bitstream Charter"/>
              </a:rPr>
              <a:t>one shared split by game (no game on both sides) with 5 cross-validation folds inside train; anything learned from data is fitted on training rows only; the test set is scored once (docs/modelling_protocol.md).</a:t>
            </a:r>
          </a:p>
        </p:txBody>
      </p:sp>
    </p:spTree>
    <p:extLst>
      <p:ext uri="{BB962C8B-B14F-4D97-AF65-F5344CB8AC3E}">
        <p14:creationId xmlns:p14="http://schemas.microsoft.com/office/powerpoint/2010/main" val="1562942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12</a:t>
            </a:r>
          </a:p>
        </p:txBody>
      </p:sp>
      <p:sp>
        <p:nvSpPr>
          <p:cNvPr id="6" name="TextBox 5"/>
          <p:cNvSpPr txBox="1"/>
          <p:nvPr/>
        </p:nvSpPr>
        <p:spPr>
          <a:xfrm>
            <a:off x="722376" y="1481328"/>
            <a:ext cx="576072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Test results (scored once)</a:t>
            </a:r>
          </a:p>
        </p:txBody>
      </p:sp>
      <p:graphicFrame>
        <p:nvGraphicFramePr>
          <p:cNvPr id="7" name="Table 6"/>
          <p:cNvGraphicFramePr>
            <a:graphicFrameLocks noGrp="1"/>
          </p:cNvGraphicFramePr>
          <p:nvPr/>
        </p:nvGraphicFramePr>
        <p:xfrm>
          <a:off x="722376" y="1755648"/>
          <a:ext cx="5760720" cy="1645920"/>
        </p:xfrm>
        <a:graphic>
          <a:graphicData uri="http://schemas.openxmlformats.org/drawingml/2006/table">
            <a:tbl>
              <a:tblPr firstRow="0" bandRow="0">
                <a:tableStyleId>{2D5ABB26-0587-4C30-8999-92F81FD0307C}</a:tableStyleId>
              </a:tblPr>
              <a:tblGrid>
                <a:gridCol w="1737360"/>
                <a:gridCol w="1005840"/>
                <a:gridCol w="1005840"/>
                <a:gridCol w="1005840"/>
                <a:gridCol w="1005840"/>
              </a:tblGrid>
              <a:tr h="274320">
                <a:tc>
                  <a:txBody>
                    <a:bodyPr wrap="square"/>
                    <a:lstStyle/>
                    <a:p>
                      <a:r>
                        <a:rPr sz="1050" b="1" i="0">
                          <a:solidFill>
                            <a:srgbClr val="FFFFFF"/>
                          </a:solidFill>
                          <a:latin typeface="Bitstream Charter"/>
                        </a:rPr>
                        <a:t>Model</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PR-AUC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ROC-AUC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Game macro-F1</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Struggling recall</a:t>
                      </a:r>
                    </a:p>
                  </a:txBody>
                  <a:tcPr marL="64008" marR="64008" marT="32004" marB="32004" anchor="ctr">
                    <a:solidFill>
                      <a:srgbClr val="132C43"/>
                    </a:solidFill>
                  </a:tcPr>
                </a:tc>
              </a:tr>
              <a:tr h="274320">
                <a:tc>
                  <a:txBody>
                    <a:bodyPr wrap="square"/>
                    <a:lstStyle/>
                    <a:p>
                      <a:r>
                        <a:rPr sz="1050" b="0" i="0">
                          <a:solidFill>
                            <a:srgbClr val="263C50"/>
                          </a:solidFill>
                          <a:latin typeface="Bitstream Charter"/>
                        </a:rPr>
                        <a:t>Dummy (prior)</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0.106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0.500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0.220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0.194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0.663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0.39</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Random Forest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0.275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0.721</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0.404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LightGBM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0.265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0.729</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0.421</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0.45</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XGBoost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0.283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0.733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0.388</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bl>
          </a:graphicData>
        </a:graphic>
      </p:graphicFrame>
      <p:graphicFrame>
        <p:nvGraphicFramePr>
          <p:cNvPr id="8" name="Chart 7"/>
          <p:cNvGraphicFramePr>
            <a:graphicFrameLocks noGrp="1"/>
          </p:cNvGraphicFramePr>
          <p:nvPr/>
        </p:nvGraphicFramePr>
        <p:xfrm>
          <a:off x="640080" y="3520440"/>
          <a:ext cx="3246120" cy="2148840"/>
        </p:xfrm>
        <a:graphic>
          <a:graphicData uri="http://schemas.openxmlformats.org/drawingml/2006/chart">
            <c:chart xmlns:c="http://schemas.openxmlformats.org/drawingml/2006/chart" r:id="rId3"/>
          </a:graphicData>
        </a:graphic>
      </p:graphicFrame>
      <p:sp>
        <p:nvSpPr>
          <p:cNvPr id="9" name="TextBox 8"/>
          <p:cNvSpPr txBox="1"/>
          <p:nvPr/>
        </p:nvSpPr>
        <p:spPr>
          <a:xfrm>
            <a:off x="3977639" y="3611880"/>
            <a:ext cx="2560320" cy="2103120"/>
          </a:xfrm>
          <a:prstGeom prst="rect">
            <a:avLst/>
          </a:prstGeom>
          <a:noFill/>
        </p:spPr>
        <p:txBody>
          <a:bodyPr wrap="square" lIns="45720" rIns="45720" tIns="27432" bIns="27432">
            <a:spAutoFit/>
          </a:bodyPr>
          <a:lstStyle/>
          <a:p>
            <a:pPr>
              <a:spcAft>
                <a:spcPts val="300"/>
              </a:spcAft>
            </a:pPr>
            <a:r>
              <a:rPr sz="1100" b="1" i="0">
                <a:solidFill>
                  <a:srgbClr val="132C43"/>
                </a:solidFill>
                <a:latin typeface="Bitstream Charter"/>
              </a:rPr>
              <a:t>Precision / recall / F1</a:t>
            </a:r>
          </a:p>
          <a:p>
            <a:pPr>
              <a:spcAft>
                <a:spcPts val="300"/>
              </a:spcAft>
            </a:pPr>
            <a:r>
              <a:rPr sz="1100" b="0" i="0">
                <a:solidFill>
                  <a:srgbClr val="263C50"/>
                </a:solidFill>
                <a:latin typeface="Bitstream Charter"/>
              </a:rPr>
              <a:t>text model: 0.72 / 0.72 / 0.72</a:t>
            </a:r>
          </a:p>
          <a:p>
            <a:pPr>
              <a:spcAft>
                <a:spcPts val="300"/>
              </a:spcAft>
            </a:pPr>
            <a:r>
              <a:rPr sz="1100" b="0" i="0">
                <a:solidFill>
                  <a:srgbClr val="263C50"/>
                </a:solidFill>
                <a:latin typeface="Bitstream Charter"/>
              </a:rPr>
              <a:t>XGBoost (metadata): 0.24 / 0.52 / 0.33</a:t>
            </a:r>
          </a:p>
          <a:p>
            <a:pPr>
              <a:spcAft>
                <a:spcPts val="300"/>
              </a:spcAft>
            </a:pPr>
            <a:r>
              <a:rPr sz="1000" b="0" i="0">
                <a:solidFill>
                  <a:srgbClr val="48677E"/>
                </a:solidFill>
                <a:latin typeface="Bitstream Charter"/>
              </a:rPr>
              <a:t>Dummy PR-AUC equals the base rate: 0.106 (reviews), 0.115 (English subset).</a:t>
            </a:r>
          </a:p>
        </p:txBody>
      </p:sp>
      <p:pic>
        <p:nvPicPr>
          <p:cNvPr id="10" name="Picture 9" descr="game_xgb_confusion.png"/>
          <p:cNvPicPr>
            <a:picLocks noChangeAspect="1"/>
          </p:cNvPicPr>
          <p:nvPr/>
        </p:nvPicPr>
        <p:blipFill>
          <a:blip r:embed="rId4"/>
          <a:stretch>
            <a:fillRect/>
          </a:stretch>
        </p:blipFill>
        <p:spPr>
          <a:xfrm>
            <a:off x="6720840" y="1508760"/>
            <a:ext cx="4846320" cy="1982585"/>
          </a:xfrm>
          <a:prstGeom prst="rect">
            <a:avLst/>
          </a:prstGeom>
        </p:spPr>
      </p:pic>
      <p:sp>
        <p:nvSpPr>
          <p:cNvPr id="11" name="TextBox 10"/>
          <p:cNvSpPr txBox="1"/>
          <p:nvPr/>
        </p:nvSpPr>
        <p:spPr>
          <a:xfrm>
            <a:off x="6720840" y="3611880"/>
            <a:ext cx="4846320" cy="228600"/>
          </a:xfrm>
          <a:prstGeom prst="rect">
            <a:avLst/>
          </a:prstGeom>
          <a:noFill/>
        </p:spPr>
        <p:txBody>
          <a:bodyPr wrap="square" lIns="45720" rIns="45720" tIns="27432" bIns="27432">
            <a:spAutoFit/>
          </a:bodyPr>
          <a:lstStyle/>
          <a:p>
            <a:pPr>
              <a:spcAft>
                <a:spcPts val="400"/>
              </a:spcAft>
            </a:pPr>
            <a:r>
              <a:rPr sz="900" b="0" i="1">
                <a:solidFill>
                  <a:srgbClr val="48677E"/>
                </a:solidFill>
                <a:latin typeface="Bitstream Charter"/>
              </a:rPr>
              <a:t>Game level, XGBoost: confusion matrix (left: default rule)</a:t>
            </a:r>
          </a:p>
        </p:txBody>
      </p:sp>
      <p:sp>
        <p:nvSpPr>
          <p:cNvPr id="12" name="TextBox 11"/>
          <p:cNvSpPr txBox="1"/>
          <p:nvPr/>
        </p:nvSpPr>
        <p:spPr>
          <a:xfrm>
            <a:off x="6720840" y="3931920"/>
            <a:ext cx="4846320" cy="21945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Interpretation  </a:t>
            </a:r>
            <a:r>
              <a:rPr sz="1100" b="0" i="0">
                <a:solidFill>
                  <a:srgbClr val="263C50"/>
                </a:solidFill>
                <a:latin typeface="Bitstream Charter"/>
              </a:rPr>
              <a:t>Metadata alone predicts review negativity weakly (best PR-AUC 0.28 against 0.11 for guessing); the review text is far stronger (0.79). Game tiers are only weakly predictable from the store page (macro-F1 about 0.42 against 0.22): more games would not help. No model wins: the intervals overlap (299 test games).</a:t>
            </a:r>
          </a:p>
          <a:p>
            <a:pPr>
              <a:spcAft>
                <a:spcPts val="500"/>
              </a:spcAft>
            </a:pPr>
            <a:r>
              <a:rPr sz="1100" b="1" i="0">
                <a:solidFill>
                  <a:srgbClr val="132C43"/>
                </a:solidFill>
                <a:latin typeface="Bitstream Charter"/>
              </a:rPr>
              <a:t>Business findings  </a:t>
            </a:r>
            <a:r>
              <a:rPr sz="1100" b="0" i="0">
                <a:solidFill>
                  <a:srgbClr val="263C50"/>
                </a:solidFill>
                <a:latin typeface="Bitstream Charter"/>
              </a:rPr>
              <a:t>Under-2-hour reviews are 21.2% negative against 8.8%; fix controls and the opening first, patch repetition and balance later; price raises early expectations.</a:t>
            </a:r>
          </a:p>
        </p:txBody>
      </p:sp>
    </p:spTree>
    <p:extLst>
      <p:ext uri="{BB962C8B-B14F-4D97-AF65-F5344CB8AC3E}">
        <p14:creationId xmlns:p14="http://schemas.microsoft.com/office/powerpoint/2010/main" val="737816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13</a:t>
            </a:r>
          </a:p>
        </p:txBody>
      </p:sp>
      <p:sp>
        <p:nvSpPr>
          <p:cNvPr id="6" name="TextBox 5"/>
          <p:cNvSpPr txBox="1"/>
          <p:nvPr/>
        </p:nvSpPr>
        <p:spPr>
          <a:xfrm>
            <a:off x="722376" y="1508760"/>
            <a:ext cx="10789920" cy="566928"/>
          </a:xfrm>
          <a:prstGeom prst="rect">
            <a:avLst/>
          </a:prstGeom>
          <a:noFill/>
        </p:spPr>
        <p:txBody>
          <a:bodyPr wrap="square" lIns="45720" rIns="45720" tIns="27432" bIns="27432">
            <a:spAutoFit/>
          </a:bodyPr>
          <a:lstStyle/>
          <a:p>
            <a:pPr>
              <a:spcAft>
                <a:spcPts val="300"/>
              </a:spcAft>
            </a:pPr>
            <a:r>
              <a:rPr sz="1250" b="1" i="0">
                <a:solidFill>
                  <a:srgbClr val="132C43"/>
                </a:solidFill>
                <a:latin typeface="Bitstream Charter"/>
              </a:rPr>
              <a:t>GitHub Projects board: </a:t>
            </a:r>
            <a:r>
              <a:rPr sz="1250" b="0" i="0">
                <a:solidFill>
                  <a:srgbClr val="48677E"/>
                </a:solidFill>
                <a:latin typeface="Bitstream Charter"/>
                <a:hlinkClick r:id="rId3"/>
              </a:rPr>
              <a:t>https://github.com/users/Shan713/projects/1</a:t>
            </a:r>
            <a:r>
              <a:rPr sz="1100" b="0" i="0">
                <a:solidFill>
                  <a:srgbClr val="48677E"/>
                </a:solidFill>
                <a:latin typeface="Bitstream Charter"/>
              </a:rPr>
              <a:t>  (private to the team)</a:t>
            </a:r>
          </a:p>
          <a:p>
            <a:pPr>
              <a:spcAft>
                <a:spcPts val="300"/>
              </a:spcAft>
            </a:pPr>
            <a:r>
              <a:rPr sz="1250" b="1" i="0">
                <a:solidFill>
                  <a:srgbClr val="132C43"/>
                </a:solidFill>
                <a:latin typeface="Bitstream Charter"/>
              </a:rPr>
              <a:t>Stages: </a:t>
            </a:r>
            <a:r>
              <a:rPr sz="1250" b="0" i="0">
                <a:solidFill>
                  <a:srgbClr val="263C50"/>
                </a:solidFill>
                <a:latin typeface="Bitstream Charter"/>
              </a:rPr>
              <a:t>Backlog → To Do → In Progress → Review/Testing → Completed.  </a:t>
            </a:r>
            <a:r>
              <a:rPr sz="1250" b="1" i="0">
                <a:solidFill>
                  <a:srgbClr val="263C50"/>
                </a:solidFill>
                <a:latin typeface="Bitstream Charter"/>
              </a:rPr>
              <a:t>46 cards, each with an owner, a due date and an Evidence link.</a:t>
            </a:r>
          </a:p>
        </p:txBody>
      </p:sp>
      <p:graphicFrame>
        <p:nvGraphicFramePr>
          <p:cNvPr id="7" name="Table 6"/>
          <p:cNvGraphicFramePr>
            <a:graphicFrameLocks noGrp="1"/>
          </p:cNvGraphicFramePr>
          <p:nvPr/>
        </p:nvGraphicFramePr>
        <p:xfrm>
          <a:off x="722376" y="2194560"/>
          <a:ext cx="6217920" cy="3685032"/>
        </p:xfrm>
        <a:graphic>
          <a:graphicData uri="http://schemas.openxmlformats.org/drawingml/2006/table">
            <a:tbl>
              <a:tblPr firstRow="0" bandRow="0">
                <a:tableStyleId>{2D5ABB26-0587-4C30-8999-92F81FD0307C}</a:tableStyleId>
              </a:tblPr>
              <a:tblGrid>
                <a:gridCol w="2651760"/>
                <a:gridCol w="1737360"/>
                <a:gridCol w="822960"/>
                <a:gridCol w="1005840"/>
              </a:tblGrid>
              <a:tr h="283464">
                <a:tc>
                  <a:txBody>
                    <a:bodyPr wrap="square"/>
                    <a:lstStyle/>
                    <a:p>
                      <a:r>
                        <a:rPr sz="1000" b="1" i="0">
                          <a:solidFill>
                            <a:srgbClr val="FFFFFF"/>
                          </a:solidFill>
                          <a:latin typeface="Bitstream Charter"/>
                        </a:rPr>
                        <a:t>Task</a:t>
                      </a:r>
                    </a:p>
                  </a:txBody>
                  <a:tcPr marL="64008" marR="64008" marT="32004" marB="32004" anchor="ctr">
                    <a:solidFill>
                      <a:srgbClr val="132C43"/>
                    </a:solidFill>
                  </a:tcPr>
                </a:tc>
                <a:tc>
                  <a:txBody>
                    <a:bodyPr wrap="square"/>
                    <a:lstStyle/>
                    <a:p>
                      <a:r>
                        <a:rPr sz="1000" b="1" i="0">
                          <a:solidFill>
                            <a:srgbClr val="FFFFFF"/>
                          </a:solidFill>
                          <a:latin typeface="Bitstream Charter"/>
                        </a:rPr>
                        <a:t>Owner</a:t>
                      </a:r>
                    </a:p>
                  </a:txBody>
                  <a:tcPr marL="64008" marR="64008" marT="32004" marB="32004" anchor="ctr">
                    <a:solidFill>
                      <a:srgbClr val="132C43"/>
                    </a:solidFill>
                  </a:tcPr>
                </a:tc>
                <a:tc>
                  <a:txBody>
                    <a:bodyPr wrap="square"/>
                    <a:lstStyle/>
                    <a:p>
                      <a:pPr algn="ctr"/>
                      <a:r>
                        <a:rPr sz="1000" b="1" i="0">
                          <a:solidFill>
                            <a:srgbClr val="FFFFFF"/>
                          </a:solidFill>
                          <a:latin typeface="Bitstream Charter"/>
                        </a:rPr>
                        <a:t>Due (d/m)</a:t>
                      </a:r>
                    </a:p>
                  </a:txBody>
                  <a:tcPr marL="64008" marR="64008" marT="32004" marB="32004" anchor="ctr">
                    <a:solidFill>
                      <a:srgbClr val="132C43"/>
                    </a:solidFill>
                  </a:tcPr>
                </a:tc>
                <a:tc>
                  <a:txBody>
                    <a:bodyPr wrap="square"/>
                    <a:lstStyle/>
                    <a:p>
                      <a:r>
                        <a:rPr sz="1000" b="1" i="0">
                          <a:solidFill>
                            <a:srgbClr val="FFFFFF"/>
                          </a:solidFill>
                          <a:latin typeface="Bitstream Charter"/>
                        </a:rPr>
                        <a:t>Status</a:t>
                      </a:r>
                    </a:p>
                  </a:txBody>
                  <a:tcPr marL="64008" marR="64008" marT="32004" marB="32004" anchor="ctr">
                    <a:solidFill>
                      <a:srgbClr val="132C43"/>
                    </a:solidFill>
                  </a:tcPr>
                </a:tc>
              </a:tr>
              <a:tr h="283464">
                <a:tc>
                  <a:txBody>
                    <a:bodyPr wrap="square"/>
                    <a:lstStyle/>
                    <a:p>
                      <a:r>
                        <a:rPr sz="1000" b="0" i="0">
                          <a:solidFill>
                            <a:srgbClr val="263C50"/>
                          </a:solidFill>
                          <a:latin typeface="Bitstream Charter"/>
                        </a:rPr>
                        <a:t>#11  Run full review scrape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09/10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#16  Clean the data</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#20  EDA part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14/10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#21  EDA part 2</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#18  Feature engineering</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#19  Dimensionality reduction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#23  Targets, split, baseline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#24  Review-level 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17/10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#25  Game-level models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18/10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#26  Evaluation and meaning</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19/10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#27  Notebook and findings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20/10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#6  Problem statement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Tejaswini</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03/10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8" name="TextBox 7"/>
          <p:cNvSpPr txBox="1"/>
          <p:nvPr/>
        </p:nvSpPr>
        <p:spPr>
          <a:xfrm>
            <a:off x="7178040" y="2148840"/>
            <a:ext cx="4389120" cy="384048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Activity history (dated)</a:t>
            </a:r>
          </a:p>
          <a:p>
            <a:pPr>
              <a:spcAft>
                <a:spcPts val="500"/>
              </a:spcAft>
            </a:pPr>
            <a:r>
              <a:rPr sz="1100" b="1" i="0">
                <a:solidFill>
                  <a:srgbClr val="263C50"/>
                </a:solidFill>
                <a:latin typeface="Bitstream Charter"/>
              </a:rPr>
              <a:t>1–2 Oct  </a:t>
            </a:r>
            <a:r>
              <a:rPr sz="1100" b="0" i="0">
                <a:solidFill>
                  <a:srgbClr val="263C50"/>
                </a:solidFill>
                <a:latin typeface="Bitstream Charter"/>
              </a:rPr>
              <a:t>1,861-game universe, 1.65M reviews scraped, raw data frozen; cleaning pipeline; EDA (PR #1) and tag SVD (PR #2) opened.</a:t>
            </a:r>
          </a:p>
          <a:p>
            <a:pPr>
              <a:spcAft>
                <a:spcPts val="500"/>
              </a:spcAft>
            </a:pPr>
            <a:r>
              <a:rPr sz="1100" b="1" i="0">
                <a:solidFill>
                  <a:srgbClr val="263C50"/>
                </a:solidFill>
                <a:latin typeface="Bitstream Charter"/>
              </a:rPr>
              <a:t>3 Oct  </a:t>
            </a:r>
            <a:r>
              <a:rPr sz="1100" b="0" i="0">
                <a:solidFill>
                  <a:srgbClr val="263C50"/>
                </a:solidFill>
                <a:latin typeface="Bitstream Charter"/>
              </a:rPr>
              <a:t>Board created; shared split, features, game tiers, README (PRs #51–#54); XGBoost models (PR #55); SVD fixes (#49, #50).</a:t>
            </a:r>
          </a:p>
          <a:p>
            <a:pPr>
              <a:spcAft>
                <a:spcPts val="500"/>
              </a:spcAft>
            </a:pPr>
            <a:r>
              <a:rPr sz="1100" b="1" i="0">
                <a:solidFill>
                  <a:srgbClr val="263C50"/>
                </a:solidFill>
                <a:latin typeface="Bitstream Charter"/>
              </a:rPr>
              <a:t>4 Oct  </a:t>
            </a:r>
            <a:r>
              <a:rPr sz="1100" b="0" i="0">
                <a:solidFill>
                  <a:srgbClr val="263C50"/>
                </a:solidFill>
                <a:latin typeface="Bitstream Charter"/>
              </a:rPr>
              <a:t>Model comparison, text models, business findings, problem statement, notebook and slides (PRs #56–#58).</a:t>
            </a:r>
          </a:p>
          <a:p>
            <a:pPr>
              <a:spcAft>
                <a:spcPts val="500"/>
              </a:spcAft>
            </a:pPr>
            <a:r>
              <a:rPr sz="1100" b="0" i="1">
                <a:solidFill>
                  <a:srgbClr val="48677E"/>
                </a:solidFill>
                <a:latin typeface="Bitstream Charter"/>
              </a:rPr>
              <a:t>33 commits and 11 merged pull requests so far.</a:t>
            </a:r>
          </a:p>
          <a:p>
            <a:pPr>
              <a:spcAft>
                <a:spcPts val="500"/>
              </a:spcAft>
            </a:pPr>
            <a:r>
              <a:rPr sz="1100" b="1" i="0">
                <a:solidFill>
                  <a:srgbClr val="132C43"/>
                </a:solidFill>
                <a:latin typeface="Bitstream Charter"/>
              </a:rPr>
              <a:t>Evidence: </a:t>
            </a:r>
            <a:r>
              <a:rPr sz="1100" b="0" i="0">
                <a:solidFill>
                  <a:srgbClr val="263C50"/>
                </a:solidFill>
                <a:latin typeface="Bitstream Charter"/>
              </a:rPr>
              <a:t>every card links its file in the Evidence field; repository </a:t>
            </a:r>
            <a:r>
              <a:rPr sz="1100" b="0" i="0">
                <a:solidFill>
                  <a:srgbClr val="48677E"/>
                </a:solidFill>
                <a:latin typeface="Bitstream Charter"/>
                <a:hlinkClick r:id="rId4"/>
              </a:rPr>
              <a:t>github.com/Shan713/IndieGuard</a:t>
            </a:r>
          </a:p>
        </p:txBody>
      </p:sp>
    </p:spTree>
    <p:extLst>
      <p:ext uri="{BB962C8B-B14F-4D97-AF65-F5344CB8AC3E}">
        <p14:creationId xmlns:p14="http://schemas.microsoft.com/office/powerpoint/2010/main" val="3827196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14</a:t>
            </a:r>
          </a:p>
        </p:txBody>
      </p:sp>
      <p:graphicFrame>
        <p:nvGraphicFramePr>
          <p:cNvPr id="6" name="Table 5"/>
          <p:cNvGraphicFramePr>
            <a:graphicFrameLocks noGrp="1"/>
          </p:cNvGraphicFramePr>
          <p:nvPr/>
        </p:nvGraphicFramePr>
        <p:xfrm>
          <a:off x="722376" y="1417320"/>
          <a:ext cx="10744200" cy="3401568"/>
        </p:xfrm>
        <a:graphic>
          <a:graphicData uri="http://schemas.openxmlformats.org/drawingml/2006/table">
            <a:tbl>
              <a:tblPr firstRow="0" bandRow="0">
                <a:tableStyleId>{2D5ABB26-0587-4C30-8999-92F81FD0307C}</a:tableStyleId>
              </a:tblPr>
              <a:tblGrid>
                <a:gridCol w="2194560"/>
                <a:gridCol w="5486400"/>
                <a:gridCol w="3063240"/>
              </a:tblGrid>
              <a:tr h="566928">
                <a:tc>
                  <a:txBody>
                    <a:bodyPr wrap="square"/>
                    <a:lstStyle/>
                    <a:p>
                      <a:r>
                        <a:rPr sz="950" b="1" i="0">
                          <a:solidFill>
                            <a:srgbClr val="FFFFFF"/>
                          </a:solidFill>
                          <a:latin typeface="Bitstream Charter"/>
                        </a:rPr>
                        <a:t>Member / roll no.</a:t>
                      </a:r>
                    </a:p>
                  </a:txBody>
                  <a:tcPr marL="64008" marR="64008" marT="32004" marB="32004" anchor="ctr">
                    <a:solidFill>
                      <a:srgbClr val="132C43"/>
                    </a:solidFill>
                  </a:tcPr>
                </a:tc>
                <a:tc>
                  <a:txBody>
                    <a:bodyPr wrap="square"/>
                    <a:lstStyle/>
                    <a:p>
                      <a:r>
                        <a:rPr sz="950" b="1" i="0">
                          <a:solidFill>
                            <a:srgbClr val="FFFFFF"/>
                          </a:solidFill>
                          <a:latin typeface="Bitstream Charter"/>
                        </a:rPr>
                        <a:t>Completed in Review 1, with evidence</a:t>
                      </a:r>
                    </a:p>
                  </a:txBody>
                  <a:tcPr marL="64008" marR="64008" marT="32004" marB="32004" anchor="ctr">
                    <a:solidFill>
                      <a:srgbClr val="132C43"/>
                    </a:solidFill>
                  </a:tcPr>
                </a:tc>
                <a:tc>
                  <a:txBody>
                    <a:bodyPr wrap="square"/>
                    <a:lstStyle/>
                    <a:p>
                      <a:r>
                        <a:rPr sz="950" b="1" i="0">
                          <a:solidFill>
                            <a:srgbClr val="FFFFFF"/>
                          </a:solidFill>
                          <a:latin typeface="Bitstream Charter"/>
                        </a:rPr>
                        <a:t>Review 2 ownership</a:t>
                      </a:r>
                    </a:p>
                  </a:txBody>
                  <a:tcPr marL="64008" marR="64008" marT="32004" marB="32004" anchor="ctr">
                    <a:solidFill>
                      <a:srgbClr val="132C43"/>
                    </a:solidFill>
                  </a:tcPr>
                </a:tc>
              </a:tr>
              <a:tr h="566928">
                <a:tc>
                  <a:txBody>
                    <a:bodyPr wrap="square"/>
                    <a:lstStyle/>
                    <a:p>
                      <a:r>
                        <a:rPr sz="950" b="1" i="0">
                          <a:solidFill>
                            <a:srgbClr val="263C50"/>
                          </a:solidFill>
                          <a:latin typeface="Bitstream Charter"/>
                        </a:rPr>
                        <a:t>Shantharam P</a:t>
                      </a:r>
                      <a:r>
                        <a:rPr sz="850" b="0" i="0">
                          <a:solidFill>
                            <a:srgbClr val="48677E"/>
                          </a:solidFill>
                          <a:latin typeface="Bitstream Charter"/>
                        </a:rPr>
                        <a:t>  CB.SC.U4CSE23146</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Data collection and cleaning, dataset documentation, shared split and targets, Logistic Regression / Random Forest / LightGBM, model comparison and text models, notebook, board. Evidence: src/collect, src/clean, src/models, notebooks/review1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Deployment, final report, Review 2 slides (#43, #45, #46)</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Pradeep Sasidharan</a:t>
                      </a:r>
                      <a:r>
                        <a:rPr sz="850" b="0" i="0">
                          <a:solidFill>
                            <a:srgbClr val="48677E"/>
                          </a:solidFill>
                          <a:latin typeface="Bitstream Charter"/>
                        </a:rPr>
                        <a:t>  CB.SC.U4CSE23232</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XGBoost review-level and game-level models with SHAP and curves; evaluation with Shantharam. Evidence: PR #55, src/models/*_xgboost.py</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Association rules: transactions, Apriori/FP-Growth, rule evaluation (#34–#36)</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Gayas Sheik</a:t>
                      </a:r>
                      <a:r>
                        <a:rPr sz="850" b="0" i="0">
                          <a:solidFill>
                            <a:srgbClr val="48677E"/>
                          </a:solidFill>
                          <a:latin typeface="Bitstream Charter"/>
                        </a:rPr>
                        <a:t>  CB.SC.U4CSE23118</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Feature engineering and tag dimensionality reduction (train-only fit, portable paths). Evidence: PRs #2, #49, #50, src/dimensionality_reduction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Patch-impact analysis, reproducibility, launch-risk scorer page (#38, #39, #42)</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Thotakura Srihitha</a:t>
                      </a:r>
                      <a:r>
                        <a:rPr sz="850" b="0" i="0">
                          <a:solidFill>
                            <a:srgbClr val="48677E"/>
                          </a:solidFill>
                          <a:latin typeface="Bitstream Charter"/>
                        </a:rPr>
                        <a:t>  CB.SC.U4CSE23450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Exploratory analysis: 29 figures, association tests and tag combinations. Evidence: PR #1, notebooks/02_EDA_Visualizations.ipynb</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Dashboard wireframe and market / rule explorer pages (#37, #40, #41)</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Valikala Tejaswini</a:t>
                      </a:r>
                      <a:r>
                        <a:rPr sz="850" b="0" i="0">
                          <a:solidFill>
                            <a:srgbClr val="48677E"/>
                          </a:solidFill>
                          <a:latin typeface="Bitstream Charter"/>
                        </a:rPr>
                        <a:t>  CB.SC.U4CSE23752</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Problem statement and research gap; the Review 1 chart pack. Evidence: docs/problem_statement.md, figures/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Text mining and topic modelling, text evaluation, combined insights (#31–#33, #44)</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120640"/>
            <a:ext cx="603504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Review 2 plan (13 Oct)</a:t>
            </a:r>
          </a:p>
          <a:p>
            <a:pPr>
              <a:spcAft>
                <a:spcPts val="200"/>
              </a:spcAft>
            </a:pPr>
            <a:r>
              <a:rPr sz="1050" b="0" i="0">
                <a:solidFill>
                  <a:srgbClr val="263C50"/>
                </a:solidFill>
                <a:latin typeface="Bitstream Charter"/>
              </a:rPr>
              <a:t>6–8 Oct  text mining (Tejaswini), association rules (Pradeep), dashboard wireframe (Srihitha)</a:t>
            </a:r>
          </a:p>
          <a:p>
            <a:pPr>
              <a:spcAft>
                <a:spcPts val="200"/>
              </a:spcAft>
            </a:pPr>
            <a:r>
              <a:rPr sz="1050" b="0" i="0">
                <a:solidFill>
                  <a:srgbClr val="263C50"/>
                </a:solidFill>
                <a:latin typeface="Bitstream Charter"/>
              </a:rPr>
              <a:t>8–10 Oct  dashboard pages (Srihitha, Gayas), patch impact (Gayas)</a:t>
            </a:r>
          </a:p>
          <a:p>
            <a:pPr>
              <a:spcAft>
                <a:spcPts val="200"/>
              </a:spcAft>
            </a:pPr>
            <a:r>
              <a:rPr sz="1050" b="0" i="0">
                <a:solidFill>
                  <a:srgbClr val="263C50"/>
                </a:solidFill>
                <a:latin typeface="Bitstream Charter"/>
              </a:rPr>
              <a:t>10–11 Oct  combined insights (Tejaswini), final report, deployment (Shantharam)</a:t>
            </a:r>
          </a:p>
          <a:p>
            <a:pPr>
              <a:spcAft>
                <a:spcPts val="200"/>
              </a:spcAft>
            </a:pPr>
            <a:r>
              <a:rPr sz="1050" b="0" i="0">
                <a:solidFill>
                  <a:srgbClr val="263C50"/>
                </a:solidFill>
                <a:latin typeface="Bitstream Charter"/>
              </a:rPr>
              <a:t>12 Oct  slides and rehearsal (all)</a:t>
            </a:r>
          </a:p>
        </p:txBody>
      </p:sp>
      <p:sp>
        <p:nvSpPr>
          <p:cNvPr id="8" name="TextBox 7"/>
          <p:cNvSpPr txBox="1"/>
          <p:nvPr/>
        </p:nvSpPr>
        <p:spPr>
          <a:xfrm>
            <a:off x="6949440" y="5120640"/>
            <a:ext cx="457200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Submission links</a:t>
            </a:r>
          </a:p>
          <a:p>
            <a:pPr>
              <a:spcAft>
                <a:spcPts val="200"/>
              </a:spcAft>
            </a:pPr>
            <a:r>
              <a:rPr sz="1050" b="1" i="0">
                <a:solidFill>
                  <a:srgbClr val="263C50"/>
                </a:solidFill>
                <a:latin typeface="Bitstream Charter"/>
              </a:rPr>
              <a:t>Notebook: </a:t>
            </a:r>
            <a:r>
              <a:rPr sz="1050" b="0" i="0">
                <a:solidFill>
                  <a:srgbClr val="48677E"/>
                </a:solidFill>
                <a:latin typeface="Bitstream Charter"/>
                <a:hlinkClick r:id="rId3"/>
              </a:rPr>
              <a:t>notebooks/review1/IndieGuard_Review1.ipynb</a:t>
            </a:r>
          </a:p>
          <a:p>
            <a:pPr>
              <a:spcAft>
                <a:spcPts val="200"/>
              </a:spcAft>
            </a:pPr>
            <a:r>
              <a:rPr sz="1050" b="1" i="0">
                <a:solidFill>
                  <a:srgbClr val="263C50"/>
                </a:solidFill>
                <a:latin typeface="Bitstream Charter"/>
              </a:rPr>
              <a:t>EDA notebook: </a:t>
            </a:r>
            <a:r>
              <a:rPr sz="1050" b="0" i="0">
                <a:solidFill>
                  <a:srgbClr val="48677E"/>
                </a:solidFill>
                <a:latin typeface="Bitstream Charter"/>
                <a:hlinkClick r:id="rId4"/>
              </a:rPr>
              <a:t>notebooks/02_EDA_Visualizations.ipynb</a:t>
            </a:r>
          </a:p>
          <a:p>
            <a:pPr>
              <a:spcAft>
                <a:spcPts val="200"/>
              </a:spcAft>
            </a:pPr>
            <a:r>
              <a:rPr sz="1050" b="1" i="0">
                <a:solidFill>
                  <a:srgbClr val="263C50"/>
                </a:solidFill>
                <a:latin typeface="Bitstream Charter"/>
              </a:rPr>
              <a:t>Data documentation: </a:t>
            </a:r>
            <a:r>
              <a:rPr sz="1050" b="0" i="0">
                <a:solidFill>
                  <a:srgbClr val="48677E"/>
                </a:solidFill>
                <a:latin typeface="Bitstream Charter"/>
                <a:hlinkClick r:id="rId5"/>
              </a:rPr>
              <a:t>docs/data_documentation.md</a:t>
            </a:r>
          </a:p>
          <a:p>
            <a:pPr>
              <a:spcAft>
                <a:spcPts val="200"/>
              </a:spcAft>
            </a:pPr>
            <a:r>
              <a:rPr sz="1050" b="1" i="0">
                <a:solidFill>
                  <a:srgbClr val="263C50"/>
                </a:solidFill>
                <a:latin typeface="Bitstream Charter"/>
              </a:rPr>
              <a:t>Board: </a:t>
            </a:r>
            <a:r>
              <a:rPr sz="1050" b="0" i="0">
                <a:solidFill>
                  <a:srgbClr val="48677E"/>
                </a:solidFill>
                <a:latin typeface="Bitstream Charter"/>
                <a:hlinkClick r:id="rId6"/>
              </a:rPr>
              <a:t>github.com/users/Shan713/projects/1</a:t>
            </a:r>
          </a:p>
        </p:txBody>
      </p:sp>
    </p:spTree>
    <p:extLst>
      <p:ext uri="{BB962C8B-B14F-4D97-AF65-F5344CB8AC3E}">
        <p14:creationId xmlns:p14="http://schemas.microsoft.com/office/powerpoint/2010/main" val="10650992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Target and Game Population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06</a:t>
            </a:r>
          </a:p>
        </p:txBody>
      </p:sp>
      <p:pic>
        <p:nvPicPr>
          <p:cNvPr id="6" name="Picture 5" descr="03_target_definition.png"/>
          <p:cNvPicPr>
            <a:picLocks noChangeAspect="1"/>
          </p:cNvPicPr>
          <p:nvPr/>
        </p:nvPicPr>
        <p:blipFill>
          <a:blip r:embed="rId2"/>
          <a:stretch>
            <a:fillRect/>
          </a:stretch>
        </p:blipFill>
        <p:spPr>
          <a:xfrm>
            <a:off x="603504" y="1463040"/>
            <a:ext cx="10972800" cy="2794273"/>
          </a:xfrm>
          <a:prstGeom prst="rect">
            <a:avLst/>
          </a:prstGeom>
        </p:spPr>
      </p:pic>
      <p:sp>
        <p:nvSpPr>
          <p:cNvPr id="7" name="TextBox 6"/>
          <p:cNvSpPr txBox="1"/>
          <p:nvPr/>
        </p:nvSpPr>
        <p:spPr>
          <a:xfrm>
            <a:off x="722376"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High-risk label  </a:t>
            </a:r>
            <a:r>
              <a:rPr sz="1150" b="0" i="0">
                <a:solidFill>
                  <a:srgbClr val="263C50"/>
                </a:solidFill>
                <a:latin typeface="Bitstream Charter"/>
              </a:rPr>
              <a:t>216 of 1,490 games (14.5%) have a negative share of 30% or more; 10.4% of all 1.65M reviews are negative.</a:t>
            </a:r>
          </a:p>
        </p:txBody>
      </p:sp>
      <p:sp>
        <p:nvSpPr>
          <p:cNvPr id="8" name="TextBox 7"/>
          <p:cNvSpPr txBox="1"/>
          <p:nvPr/>
        </p:nvSpPr>
        <p:spPr>
          <a:xfrm>
            <a:off x="4343400"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Shape  </a:t>
            </a:r>
            <a:r>
              <a:rPr sz="1150" b="0" i="0">
                <a:solidFill>
                  <a:srgbClr val="263C50"/>
                </a:solidFill>
                <a:latin typeface="Bitstream Charter"/>
              </a:rPr>
              <a:t>Most games sit below 25% negative; the long tail above 30% is the risk group, so we use PR-AUC and class weights, not accuracy.</a:t>
            </a:r>
          </a:p>
        </p:txBody>
      </p:sp>
      <p:sp>
        <p:nvSpPr>
          <p:cNvPr id="9" name="TextBox 8"/>
          <p:cNvSpPr txBox="1"/>
          <p:nvPr/>
        </p:nvSpPr>
        <p:spPr>
          <a:xfrm>
            <a:off x="7955279"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Steam’s own labels  </a:t>
            </a:r>
            <a:r>
              <a:rPr sz="1150" b="0" i="0">
                <a:solidFill>
                  <a:srgbClr val="263C50"/>
                </a:solidFill>
                <a:latin typeface="Bitstream Charter"/>
              </a:rPr>
              <a:t>Almost all games are Positive or better; Mostly Negative is rare. The EDA used this binary label; modelling later moved to three tiers (docs/game_target.md).</a:t>
            </a:r>
          </a:p>
        </p:txBody>
      </p:sp>
      <p:sp>
        <p:nvSpPr>
          <p:cNvPr id="10" name="Rectangle 9"/>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Risk is a minority outcome concentrated in a tail, so metrics and splits are built around rare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Game Features and Risk</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07</a:t>
            </a:r>
          </a:p>
        </p:txBody>
      </p:sp>
      <p:pic>
        <p:nvPicPr>
          <p:cNvPr id="6" name="Picture 5" descr="10_risk_by_game_features.png"/>
          <p:cNvPicPr>
            <a:picLocks noChangeAspect="1"/>
          </p:cNvPicPr>
          <p:nvPr/>
        </p:nvPicPr>
        <p:blipFill>
          <a:blip r:embed="rId2"/>
          <a:stretch>
            <a:fillRect/>
          </a:stretch>
        </p:blipFill>
        <p:spPr>
          <a:xfrm>
            <a:off x="548640" y="1463040"/>
            <a:ext cx="7668961" cy="4023360"/>
          </a:xfrm>
          <a:prstGeom prst="rect">
            <a:avLst/>
          </a:prstGeom>
        </p:spPr>
      </p:pic>
      <p:sp>
        <p:nvSpPr>
          <p:cNvPr id="7" name="TextBox 6"/>
          <p:cNvSpPr txBox="1"/>
          <p:nvPr/>
        </p:nvSpPr>
        <p:spPr>
          <a:xfrm>
            <a:off x="8366760" y="1508760"/>
            <a:ext cx="3200400" cy="40233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High-risk rate by band (overall 14.5%, dashed line)</a:t>
            </a:r>
          </a:p>
          <a:p>
            <a:pPr>
              <a:spcAft>
                <a:spcPts val="500"/>
              </a:spcAft>
            </a:pPr>
            <a:r>
              <a:rPr sz="1100" b="1" i="0">
                <a:solidFill>
                  <a:srgbClr val="263C50"/>
                </a:solidFill>
                <a:latin typeface="Bitstream Charter"/>
              </a:rPr>
              <a:t>Release year: </a:t>
            </a:r>
            <a:r>
              <a:rPr sz="1100" b="0" i="0">
                <a:solidFill>
                  <a:srgbClr val="263C50"/>
                </a:solidFill>
                <a:latin typeface="Bitstream Charter"/>
              </a:rPr>
              <a:t>2022 20.6% down to 2025 9.8%; recent games have had less time to collect negatives.</a:t>
            </a:r>
          </a:p>
          <a:p>
            <a:pPr>
              <a:spcAft>
                <a:spcPts val="500"/>
              </a:spcAft>
            </a:pPr>
            <a:r>
              <a:rPr sz="1100" b="1" i="0">
                <a:solidFill>
                  <a:srgbClr val="263C50"/>
                </a:solidFill>
                <a:latin typeface="Bitstream Charter"/>
              </a:rPr>
              <a:t>Languages: </a:t>
            </a:r>
            <a:r>
              <a:rPr sz="1100" b="0" i="0">
                <a:solidFill>
                  <a:srgbClr val="263C50"/>
                </a:solidFill>
                <a:latin typeface="Bitstream Charter"/>
              </a:rPr>
              <a:t>13+ languages 9.3% against 15.9% for 2–3.</a:t>
            </a:r>
          </a:p>
          <a:p>
            <a:pPr>
              <a:spcAft>
                <a:spcPts val="500"/>
              </a:spcAft>
            </a:pPr>
            <a:r>
              <a:rPr sz="1100" b="1" i="0">
                <a:solidFill>
                  <a:srgbClr val="263C50"/>
                </a:solidFill>
                <a:latin typeface="Bitstream Charter"/>
              </a:rPr>
              <a:t>DLC: </a:t>
            </a:r>
            <a:r>
              <a:rPr sz="1100" b="0" i="0">
                <a:solidFill>
                  <a:srgbClr val="263C50"/>
                </a:solidFill>
                <a:latin typeface="Bitstream Charter"/>
              </a:rPr>
              <a:t>1–2 DLC 7.1% against 16.5% with none.</a:t>
            </a:r>
          </a:p>
          <a:p>
            <a:pPr>
              <a:spcAft>
                <a:spcPts val="500"/>
              </a:spcAft>
            </a:pPr>
            <a:r>
              <a:rPr sz="1100" b="1" i="0">
                <a:solidFill>
                  <a:srgbClr val="263C50"/>
                </a:solidFill>
                <a:latin typeface="Bitstream Charter"/>
              </a:rPr>
              <a:t>Achievements: </a:t>
            </a:r>
            <a:r>
              <a:rPr sz="1100" b="0" i="0">
                <a:solidFill>
                  <a:srgbClr val="263C50"/>
                </a:solidFill>
                <a:latin typeface="Bitstream Charter"/>
              </a:rPr>
              <a:t>not listed 21.5% against 11.1% with 100+.</a:t>
            </a:r>
          </a:p>
          <a:p>
            <a:pPr>
              <a:spcAft>
                <a:spcPts val="500"/>
              </a:spcAft>
            </a:pPr>
            <a:r>
              <a:rPr sz="1100" b="1" i="0">
                <a:solidFill>
                  <a:srgbClr val="263C50"/>
                </a:solidFill>
                <a:latin typeface="Bitstream Charter"/>
              </a:rPr>
              <a:t>Price: </a:t>
            </a:r>
            <a:r>
              <a:rPr sz="1100" b="0" i="0">
                <a:solidFill>
                  <a:srgbClr val="263C50"/>
                </a:solidFill>
                <a:latin typeface="Bitstream Charter"/>
              </a:rPr>
              <a:t>free 18.4% against 13.0% at $5–10.</a:t>
            </a:r>
          </a:p>
          <a:p>
            <a:pPr>
              <a:spcAft>
                <a:spcPts val="500"/>
              </a:spcAft>
            </a:pPr>
            <a:r>
              <a:rPr sz="1100" b="0" i="1">
                <a:solidFill>
                  <a:srgbClr val="48677E"/>
                </a:solidFill>
                <a:latin typeface="Bitstream Charter"/>
              </a:rPr>
              <a:t>Review volume is an outcome, not a launch feature.</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Store signals move risk by a few to about ten points and many intervals touch the average; none is decisive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Correlation and Leakage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08</a:t>
            </a:r>
          </a:p>
        </p:txBody>
      </p:sp>
      <p:pic>
        <p:nvPicPr>
          <p:cNvPr id="6" name="Picture 5" descr="22_correlation_with_target.png"/>
          <p:cNvPicPr>
            <a:picLocks noChangeAspect="1"/>
          </p:cNvPicPr>
          <p:nvPr/>
        </p:nvPicPr>
        <p:blipFill>
          <a:blip r:embed="rId2"/>
          <a:stretch>
            <a:fillRect/>
          </a:stretch>
        </p:blipFill>
        <p:spPr>
          <a:xfrm>
            <a:off x="640080" y="1463040"/>
            <a:ext cx="4985218" cy="4069080"/>
          </a:xfrm>
          <a:prstGeom prst="rect">
            <a:avLst/>
          </a:prstGeom>
        </p:spPr>
      </p:pic>
      <p:sp>
        <p:nvSpPr>
          <p:cNvPr id="7" name="TextBox 6"/>
          <p:cNvSpPr txBox="1"/>
          <p:nvPr/>
        </p:nvSpPr>
        <p:spPr>
          <a:xfrm>
            <a:off x="6217920" y="1508760"/>
            <a:ext cx="5303520" cy="4023360"/>
          </a:xfrm>
          <a:prstGeom prst="rect">
            <a:avLst/>
          </a:prstGeom>
          <a:noFill/>
        </p:spPr>
        <p:txBody>
          <a:bodyPr wrap="square" lIns="45720" rIns="45720" tIns="27432" bIns="27432">
            <a:spAutoFit/>
          </a:bodyPr>
          <a:lstStyle/>
          <a:p>
            <a:pPr>
              <a:spcAft>
                <a:spcPts val="700"/>
              </a:spcAft>
            </a:pPr>
            <a:r>
              <a:rPr sz="1200" b="1" i="0">
                <a:solidFill>
                  <a:srgbClr val="132C43"/>
                </a:solidFill>
                <a:latin typeface="Bitstream Charter"/>
              </a:rPr>
              <a:t>Blue are launch-time store attributes; grey are post-release signals.</a:t>
            </a:r>
          </a:p>
          <a:p>
            <a:pPr>
              <a:spcAft>
                <a:spcPts val="700"/>
              </a:spcAft>
            </a:pPr>
            <a:r>
              <a:rPr sz="1200" b="1" i="0">
                <a:solidFill>
                  <a:srgbClr val="263C50"/>
                </a:solidFill>
                <a:latin typeface="Bitstream Charter"/>
              </a:rPr>
              <a:t>Launch time: </a:t>
            </a:r>
            <a:r>
              <a:rPr sz="1200" b="0" i="0">
                <a:solidFill>
                  <a:srgbClr val="263C50"/>
                </a:solidFill>
                <a:latin typeface="Bitstream Charter"/>
              </a:rPr>
              <a:t>release year (−0.15), genre count (+0.13) and platforms (−0.09) are the strongest, all weak.</a:t>
            </a:r>
          </a:p>
          <a:p>
            <a:pPr>
              <a:spcAft>
                <a:spcPts val="700"/>
              </a:spcAft>
            </a:pPr>
            <a:r>
              <a:rPr sz="1200" b="1" i="0">
                <a:solidFill>
                  <a:srgbClr val="263C50"/>
                </a:solidFill>
                <a:latin typeface="Bitstream Charter"/>
              </a:rPr>
              <a:t>Post release: </a:t>
            </a:r>
            <a:r>
              <a:rPr sz="1200" b="0" i="0">
                <a:solidFill>
                  <a:srgbClr val="263C50"/>
                </a:solidFill>
                <a:latin typeface="Bitstream Charter"/>
              </a:rPr>
              <a:t>refund share of reviews (+0.26) and developer-response share (+0.21) are the strongest. They are consequences of a bad reception, not predictors.</a:t>
            </a:r>
          </a:p>
          <a:p>
            <a:pPr>
              <a:spcAft>
                <a:spcPts val="700"/>
              </a:spcAft>
            </a:pPr>
            <a:r>
              <a:rPr sz="1200" b="1" i="0">
                <a:solidFill>
                  <a:srgbClr val="263C50"/>
                </a:solidFill>
                <a:latin typeface="Bitstream Charter"/>
              </a:rPr>
              <a:t>Tests: </a:t>
            </a:r>
            <a:r>
              <a:rPr sz="1200" b="0" i="0">
                <a:solidFill>
                  <a:srgbClr val="263C50"/>
                </a:solidFill>
                <a:latin typeface="Bitstream Charter"/>
              </a:rPr>
              <a:t>7 of 12 banded features are significant after FDR correction, but the largest Cramér’s V is only 0.12.</a:t>
            </a:r>
          </a:p>
          <a:p>
            <a:pPr>
              <a:spcAft>
                <a:spcPts val="700"/>
              </a:spcAft>
            </a:pPr>
            <a:r>
              <a:rPr sz="1200" b="1" i="0">
                <a:solidFill>
                  <a:srgbClr val="263C50"/>
                </a:solidFill>
                <a:latin typeface="Bitstream Charter"/>
              </a:rPr>
              <a:t>Rule we follow: </a:t>
            </a:r>
            <a:r>
              <a:rPr sz="1200" b="0" i="0">
                <a:solidFill>
                  <a:srgbClr val="263C50"/>
                </a:solidFill>
                <a:latin typeface="Bitstream Charter"/>
              </a:rPr>
              <a:t>the launch-risk model uses launch-time features only (docs/modelling_protocol.md).</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Effects are small, and the strongest correlations are leaks; excluding them keeps our models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Tag Combinations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09</a:t>
            </a:r>
          </a:p>
        </p:txBody>
      </p:sp>
      <p:pic>
        <p:nvPicPr>
          <p:cNvPr id="6" name="Picture 5" descr="25_tag_combinations_lower_and_higher_risk.png"/>
          <p:cNvPicPr>
            <a:picLocks noChangeAspect="1"/>
          </p:cNvPicPr>
          <p:nvPr/>
        </p:nvPicPr>
        <p:blipFill>
          <a:blip r:embed="rId2"/>
          <a:stretch>
            <a:fillRect/>
          </a:stretch>
        </p:blipFill>
        <p:spPr>
          <a:xfrm>
            <a:off x="1325880" y="1463040"/>
            <a:ext cx="9509760" cy="3803904"/>
          </a:xfrm>
          <a:prstGeom prst="rect">
            <a:avLst/>
          </a:prstGeom>
        </p:spPr>
      </p:pic>
      <p:sp>
        <p:nvSpPr>
          <p:cNvPr id="7" name="TextBox 6"/>
          <p:cNvSpPr txBox="1"/>
          <p:nvPr/>
        </p:nvSpPr>
        <p:spPr>
          <a:xfrm>
            <a:off x="722376" y="5285232"/>
            <a:ext cx="10789920" cy="8686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Method  </a:t>
            </a:r>
            <a:r>
              <a:rPr sz="1150" b="0" i="0">
                <a:solidFill>
                  <a:srgbClr val="263C50"/>
                </a:solidFill>
                <a:latin typeface="Bitstream Charter"/>
              </a:rPr>
              <a:t>pairs of the 30 most common tags, exact binomial test per pair, Benjamini–Hochberg FDR control: 5 lower-risk and 4 higher-risk pairs survive. </a:t>
            </a:r>
            <a:r>
              <a:rPr sz="1150" b="0" i="0">
                <a:solidFill>
                  <a:srgbClr val="263C50"/>
                </a:solidFill>
                <a:latin typeface="Bitstream Charter"/>
              </a:rPr>
              <a:t>2D with Pixel Graphics, Strategy or Deckbuilding sit at 5–9% against 14.5% overall; RPG with PvE (33%) and 3D pairings (23–27%) sit highest. These are associations, which Review 2’s association rules extend.</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