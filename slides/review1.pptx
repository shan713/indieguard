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7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i="0">
                <a:solidFill>
                  <a:srgbClr val="132C43"/>
                </a:solidFill>
                <a:latin typeface="Bitstream Charter"/>
              </a:rPr>
              <a:t>Negative share by playtime</a:t>
            </a:r>
          </a:p>
        </c:rich>
      </c:tx>
      <c:layout/>
      <c:overlay val="0"/>
    </c:title>
    <c:autoTitleDeleted val="0"/>
    <c:plotArea>
      <c:barChart>
        <c:barDir val="col"/>
        <c:grouping val="clustered"/>
        <c:ser>
          <c:idx val="0"/>
          <c:order val="0"/>
          <c:tx>
            <c:strRef>
              <c:f>Sheet1!$B$1</c:f>
              <c:strCache>
                <c:ptCount val="1"/>
                <c:pt idx="0">
                  <c:v>negative reviews</c:v>
                </c:pt>
              </c:strCache>
            </c:strRef>
          </c:tx>
          <c:spPr>
            <a:solidFill>
              <a:srgbClr val="D1495B"/>
            </a:solidFill>
          </c:spPr>
          <c:cat>
            <c:strRef>
              <c:f>Sheet1!$A$2:$A$5</c:f>
              <c:strCache>
                <c:ptCount val="4"/>
                <c:pt idx="0">
                  <c:v>&lt;2 h</c:v>
                </c:pt>
                <c:pt idx="1">
                  <c:v>2–10 h</c:v>
                </c:pt>
                <c:pt idx="2">
                  <c:v>10–50 h</c:v>
                </c:pt>
                <c:pt idx="3">
                  <c:v>50 h+</c:v>
                </c:pt>
              </c:strCache>
            </c:strRef>
          </c:cat>
          <c:val>
            <c:numRef>
              <c:f>Sheet1!$B$2:$B$5</c:f>
              <c:numCache>
                <c:formatCode>General</c:formatCode>
                <c:ptCount val="4"/>
                <c:pt idx="0">
                  <c:v>21.17047256650313</c:v>
                </c:pt>
                <c:pt idx="1">
                  <c:v>9.148366380990131</c:v>
                </c:pt>
                <c:pt idx="2">
                  <c:v>8.14715596135733</c:v>
                </c:pt>
                <c:pt idx="3">
                  <c:v>9.88853717672413</c:v>
                </c:pt>
              </c:numCache>
            </c:numRef>
          </c:val>
        </c:ser>
        <c:dLbls>
          <c:numFmt formatCode="0.0&quot;%&quot;"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9D6E2"/>
            </a:solidFill>
          </a:ln>
        </c:spPr>
        <c:txPr>
          <a:bodyPr/>
          <a:lstStyle/>
          <a:p>
            <a:pPr>
              <a:defRPr sz="1000"/>
            </a:pPr>
          </a:p>
        </c:txPr>
        <c:crossAx val="-2113994440"/>
        <c:crosses val="autoZero"/>
        <c:auto val="1"/>
        <c:lblAlgn val="ctr"/>
        <c:lblOffset val="100"/>
        <c:noMultiLvlLbl val="0"/>
      </c:catAx>
      <c:valAx>
        <c:axId val="-2113994440"/>
        <c:scaling>
          <c:max val="26.0"/>
          <c:min val="0.0"/>
        </c:scaling>
        <c:delete/>
        <c:axPos val="l"/>
        <c:majorTickMark val="out"/>
        <c:minorTickMark val="none"/>
        <c:tickLblPos val="nextTo"/>
        <c:crossAx val="-2068027336"/>
        <c:crosses val="autoZero"/>
      </c:valAx>
    </c:plotArea>
    <c:dispBlanksAs val="gap"/>
  </c:chart>
  <c:txPr>
    <a:bodyPr/>
    <a:lstStyle/>
    <a:p>
      <a:pPr>
        <a:defRPr sz="1000">
          <a:solidFill>
            <a:srgbClr val="263C50"/>
          </a:solidFill>
          <a:latin typeface="Bitstream Charte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i="0">
                <a:solidFill>
                  <a:srgbClr val="132C43"/>
                </a:solidFill>
                <a:latin typeface="Bitstream Charter"/>
              </a:rPr>
              <a:t>Negative share by price tier</a:t>
            </a:r>
          </a:p>
        </c:rich>
      </c:tx>
      <c:layout/>
      <c:overlay val="0"/>
    </c:title>
    <c:autoTitleDeleted val="0"/>
    <c:plotArea>
      <c:barChart>
        <c:barDir val="col"/>
        <c:grouping val="clustered"/>
        <c:ser>
          <c:idx val="0"/>
          <c:order val="0"/>
          <c:tx>
            <c:strRef>
              <c:f>Sheet1!$B$1</c:f>
              <c:strCache>
                <c:ptCount val="1"/>
                <c:pt idx="0">
                  <c:v>under 2 h</c:v>
                </c:pt>
              </c:strCache>
            </c:strRef>
          </c:tx>
          <c:spPr>
            <a:solidFill>
              <a:srgbClr val="D1495B"/>
            </a:solidFill>
          </c:spPr>
          <c:cat>
            <c:strRef>
              <c:f>Sheet1!$A$2:$A$6</c:f>
              <c:strCache>
                <c:ptCount val="5"/>
                <c:pt idx="0">
                  <c:v>free</c:v>
                </c:pt>
                <c:pt idx="1">
                  <c:v>&lt;$5</c:v>
                </c:pt>
                <c:pt idx="2">
                  <c:v>$5–10</c:v>
                </c:pt>
                <c:pt idx="3">
                  <c:v>$10–20</c:v>
                </c:pt>
                <c:pt idx="4">
                  <c:v>$20+</c:v>
                </c:pt>
              </c:strCache>
            </c:strRef>
          </c:cat>
          <c:val>
            <c:numRef>
              <c:f>Sheet1!$B$2:$B$6</c:f>
              <c:numCache>
                <c:formatCode>General</c:formatCode>
                <c:ptCount val="5"/>
                <c:pt idx="0">
                  <c:v>21.98100407055631</c:v>
                </c:pt>
                <c:pt idx="1">
                  <c:v>11.381417770870101</c:v>
                </c:pt>
                <c:pt idx="2">
                  <c:v>23.00420700491662</c:v>
                </c:pt>
                <c:pt idx="3">
                  <c:v>26.42743037828757</c:v>
                </c:pt>
                <c:pt idx="4">
                  <c:v>31.809069212410503</c:v>
                </c:pt>
              </c:numCache>
            </c:numRef>
          </c:val>
        </c:ser>
        <c:ser>
          <c:idx val="1"/>
          <c:order val="1"/>
          <c:tx>
            <c:strRef>
              <c:f>Sheet1!$C$1</c:f>
              <c:strCache>
                <c:ptCount val="1"/>
                <c:pt idx="0">
                  <c:v>2 h or more</c:v>
                </c:pt>
              </c:strCache>
            </c:strRef>
          </c:tx>
          <c:spPr>
            <a:solidFill>
              <a:srgbClr val="8C99A6"/>
            </a:solidFill>
          </c:spPr>
          <c:cat>
            <c:strRef>
              <c:f>Sheet1!$A$2:$A$6</c:f>
              <c:strCache>
                <c:ptCount val="5"/>
                <c:pt idx="0">
                  <c:v>free</c:v>
                </c:pt>
                <c:pt idx="1">
                  <c:v>&lt;$5</c:v>
                </c:pt>
                <c:pt idx="2">
                  <c:v>$5–10</c:v>
                </c:pt>
                <c:pt idx="3">
                  <c:v>$10–20</c:v>
                </c:pt>
                <c:pt idx="4">
                  <c:v>$20+</c:v>
                </c:pt>
              </c:strCache>
            </c:strRef>
          </c:cat>
          <c:val>
            <c:numRef>
              <c:f>Sheet1!$C$2:$C$6</c:f>
              <c:numCache>
                <c:formatCode>General</c:formatCode>
                <c:ptCount val="5"/>
                <c:pt idx="0">
                  <c:v>10.02738402061855</c:v>
                </c:pt>
                <c:pt idx="1">
                  <c:v>5.78891977880924</c:v>
                </c:pt>
                <c:pt idx="2">
                  <c:v>7.87148136438319</c:v>
                </c:pt>
                <c:pt idx="3">
                  <c:v>9.37640413376981</c:v>
                </c:pt>
                <c:pt idx="4">
                  <c:v>9.81874911974692</c:v>
                </c:pt>
              </c:numCache>
            </c:numRef>
          </c:val>
        </c:ser>
        <c:dLbls>
          <c:numFmt formatCode="0&quot;%&quot;"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C9D6E2"/>
            </a:solidFill>
          </a:ln>
        </c:spPr>
        <c:txPr>
          <a:bodyPr/>
          <a:lstStyle/>
          <a:p>
            <a:pPr>
              <a:defRPr sz="900"/>
            </a:pPr>
          </a:p>
        </c:txPr>
        <c:crossAx val="-2113994440"/>
        <c:crosses val="autoZero"/>
        <c:auto val="1"/>
        <c:lblAlgn val="ctr"/>
        <c:lblOffset val="100"/>
        <c:noMultiLvlLbl val="0"/>
      </c:catAx>
      <c:valAx>
        <c:axId val="-2113994440"/>
        <c:scaling>
          <c:max val="38.0"/>
          <c:min val="0.0"/>
        </c:scaling>
        <c:delete/>
        <c:axPos val="l"/>
        <c:majorTickMark val="out"/>
        <c:minorTickMark val="none"/>
        <c:tickLblPos val="nextTo"/>
        <c:crossAx val="-2068027336"/>
        <c:crosses val="autoZero"/>
      </c:valAx>
    </c:plotArea>
    <c:legend>
      <c:legendPos val="b"/>
      <c:overlay val="0"/>
      <c:txPr>
        <a:bodyPr/>
        <a:lstStyle/>
        <a:p>
          <a:pPr>
            <a:defRPr sz="900"/>
          </a:pPr>
        </a:p>
      </c:txPr>
    </c:legend>
    <c:dispBlanksAs val="gap"/>
  </c:chart>
  <c:txPr>
    <a:bodyPr/>
    <a:lstStyle/>
    <a:p>
      <a:pPr>
        <a:defRPr sz="900">
          <a:solidFill>
            <a:srgbClr val="263C50"/>
          </a:solidFill>
          <a:latin typeface="Bitstream Charte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i="0">
                <a:solidFill>
                  <a:srgbClr val="132C43"/>
                </a:solidFill>
                <a:latin typeface="Bitstream Charter"/>
              </a:rPr>
              <a:t>Complaint themes: share of negatives</a:t>
            </a:r>
          </a:p>
        </c:rich>
      </c:tx>
      <c:layout/>
      <c:overlay val="0"/>
    </c:title>
    <c:autoTitleDeleted val="0"/>
    <c:plotArea>
      <c:barChart>
        <c:barDir val="col"/>
        <c:grouping val="clustered"/>
        <c:ser>
          <c:idx val="0"/>
          <c:order val="0"/>
          <c:tx>
            <c:strRef>
              <c:f>Sheet1!$B$1</c:f>
              <c:strCache>
                <c:ptCount val="1"/>
                <c:pt idx="0">
                  <c:v>early negatives</c:v>
                </c:pt>
              </c:strCache>
            </c:strRef>
          </c:tx>
          <c:spPr>
            <a:solidFill>
              <a:srgbClr val="D1495B"/>
            </a:solidFill>
          </c:spPr>
          <c:cat>
            <c:strRef>
              <c:f>Sheet1!$A$2:$A$5</c:f>
              <c:strCache>
                <c:ptCount val="4"/>
                <c:pt idx="0">
                  <c:v>controls/UI</c:v>
                </c:pt>
                <c:pt idx="1">
                  <c:v>bugs</c:v>
                </c:pt>
                <c:pt idx="2">
                  <c:v>repetitive</c:v>
                </c:pt>
                <c:pt idx="3">
                  <c:v>unfair</c:v>
                </c:pt>
              </c:strCache>
            </c:strRef>
          </c:cat>
          <c:val>
            <c:numRef>
              <c:f>Sheet1!$B$2:$B$5</c:f>
              <c:numCache>
                <c:formatCode>General</c:formatCode>
                <c:ptCount val="4"/>
                <c:pt idx="0">
                  <c:v>13.06831821018771</c:v>
                </c:pt>
                <c:pt idx="1">
                  <c:v>12.924288251956401</c:v>
                </c:pt>
                <c:pt idx="2">
                  <c:v>15.21916558644198</c:v>
                </c:pt>
                <c:pt idx="3">
                  <c:v>7.883239713860481</c:v>
                </c:pt>
              </c:numCache>
            </c:numRef>
          </c:val>
        </c:ser>
        <c:ser>
          <c:idx val="1"/>
          <c:order val="1"/>
          <c:tx>
            <c:strRef>
              <c:f>Sheet1!$C$1</c:f>
              <c:strCache>
                <c:ptCount val="1"/>
                <c:pt idx="0">
                  <c:v>later negatives</c:v>
                </c:pt>
              </c:strCache>
            </c:strRef>
          </c:tx>
          <c:spPr>
            <a:solidFill>
              <a:srgbClr val="8C99A6"/>
            </a:solidFill>
          </c:spPr>
          <c:cat>
            <c:strRef>
              <c:f>Sheet1!$A$2:$A$5</c:f>
              <c:strCache>
                <c:ptCount val="4"/>
                <c:pt idx="0">
                  <c:v>controls/UI</c:v>
                </c:pt>
                <c:pt idx="1">
                  <c:v>bugs</c:v>
                </c:pt>
                <c:pt idx="2">
                  <c:v>repetitive</c:v>
                </c:pt>
                <c:pt idx="3">
                  <c:v>unfair</c:v>
                </c:pt>
              </c:strCache>
            </c:strRef>
          </c:cat>
          <c:val>
            <c:numRef>
              <c:f>Sheet1!$C$2:$C$5</c:f>
              <c:numCache>
                <c:formatCode>General</c:formatCode>
                <c:ptCount val="4"/>
                <c:pt idx="0">
                  <c:v>7.22474878135127</c:v>
                </c:pt>
                <c:pt idx="1">
                  <c:v>15.33454971269845</c:v>
                </c:pt>
                <c:pt idx="2">
                  <c:v>21.16227771574848</c:v>
                </c:pt>
                <c:pt idx="3">
                  <c:v>17.526755807303722</c:v>
                </c:pt>
              </c:numCache>
            </c:numRef>
          </c:val>
        </c:ser>
        <c:dLbls>
          <c:numFmt formatCode="0&quot;%&quot;"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C9D6E2"/>
            </a:solidFill>
          </a:ln>
        </c:spPr>
        <c:txPr>
          <a:bodyPr/>
          <a:lstStyle/>
          <a:p>
            <a:pPr>
              <a:defRPr sz="900"/>
            </a:pPr>
          </a:p>
        </c:txPr>
        <c:crossAx val="-2113994440"/>
        <c:crosses val="autoZero"/>
        <c:auto val="1"/>
        <c:lblAlgn val="ctr"/>
        <c:lblOffset val="100"/>
        <c:noMultiLvlLbl val="0"/>
      </c:catAx>
      <c:valAx>
        <c:axId val="-2113994440"/>
        <c:scaling>
          <c:max val="26.0"/>
          <c:min val="0.0"/>
        </c:scaling>
        <c:delete/>
        <c:axPos val="l"/>
        <c:majorTickMark val="out"/>
        <c:minorTickMark val="none"/>
        <c:tickLblPos val="nextTo"/>
        <c:crossAx val="-2068027336"/>
        <c:crosses val="autoZero"/>
      </c:valAx>
    </c:plotArea>
    <c:legend>
      <c:legendPos val="b"/>
      <c:overlay val="0"/>
      <c:txPr>
        <a:bodyPr/>
        <a:lstStyle/>
        <a:p>
          <a:pPr>
            <a:defRPr sz="900"/>
          </a:pPr>
        </a:p>
      </c:txPr>
    </c:legend>
    <c:dispBlanksAs val="gap"/>
  </c:chart>
  <c:txPr>
    <a:bodyPr/>
    <a:lstStyle/>
    <a:p>
      <a:pPr>
        <a:defRPr sz="900">
          <a:solidFill>
            <a:srgbClr val="263C50"/>
          </a:solidFill>
          <a:latin typeface="Bitstream Charte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rPr sz="1100" b="1" i="0">
                <a:solidFill>
                  <a:srgbClr val="132C43"/>
                </a:solidFill>
                <a:latin typeface="Bitstream Charter"/>
              </a:rPr>
              <a:t>Tag PCA: cumulative variance (%)</a:t>
            </a:r>
          </a:p>
        </c:rich>
      </c:tx>
      <c:layout/>
      <c:overlay val="0"/>
    </c:title>
    <c:plotArea>
      <c:scatterChart>
        <c:scatterStyle val="lineMarker"/>
        <c:varyColors val="0"/>
        <c:ser>
          <c:idx val="0"/>
          <c:order val="0"/>
          <c:tx>
            <c:strRef>
              <c:f>Sheet1!$B$1</c:f>
              <c:strCache>
                <c:ptCount val="1"/>
                <c:pt idx="0">
                  <c:v>cumulative variance</c:v>
                </c:pt>
              </c:strCache>
            </c:strRef>
          </c:tx>
          <c:spPr>
            <a:ln w="28575">
              <a:solidFill>
                <a:srgbClr val="132C43"/>
              </a:solidFill>
            </a:ln>
          </c:spPr>
          <c:marker>
            <c:symbol val="none"/>
          </c:marker>
          <c:xVal>
            <c:numRef>
              <c:f>Sheet1!$A$2:$A$235</c:f>
              <c:numCache>
                <c:formatCode>General</c:formatCode>
                <c:ptCount val="23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numCache>
            </c:numRef>
          </c:xVal>
          <c:yVal>
            <c:numRef>
              <c:f>Sheet1!$B$2:$B$235</c:f>
              <c:numCache>
                <c:formatCode>General</c:formatCode>
                <c:ptCount val="234"/>
                <c:pt idx="0">
                  <c:v>7.645102</c:v>
                </c:pt>
                <c:pt idx="1">
                  <c:v>12.041591</c:v>
                </c:pt>
                <c:pt idx="2">
                  <c:v>15.622562</c:v>
                </c:pt>
                <c:pt idx="3">
                  <c:v>18.697487</c:v>
                </c:pt>
                <c:pt idx="4">
                  <c:v>21.024157</c:v>
                </c:pt>
                <c:pt idx="5">
                  <c:v>23.241036</c:v>
                </c:pt>
                <c:pt idx="6">
                  <c:v>25.36101</c:v>
                </c:pt>
                <c:pt idx="7">
                  <c:v>27.427414</c:v>
                </c:pt>
                <c:pt idx="8">
                  <c:v>29.28134</c:v>
                </c:pt>
                <c:pt idx="9">
                  <c:v>30.992946</c:v>
                </c:pt>
                <c:pt idx="10">
                  <c:v>32.659182</c:v>
                </c:pt>
                <c:pt idx="11">
                  <c:v>34.265572</c:v>
                </c:pt>
                <c:pt idx="12">
                  <c:v>35.794693</c:v>
                </c:pt>
                <c:pt idx="13">
                  <c:v>37.183625</c:v>
                </c:pt>
                <c:pt idx="14">
                  <c:v>38.533297</c:v>
                </c:pt>
                <c:pt idx="15">
                  <c:v>39.8229</c:v>
                </c:pt>
                <c:pt idx="16">
                  <c:v>41.077816</c:v>
                </c:pt>
                <c:pt idx="17">
                  <c:v>42.282468</c:v>
                </c:pt>
                <c:pt idx="18">
                  <c:v>43.46376</c:v>
                </c:pt>
                <c:pt idx="19">
                  <c:v>44.55931</c:v>
                </c:pt>
                <c:pt idx="20">
                  <c:v>45.621908</c:v>
                </c:pt>
                <c:pt idx="21">
                  <c:v>46.679562000000004</c:v>
                </c:pt>
                <c:pt idx="22">
                  <c:v>47.685552</c:v>
                </c:pt>
                <c:pt idx="23">
                  <c:v>48.651803</c:v>
                </c:pt>
                <c:pt idx="24">
                  <c:v>49.599004</c:v>
                </c:pt>
                <c:pt idx="25">
                  <c:v>50.53221</c:v>
                </c:pt>
                <c:pt idx="26">
                  <c:v>51.44292</c:v>
                </c:pt>
                <c:pt idx="27">
                  <c:v>52.314519999999995</c:v>
                </c:pt>
                <c:pt idx="28">
                  <c:v>53.15529</c:v>
                </c:pt>
                <c:pt idx="29">
                  <c:v>53.95892</c:v>
                </c:pt>
                <c:pt idx="30">
                  <c:v>54.752283999999996</c:v>
                </c:pt>
                <c:pt idx="31">
                  <c:v>55.532014</c:v>
                </c:pt>
                <c:pt idx="32">
                  <c:v>56.296009999999995</c:v>
                </c:pt>
                <c:pt idx="33">
                  <c:v>57.039845</c:v>
                </c:pt>
                <c:pt idx="34">
                  <c:v>57.779709999999994</c:v>
                </c:pt>
                <c:pt idx="35">
                  <c:v>58.495104</c:v>
                </c:pt>
                <c:pt idx="36">
                  <c:v>59.18748</c:v>
                </c:pt>
                <c:pt idx="37">
                  <c:v>59.871936000000005</c:v>
                </c:pt>
                <c:pt idx="38">
                  <c:v>60.536045</c:v>
                </c:pt>
                <c:pt idx="39">
                  <c:v>61.193470000000005</c:v>
                </c:pt>
                <c:pt idx="40">
                  <c:v>61.844646999999995</c:v>
                </c:pt>
                <c:pt idx="41">
                  <c:v>62.48621</c:v>
                </c:pt>
                <c:pt idx="42">
                  <c:v>63.11105</c:v>
                </c:pt>
                <c:pt idx="43">
                  <c:v>63.731384000000006</c:v>
                </c:pt>
                <c:pt idx="44">
                  <c:v>64.33516999999999</c:v>
                </c:pt>
                <c:pt idx="45">
                  <c:v>64.90862</c:v>
                </c:pt>
                <c:pt idx="46">
                  <c:v>65.47424</c:v>
                </c:pt>
                <c:pt idx="47">
                  <c:v>66.02741</c:v>
                </c:pt>
                <c:pt idx="48">
                  <c:v>66.57280300000001</c:v>
                </c:pt>
                <c:pt idx="49">
                  <c:v>67.11329</c:v>
                </c:pt>
                <c:pt idx="50">
                  <c:v>67.650604</c:v>
                </c:pt>
                <c:pt idx="51">
                  <c:v>68.16872000000001</c:v>
                </c:pt>
                <c:pt idx="52">
                  <c:v>68.67403399999999</c:v>
                </c:pt>
                <c:pt idx="53">
                  <c:v>69.178414</c:v>
                </c:pt>
                <c:pt idx="54">
                  <c:v>69.67455</c:v>
                </c:pt>
                <c:pt idx="55">
                  <c:v>70.14574</c:v>
                </c:pt>
                <c:pt idx="56">
                  <c:v>70.6161</c:v>
                </c:pt>
                <c:pt idx="57">
                  <c:v>71.08026</c:v>
                </c:pt>
                <c:pt idx="58">
                  <c:v>71.536815</c:v>
                </c:pt>
                <c:pt idx="59">
                  <c:v>71.989346</c:v>
                </c:pt>
                <c:pt idx="60">
                  <c:v>72.42914</c:v>
                </c:pt>
                <c:pt idx="61">
                  <c:v>72.866213</c:v>
                </c:pt>
                <c:pt idx="62">
                  <c:v>73.28752</c:v>
                </c:pt>
                <c:pt idx="63">
                  <c:v>73.70612600000001</c:v>
                </c:pt>
                <c:pt idx="64">
                  <c:v>74.11744</c:v>
                </c:pt>
                <c:pt idx="65">
                  <c:v>74.527544</c:v>
                </c:pt>
                <c:pt idx="66">
                  <c:v>74.93058</c:v>
                </c:pt>
                <c:pt idx="67">
                  <c:v>75.329167</c:v>
                </c:pt>
                <c:pt idx="68">
                  <c:v>75.72176</c:v>
                </c:pt>
                <c:pt idx="69">
                  <c:v>76.1113</c:v>
                </c:pt>
                <c:pt idx="70">
                  <c:v>76.49664</c:v>
                </c:pt>
                <c:pt idx="71">
                  <c:v>76.872253</c:v>
                </c:pt>
                <c:pt idx="72">
                  <c:v>77.244264</c:v>
                </c:pt>
                <c:pt idx="73">
                  <c:v>77.613914</c:v>
                </c:pt>
                <c:pt idx="74">
                  <c:v>77.97511</c:v>
                </c:pt>
                <c:pt idx="75">
                  <c:v>78.331554</c:v>
                </c:pt>
                <c:pt idx="76">
                  <c:v>78.68123</c:v>
                </c:pt>
                <c:pt idx="77">
                  <c:v>79.024744</c:v>
                </c:pt>
                <c:pt idx="78">
                  <c:v>79.35857</c:v>
                </c:pt>
                <c:pt idx="79">
                  <c:v>79.69032</c:v>
                </c:pt>
                <c:pt idx="80">
                  <c:v>80.017436</c:v>
                </c:pt>
                <c:pt idx="81">
                  <c:v>80.33933</c:v>
                </c:pt>
                <c:pt idx="82">
                  <c:v>80.65728</c:v>
                </c:pt>
                <c:pt idx="83">
                  <c:v>80.96518</c:v>
                </c:pt>
                <c:pt idx="84">
                  <c:v>81.26723</c:v>
                </c:pt>
                <c:pt idx="85">
                  <c:v>81.56588</c:v>
                </c:pt>
                <c:pt idx="86">
                  <c:v>81.85757</c:v>
                </c:pt>
                <c:pt idx="87">
                  <c:v>82.146853</c:v>
                </c:pt>
                <c:pt idx="88">
                  <c:v>82.429785</c:v>
                </c:pt>
                <c:pt idx="89">
                  <c:v>82.71006</c:v>
                </c:pt>
                <c:pt idx="90">
                  <c:v>82.983935</c:v>
                </c:pt>
                <c:pt idx="91">
                  <c:v>83.25483</c:v>
                </c:pt>
                <c:pt idx="92">
                  <c:v>83.518666</c:v>
                </c:pt>
                <c:pt idx="93">
                  <c:v>83.77731</c:v>
                </c:pt>
                <c:pt idx="94">
                  <c:v>84.03407</c:v>
                </c:pt>
                <c:pt idx="95">
                  <c:v>84.28768</c:v>
                </c:pt>
                <c:pt idx="96">
                  <c:v>84.53682</c:v>
                </c:pt>
                <c:pt idx="97">
                  <c:v>84.78461</c:v>
                </c:pt>
                <c:pt idx="98">
                  <c:v>85.02794999999999</c:v>
                </c:pt>
                <c:pt idx="99">
                  <c:v>85.26808</c:v>
                </c:pt>
                <c:pt idx="100">
                  <c:v>85.502267</c:v>
                </c:pt>
                <c:pt idx="101">
                  <c:v>85.732293</c:v>
                </c:pt>
                <c:pt idx="102">
                  <c:v>85.96086</c:v>
                </c:pt>
                <c:pt idx="103">
                  <c:v>86.187255</c:v>
                </c:pt>
                <c:pt idx="104">
                  <c:v>86.411124</c:v>
                </c:pt>
                <c:pt idx="105">
                  <c:v>86.630905</c:v>
                </c:pt>
                <c:pt idx="106">
                  <c:v>86.848503</c:v>
                </c:pt>
                <c:pt idx="107">
                  <c:v>87.065154</c:v>
                </c:pt>
                <c:pt idx="108">
                  <c:v>87.27625599999999</c:v>
                </c:pt>
                <c:pt idx="109">
                  <c:v>87.48578</c:v>
                </c:pt>
                <c:pt idx="110">
                  <c:v>87.69371</c:v>
                </c:pt>
                <c:pt idx="111">
                  <c:v>87.89698</c:v>
                </c:pt>
                <c:pt idx="112">
                  <c:v>88.09832</c:v>
                </c:pt>
                <c:pt idx="113">
                  <c:v>88.29844999999999</c:v>
                </c:pt>
                <c:pt idx="114">
                  <c:v>88.495785</c:v>
                </c:pt>
                <c:pt idx="115">
                  <c:v>88.69093</c:v>
                </c:pt>
                <c:pt idx="116">
                  <c:v>88.88307</c:v>
                </c:pt>
                <c:pt idx="117">
                  <c:v>89.07386699999999</c:v>
                </c:pt>
                <c:pt idx="118">
                  <c:v>89.263535</c:v>
                </c:pt>
                <c:pt idx="119">
                  <c:v>89.44840400000001</c:v>
                </c:pt>
                <c:pt idx="120">
                  <c:v>89.63224</c:v>
                </c:pt>
                <c:pt idx="121">
                  <c:v>89.811724</c:v>
                </c:pt>
                <c:pt idx="122">
                  <c:v>89.989716</c:v>
                </c:pt>
                <c:pt idx="123">
                  <c:v>90.16233</c:v>
                </c:pt>
                <c:pt idx="124">
                  <c:v>90.33368</c:v>
                </c:pt>
                <c:pt idx="125">
                  <c:v>90.503705</c:v>
                </c:pt>
                <c:pt idx="126">
                  <c:v>90.672046</c:v>
                </c:pt>
                <c:pt idx="127">
                  <c:v>90.83772</c:v>
                </c:pt>
                <c:pt idx="128">
                  <c:v>90.999514</c:v>
                </c:pt>
                <c:pt idx="129">
                  <c:v>91.15967</c:v>
                </c:pt>
                <c:pt idx="130">
                  <c:v>91.31888000000001</c:v>
                </c:pt>
                <c:pt idx="131">
                  <c:v>91.474694</c:v>
                </c:pt>
                <c:pt idx="132">
                  <c:v>91.62841</c:v>
                </c:pt>
                <c:pt idx="133">
                  <c:v>91.778356</c:v>
                </c:pt>
                <c:pt idx="134">
                  <c:v>91.92690999999999</c:v>
                </c:pt>
                <c:pt idx="135">
                  <c:v>92.07343</c:v>
                </c:pt>
                <c:pt idx="136">
                  <c:v>92.217636</c:v>
                </c:pt>
                <c:pt idx="137">
                  <c:v>92.36052000000001</c:v>
                </c:pt>
                <c:pt idx="138">
                  <c:v>92.50212</c:v>
                </c:pt>
                <c:pt idx="139">
                  <c:v>92.64198</c:v>
                </c:pt>
                <c:pt idx="140">
                  <c:v>92.779964</c:v>
                </c:pt>
                <c:pt idx="141">
                  <c:v>92.9147</c:v>
                </c:pt>
                <c:pt idx="142">
                  <c:v>93.048316</c:v>
                </c:pt>
                <c:pt idx="143">
                  <c:v>93.1803</c:v>
                </c:pt>
                <c:pt idx="144">
                  <c:v>93.310183</c:v>
                </c:pt>
                <c:pt idx="145">
                  <c:v>93.438345</c:v>
                </c:pt>
                <c:pt idx="146">
                  <c:v>93.56569999999999</c:v>
                </c:pt>
                <c:pt idx="147">
                  <c:v>93.69057</c:v>
                </c:pt>
                <c:pt idx="148">
                  <c:v>93.81338</c:v>
                </c:pt>
                <c:pt idx="149">
                  <c:v>93.93301</c:v>
                </c:pt>
                <c:pt idx="150">
                  <c:v>94.0523</c:v>
                </c:pt>
                <c:pt idx="151">
                  <c:v>94.17018999999999</c:v>
                </c:pt>
                <c:pt idx="152">
                  <c:v>94.28556</c:v>
                </c:pt>
                <c:pt idx="153">
                  <c:v>94.39885</c:v>
                </c:pt>
                <c:pt idx="154">
                  <c:v>94.51055000000001</c:v>
                </c:pt>
                <c:pt idx="155">
                  <c:v>94.62178300000001</c:v>
                </c:pt>
                <c:pt idx="156">
                  <c:v>94.730943</c:v>
                </c:pt>
                <c:pt idx="157">
                  <c:v>94.83973</c:v>
                </c:pt>
                <c:pt idx="158">
                  <c:v>94.94584</c:v>
                </c:pt>
                <c:pt idx="159">
                  <c:v>95.05104399999999</c:v>
                </c:pt>
                <c:pt idx="160">
                  <c:v>95.15357</c:v>
                </c:pt>
                <c:pt idx="161">
                  <c:v>95.25518</c:v>
                </c:pt>
                <c:pt idx="162">
                  <c:v>95.35586</c:v>
                </c:pt>
                <c:pt idx="163">
                  <c:v>95.45605</c:v>
                </c:pt>
                <c:pt idx="164">
                  <c:v>95.55498</c:v>
                </c:pt>
                <c:pt idx="165">
                  <c:v>95.65252699999999</c:v>
                </c:pt>
                <c:pt idx="166">
                  <c:v>95.74818</c:v>
                </c:pt>
                <c:pt idx="167">
                  <c:v>95.84340999999999</c:v>
                </c:pt>
                <c:pt idx="168">
                  <c:v>95.936775</c:v>
                </c:pt>
                <c:pt idx="169">
                  <c:v>96.02895000000001</c:v>
                </c:pt>
                <c:pt idx="170">
                  <c:v>96.121037</c:v>
                </c:pt>
                <c:pt idx="171">
                  <c:v>96.21225</c:v>
                </c:pt>
                <c:pt idx="172">
                  <c:v>96.301377</c:v>
                </c:pt>
                <c:pt idx="173">
                  <c:v>96.3893</c:v>
                </c:pt>
                <c:pt idx="174">
                  <c:v>96.47641</c:v>
                </c:pt>
                <c:pt idx="175">
                  <c:v>96.562636</c:v>
                </c:pt>
                <c:pt idx="176">
                  <c:v>96.64864</c:v>
                </c:pt>
                <c:pt idx="177">
                  <c:v>96.73398</c:v>
                </c:pt>
                <c:pt idx="178">
                  <c:v>96.81898</c:v>
                </c:pt>
                <c:pt idx="179">
                  <c:v>96.90128</c:v>
                </c:pt>
                <c:pt idx="180">
                  <c:v>96.9831</c:v>
                </c:pt>
                <c:pt idx="181">
                  <c:v>97.06375</c:v>
                </c:pt>
                <c:pt idx="182">
                  <c:v>97.14398</c:v>
                </c:pt>
                <c:pt idx="183">
                  <c:v>97.224057</c:v>
                </c:pt>
                <c:pt idx="184">
                  <c:v>97.302306</c:v>
                </c:pt>
                <c:pt idx="185">
                  <c:v>97.38032</c:v>
                </c:pt>
                <c:pt idx="186">
                  <c:v>97.4567</c:v>
                </c:pt>
                <c:pt idx="187">
                  <c:v>97.53205</c:v>
                </c:pt>
                <c:pt idx="188">
                  <c:v>97.606033</c:v>
                </c:pt>
                <c:pt idx="189">
                  <c:v>97.679305</c:v>
                </c:pt>
                <c:pt idx="190">
                  <c:v>97.752047</c:v>
                </c:pt>
                <c:pt idx="191">
                  <c:v>97.82321499999999</c:v>
                </c:pt>
                <c:pt idx="192">
                  <c:v>97.8935</c:v>
                </c:pt>
                <c:pt idx="193">
                  <c:v>97.962385</c:v>
                </c:pt>
                <c:pt idx="194">
                  <c:v>98.031175</c:v>
                </c:pt>
                <c:pt idx="195">
                  <c:v>98.099107</c:v>
                </c:pt>
                <c:pt idx="196">
                  <c:v>98.166144</c:v>
                </c:pt>
                <c:pt idx="197">
                  <c:v>98.23249</c:v>
                </c:pt>
                <c:pt idx="198">
                  <c:v>98.29868</c:v>
                </c:pt>
                <c:pt idx="199">
                  <c:v>98.36346999999999</c:v>
                </c:pt>
                <c:pt idx="200">
                  <c:v>98.427683</c:v>
                </c:pt>
                <c:pt idx="201">
                  <c:v>98.490494</c:v>
                </c:pt>
                <c:pt idx="202">
                  <c:v>98.55256999999999</c:v>
                </c:pt>
                <c:pt idx="203">
                  <c:v>98.613137</c:v>
                </c:pt>
                <c:pt idx="204">
                  <c:v>98.67283</c:v>
                </c:pt>
                <c:pt idx="205">
                  <c:v>98.73197</c:v>
                </c:pt>
                <c:pt idx="206">
                  <c:v>98.79007</c:v>
                </c:pt>
                <c:pt idx="207">
                  <c:v>98.846924</c:v>
                </c:pt>
                <c:pt idx="208">
                  <c:v>98.90352</c:v>
                </c:pt>
                <c:pt idx="209">
                  <c:v>98.95902</c:v>
                </c:pt>
                <c:pt idx="210">
                  <c:v>99.01352</c:v>
                </c:pt>
                <c:pt idx="211">
                  <c:v>99.06779</c:v>
                </c:pt>
                <c:pt idx="212">
                  <c:v>99.12173</c:v>
                </c:pt>
                <c:pt idx="213">
                  <c:v>99.174476</c:v>
                </c:pt>
                <c:pt idx="214">
                  <c:v>99.225557</c:v>
                </c:pt>
                <c:pt idx="215">
                  <c:v>99.27557999999999</c:v>
                </c:pt>
                <c:pt idx="216">
                  <c:v>99.32521</c:v>
                </c:pt>
                <c:pt idx="217">
                  <c:v>99.37424700000001</c:v>
                </c:pt>
                <c:pt idx="218">
                  <c:v>99.42227</c:v>
                </c:pt>
                <c:pt idx="219">
                  <c:v>99.47013</c:v>
                </c:pt>
                <c:pt idx="220">
                  <c:v>99.517715</c:v>
                </c:pt>
                <c:pt idx="221">
                  <c:v>99.564105</c:v>
                </c:pt>
                <c:pt idx="222">
                  <c:v>99.60933</c:v>
                </c:pt>
                <c:pt idx="223">
                  <c:v>99.653673</c:v>
                </c:pt>
                <c:pt idx="224">
                  <c:v>99.696547</c:v>
                </c:pt>
                <c:pt idx="225">
                  <c:v>99.73821600000001</c:v>
                </c:pt>
                <c:pt idx="226">
                  <c:v>99.77936</c:v>
                </c:pt>
                <c:pt idx="227">
                  <c:v>99.81909</c:v>
                </c:pt>
                <c:pt idx="228">
                  <c:v>99.85779000000001</c:v>
                </c:pt>
                <c:pt idx="229">
                  <c:v>99.89495000000001</c:v>
                </c:pt>
                <c:pt idx="230">
                  <c:v>99.931806</c:v>
                </c:pt>
                <c:pt idx="231">
                  <c:v>99.96562</c:v>
                </c:pt>
                <c:pt idx="232">
                  <c:v>99.99262</c:v>
                </c:pt>
                <c:pt idx="233">
                  <c:v>99.999976</c:v>
                </c:pt>
              </c:numCache>
            </c:numRef>
          </c:yVal>
          <c:smooth val="0"/>
        </c:ser>
        <c:ser>
          <c:idx val="1"/>
          <c:order val="1"/>
          <c:tx>
            <c:strRef>
              <c:f>Sheet1!$B$237</c:f>
              <c:strCache>
                <c:ptCount val="1"/>
                <c:pt idx="0">
                  <c:v>k = 68</c:v>
                </c:pt>
              </c:strCache>
            </c:strRef>
          </c:tx>
          <c:spPr>
            <a:ln>
              <a:noFill/>
            </a:ln>
          </c:spPr>
          <c:marker>
            <c:symbol val="circle"/>
            <c:size val="11"/>
            <c:spPr>
              <a:solidFill>
                <a:srgbClr val="D1495B"/>
              </a:solidFill>
              <a:ln>
                <a:solidFill>
                  <a:srgbClr val="D1495B"/>
                </a:solidFill>
              </a:ln>
            </c:spPr>
          </c:marker>
          <c:xVal>
            <c:numRef>
              <c:f>Sheet1!$A$238:$A$238</c:f>
              <c:numCache>
                <c:formatCode>General</c:formatCode>
                <c:ptCount val="1"/>
                <c:pt idx="0">
                  <c:v>68</c:v>
                </c:pt>
              </c:numCache>
            </c:numRef>
          </c:xVal>
          <c:yVal>
            <c:numRef>
              <c:f>Sheet1!$B$238:$B$238</c:f>
              <c:numCache>
                <c:formatCode>General</c:formatCode>
                <c:ptCount val="1"/>
                <c:pt idx="0">
                  <c:v>75.329167</c:v>
                </c:pt>
              </c:numCache>
            </c:numRef>
          </c:yVal>
          <c:smooth val="0"/>
        </c:ser>
        <c:axId val="-2128940872"/>
        <c:axId val="-2129643912"/>
      </c:scatterChart>
      <c:valAx>
        <c:axId val="-2128940872"/>
        <c:scaling>
          <c:orientation val="minMax"/>
          <c:max val="240.0"/>
          <c:min val="0.0"/>
        </c:scaling>
        <c:delete val="0"/>
        <c:axPos val="b"/>
        <c:title>
          <c:tx>
            <c:rich>
              <a:bodyPr/>
              <a:lstStyle/>
              <a:p>
                <a:r>
                  <a:rPr sz="900" b="0" i="0">
                    <a:solidFill>
                      <a:srgbClr val="48677E"/>
                    </a:solidFill>
                    <a:latin typeface="Bitstream Charter"/>
                  </a:rPr>
                  <a:t>number of components</a:t>
                </a:r>
              </a:p>
            </c:rich>
          </c:tx>
          <c:layout/>
          <c:overlay val="0"/>
        </c:title>
        <c:numFmt formatCode="General" sourceLinked="1"/>
        <c:majorTickMark val="out"/>
        <c:minorTickMark val="none"/>
        <c:tickLblPos val="nextTo"/>
        <c:txPr>
          <a:bodyPr/>
          <a:lstStyle/>
          <a:p>
            <a:pPr>
              <a:defRPr sz="900"/>
            </a:pPr>
          </a:p>
        </c:txPr>
        <c:crossAx val="-2129643912"/>
        <c:crosses val="autoZero"/>
        <c:crossBetween val="midCat"/>
      </c:valAx>
      <c:valAx>
        <c:axId val="-2129643912"/>
        <c:scaling>
          <c:orientation val="minMax"/>
          <c:max val="100.0"/>
          <c:min val="0.0"/>
        </c:scaling>
        <c:delete val="0"/>
        <c:axPos val="l"/>
        <c:majorGridlines>
          <c:spPr>
            <a:ln>
              <a:solidFill>
                <a:srgbClr val="DDE5EE"/>
              </a:solidFill>
            </a:ln>
          </c:spPr>
        </c:majorGridlines>
        <c:numFmt formatCode="General" sourceLinked="1"/>
        <c:majorTickMark val="out"/>
        <c:minorTickMark val="none"/>
        <c:tickLblPos val="nextTo"/>
        <c:txPr>
          <a:bodyPr/>
          <a:lstStyle/>
          <a:p>
            <a:pPr>
              <a:defRPr sz="900"/>
            </a:pPr>
          </a:p>
        </c:txPr>
        <c:crossAx val="-2128940872"/>
        <c:crosses val="autoZero"/>
        <c:crossBetween val="midCat"/>
      </c:valAx>
    </c:plotArea>
    <c:plotVisOnly val="1"/>
    <c:dispBlanksAs val="gap"/>
    <c:showDLblsOverMax val="0"/>
  </c:chart>
  <c:txPr>
    <a:bodyPr/>
    <a:lstStyle/>
    <a:p>
      <a:pPr>
        <a:defRPr sz="1000">
          <a:solidFill>
            <a:srgbClr val="263C50"/>
          </a:solidFill>
          <a:latin typeface="Bitstream Charte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i="0">
                <a:solidFill>
                  <a:srgbClr val="132C43"/>
                </a:solidFill>
                <a:latin typeface="Bitstream Charter"/>
              </a:rPr>
              <a:t>Review text lifts PR-AUC</a:t>
            </a:r>
          </a:p>
        </c:rich>
      </c:tx>
      <c:layout/>
      <c:overlay val="0"/>
    </c:title>
    <c:autoTitleDeleted val="0"/>
    <c:plotArea>
      <c:barChart>
        <c:barDir val="col"/>
        <c:grouping val="clustered"/>
        <c:ser>
          <c:idx val="0"/>
          <c:order val="0"/>
          <c:tx>
            <c:strRef>
              <c:f>Sheet1!$B$1</c:f>
              <c:strCache>
                <c:ptCount val="1"/>
                <c:pt idx="0">
                  <c:v>PR-AUC</c:v>
                </c:pt>
              </c:strCache>
            </c:strRef>
          </c:tx>
          <c:spPr>
            <a:solidFill>
              <a:srgbClr val="48677E"/>
            </a:solidFill>
          </c:spPr>
          <c:cat>
            <c:strRef>
              <c:f>Sheet1!$A$2:$A$5</c:f>
              <c:strCache>
                <c:ptCount val="4"/>
                <c:pt idx="0">
                  <c:v>Dummy</c:v>
                </c:pt>
                <c:pt idx="1">
                  <c:v>metadata</c:v>
                </c:pt>
                <c:pt idx="2">
                  <c:v>+ text SVD</c:v>
                </c:pt>
                <c:pt idx="3">
                  <c:v>full text</c:v>
                </c:pt>
              </c:strCache>
            </c:strRef>
          </c:cat>
          <c:val>
            <c:numRef>
              <c:f>Sheet1!$B$2:$B$5</c:f>
              <c:numCache>
                <c:formatCode>General</c:formatCode>
                <c:ptCount val="4"/>
                <c:pt idx="0">
                  <c:v>0.1151</c:v>
                </c:pt>
                <c:pt idx="1">
                  <c:v>0.3597</c:v>
                </c:pt>
                <c:pt idx="2">
                  <c:v>0.5813</c:v>
                </c:pt>
                <c:pt idx="3">
                  <c:v>0.7849</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9D6E2"/>
            </a:solidFill>
          </a:ln>
        </c:spPr>
        <c:txPr>
          <a:bodyPr/>
          <a:lstStyle/>
          <a:p>
            <a:pPr>
              <a:defRPr sz="900"/>
            </a:pPr>
          </a:p>
        </c:txPr>
        <c:crossAx val="-2113994440"/>
        <c:crosses val="autoZero"/>
        <c:auto val="1"/>
        <c:lblAlgn val="ctr"/>
        <c:lblOffset val="100"/>
        <c:noMultiLvlLbl val="0"/>
      </c:catAx>
      <c:valAx>
        <c:axId val="-2113994440"/>
        <c:scaling>
          <c:max val="1.0"/>
          <c:min val="0.0"/>
        </c:scaling>
        <c:delete/>
        <c:axPos val="l"/>
        <c:majorTickMark val="out"/>
        <c:minorTickMark val="none"/>
        <c:tickLblPos val="nextTo"/>
        <c:crossAx val="-2068027336"/>
        <c:crosses val="autoZero"/>
      </c:valAx>
    </c:plotArea>
    <c:dispBlanksAs val="gap"/>
  </c:chart>
  <c:txPr>
    <a:bodyPr/>
    <a:lstStyle/>
    <a:p>
      <a:pPr>
        <a:defRPr sz="900">
          <a:solidFill>
            <a:srgbClr val="263C50"/>
          </a:solidFill>
          <a:latin typeface="Bitstream Char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Shantharam. 0:30.</a:t>
            </a:r>
          </a:p>
          <a:p>
            <a:r>
              <a:t>Introduce the project in one sentence: we help a small indie studio decide what to fix before Steam's refund window closes, which feature combinations to back, and when to patch. Fill in the team number, member names and register numbers (highlighted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Shantharam. 1:30.</a:t>
            </a:r>
          </a:p>
          <a:p>
            <a:r>
              <a:t>The business problem: reviews decide visibility, and a refund is possible for 14 days under 2 hours of play, so early negatives are doubly costly. Existing approaches (Steam labels, SteamSpy, the Lin et al. study of Steam reviews) describe outcomes after the fact. Our gap: act inside the refund window. Reference [1] was verified (authors, title, venue, year); we cite it only as a large-scale study of Steam 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Shantharam. 1:30.</a:t>
            </a:r>
          </a:p>
          <a:p>
            <a:r>
              <a:t>All data was collected by us on 1–2 October 2026 from public Steam endpoints, then frozen with row counts and SHA256 hashes (docs/data_manifest.md). 99.95% of Steam's reported reviews were collected for the 1,856 fully scraped games; five very large games were capped at their newest ~15,000 reviews. The sample tables are real rows (review text and IDs left out on purpose; reviewer names were never 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Shantharam. 1:30.</a:t>
            </a:r>
          </a:p>
          <a:p>
            <a:r>
              <a:t>The pipeline is python -m src.clean; every rule is logged automatically with before/after counts and a justification. Only 4,612 empty reviews are dropped. Everything suspicious is flagged and kept. Evidence: notebooks/review1/IndieGuard_Review1.ipynb section 3 and docs/cleaning_log.md.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Srihitha (EDA author). 2:00.</a:t>
            </a:r>
          </a:p>
          <a:p>
            <a:r>
              <a:t>Three views, all computed live in the notebook (section 4 and 9) from review_features: playtime, price tier and complaint themes. 'Early' means under 2 hours played (inside the refund window). Themes are keyword groups on English reviews, an initial look until Review 2's topic modelling. The full EDA (29 figures, association tests) is in notebooks/02_EDA_Visualizations.ipynb.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Gayas (dimensionality reduction). 1:30.</a:t>
            </a:r>
          </a:p>
          <a:p>
            <a:r>
              <a:t>Three kinds of feature: engineered features kept as they are, tags reduced with PCA, text reduced with TF-IDF+SVD. All fitted on training games only; python -m src.features.validate proves it (the PCA mean equals the training-game mean). Details: docs/feature_engineering.md. Honest note: the first SVD (154 components) was replaced by this PCA after removing constant, rare and duplicate columns.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Pradeep (XGBoost models). 1:30.</a:t>
            </a:r>
          </a:p>
          <a:p>
            <a:r>
              <a:t>Two prediction tasks, five models each. Why these: the brief names Logistic Regression, Random Forest and XGBoost; we added LightGBM and a Dummy baseline. Split by game so no game leaks across train and test. Everything is tuned on cross-validation inside train; the test set is used once.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Pradeep and Shantharam. 2:30.</a:t>
            </a:r>
          </a:p>
          <a:p>
            <a:r>
              <a:t>Every model beats the Dummy baseline. Review level: the three tree models tie (gaps smaller than the fold spread), Logistic Regression is weaker. Game level: no winner; simple models match boosting; Struggling games are hard to find (recall 0.14 to 0.45 depending on the model). The text model reaches PR-AUC 0.785, but note it detects negative reviews from their own text; it does not forecast them. Limits: XGBoost is on default settings; cross-validation is slightly optimistic, so quote the test scores.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Shantharam (board admin). 1:00.</a:t>
            </a:r>
          </a:p>
          <a:p>
            <a:r>
              <a:t>The board uses the five required stages, and every card has an owner (where assigned), a due date and an Evidence field. Activity history is also visible in GitHub: merged pull requests and commits with dates. Table is a snapshot of the board; update it if owners change before the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the fifth member and Shantharam. 1:30.</a:t>
            </a:r>
          </a:p>
          <a:p>
            <a:r>
              <a:t>Each member names their own contribution and shows the evidence link. Pending work is what remains before and after Review 1. Review 2 is on 13 October, so the plan is compressed into 6–12 October. Fill in the highlighted register numbers and the fifth member's row.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5.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github.com/users/Shan713/projects/1" TargetMode="External"/><Relationship Id="rId4" Type="http://schemas.openxmlformats.org/officeDocument/2006/relationships/hyperlink" Target="https://github.com/Shan713/IndieGuar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github.com/Shan713/IndieGuard/blob/main/notebooks/review1/IndieGuard_Review1.ipynb" TargetMode="External"/><Relationship Id="rId4" Type="http://schemas.openxmlformats.org/officeDocument/2006/relationships/hyperlink" Target="https://github.com/Shan713/IndieGuard/blob/main/docs/data_documentation.md" TargetMode="External"/><Relationship Id="rId5" Type="http://schemas.openxmlformats.org/officeDocument/2006/relationships/hyperlink" Target="https://github.com/users/Shan713/projects/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C4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98003F1-C4BB-4281-BAA1-BCC33BFC04FD}"/>
              </a:ext>
            </a:extLst>
          </p:cNvPr>
          <p:cNvSpPr>
            <a:spLocks noGrp="1"/>
          </p:cNvSpPr>
          <p:nvPr/>
        </p:nvSpPr>
        <p:spPr>
          <a:xfrm>
            <a:off x="685800" y="523875"/>
            <a:ext cx="10820400" cy="952500"/>
          </a:xfrm>
          <a:prstGeom prst="rect">
            <a:avLst/>
          </a:prstGeom>
          <a:noFill/>
          <a:ln w="0">
            <a:noFill/>
          </a:ln>
        </p:spPr>
        <p:txBody>
          <a:bodyPr wrap="square">
            <a:noAutofit/>
          </a:bodyPr>
          <a:lstStyle/>
          <a:p>
            <a:pPr>
              <a:spcAft>
                <a:spcPts val="400"/>
              </a:spcAft>
              <a:defRPr sz="4050" b="1">
                <a:solidFill>
                  <a:srgbClr val="FFFFFF"/>
                </a:solidFill>
                <a:latin typeface="Bitstream Charter"/>
                <a:ea typeface="Bitstream Charter"/>
                <a:cs typeface="Bitstream Charter"/>
              </a:defRPr>
            </a:pPr>
            <a:r>
              <a:rPr sz="4050" b="1" i="0">
                <a:solidFill>
                  <a:srgbClr val="FFFFFF"/>
                </a:solidFill>
                <a:latin typeface="Bitstream Charter"/>
              </a:rPr>
              <a:t>IndieGuard: Indie Game Launch Analytics</a:t>
            </a:r>
          </a:p>
        </p:txBody>
      </p:sp>
      <p:sp>
        <p:nvSpPr>
          <p:cNvPr id="2" name="Rectangle 1">
            <a:extLst>
              <a:ext uri="{FF2B5EF4-FFF2-40B4-BE49-F238E27FC236}">
                <a16:creationId xmlns:a16="http://schemas.microsoft.com/office/drawing/2014/main" id="{42183F9D-1FBB-4C85-9C62-1972FA696E5C}"/>
              </a:ext>
            </a:extLst>
          </p:cNvPr>
          <p:cNvSpPr>
            <a:spLocks noGrp="1"/>
          </p:cNvSpPr>
          <p:nvPr/>
        </p:nvSpPr>
        <p:spPr>
          <a:xfrm>
            <a:off x="723900" y="1762125"/>
            <a:ext cx="10706100" cy="3905250"/>
          </a:xfrm>
          <a:prstGeom prst="rect">
            <a:avLst/>
          </a:prstGeom>
          <a:noFill/>
          <a:ln w="0">
            <a:noFill/>
          </a:ln>
        </p:spPr>
        <p:txBody>
          <a:bodyPr wrap="square">
            <a:noAutofit/>
          </a:bodyPr>
          <a:lstStyle/>
          <a:p>
            <a:pPr>
              <a:spcAft>
                <a:spcPts val="300"/>
              </a:spcAft>
              <a:defRPr sz="2250" b="0">
                <a:solidFill>
                  <a:srgbClr val="DFEAF3"/>
                </a:solidFill>
                <a:latin typeface="Bitstream Charter"/>
                <a:ea typeface="Bitstream Charter"/>
                <a:cs typeface="Bitstream Charter"/>
              </a:defRPr>
            </a:pPr>
            <a:r>
              <a:rPr sz="2100" b="0" i="0">
                <a:solidFill>
                  <a:srgbClr val="FFFFFF"/>
                </a:solidFill>
                <a:latin typeface="Bitstream Charter"/>
              </a:rPr>
              <a:t>Predicting negative-review risk and identifying winning feature combinations on Steam</a:t>
            </a:r>
          </a:p>
          <a:p>
            <a:pPr>
              <a:spcAft>
                <a:spcPts val="300"/>
              </a:spcAft>
            </a:pPr>
            <a:r>
              <a:rPr sz="2100" b="0" i="0">
                <a:solidFill>
                  <a:srgbClr val="DFEAF3"/>
                </a:solidFill>
                <a:latin typeface="Bitstream Charter"/>
              </a:rPr>
              <a:t/>
            </a:r>
          </a:p>
          <a:p>
            <a:pPr>
              <a:spcAft>
                <a:spcPts val="300"/>
              </a:spcAft>
            </a:pPr>
            <a:r>
              <a:rPr sz="2100" b="0" i="0">
                <a:solidFill>
                  <a:srgbClr val="DFEAF3"/>
                </a:solidFill>
                <a:latin typeface="Bitstream Charter"/>
              </a:rPr>
              <a:t>Review 1</a:t>
            </a:r>
          </a:p>
          <a:p>
            <a:pPr>
              <a:spcAft>
                <a:spcPts val="300"/>
              </a:spcAft>
            </a:pPr>
            <a:r>
              <a:rPr sz="2100" b="0" i="0">
                <a:solidFill>
                  <a:srgbClr val="DFEAF3"/>
                </a:solidFill>
                <a:latin typeface="Bitstream Charter"/>
              </a:rPr>
              <a:t>23CSE452 Business Analytics</a:t>
            </a:r>
          </a:p>
          <a:p>
            <a:pPr>
              <a:spcAft>
                <a:spcPts val="300"/>
              </a:spcAft>
            </a:pPr>
            <a:r>
              <a:rPr sz="2100" b="0" i="0">
                <a:solidFill>
                  <a:srgbClr val="DFEAF3"/>
                </a:solidFill>
                <a:latin typeface="Bitstream Charter"/>
              </a:rPr>
              <a:t>Data Analysis and Predictive Modelling</a:t>
            </a:r>
          </a:p>
          <a:p>
            <a:pPr>
              <a:spcAft>
                <a:spcPts val="300"/>
              </a:spcAft>
            </a:pPr>
            <a:r>
              <a:rPr sz="2100" b="0" i="0">
                <a:solidFill>
                  <a:srgbClr val="DFEAF3"/>
                </a:solidFill>
                <a:latin typeface="Bitstream Charter"/>
              </a:rPr>
              <a:t/>
            </a:r>
          </a:p>
          <a:p>
            <a:pPr>
              <a:spcAft>
                <a:spcPts val="300"/>
              </a:spcAft>
            </a:pPr>
            <a:r>
              <a:rPr sz="2100" b="0" i="0">
                <a:solidFill>
                  <a:srgbClr val="DFEAF3"/>
                </a:solidFill>
                <a:latin typeface="Bitstream Charter"/>
              </a:rPr>
              <a:t>Team number: </a:t>
            </a:r>
            <a:r>
              <a:rPr sz="2100" b="1" i="0">
                <a:solidFill>
                  <a:srgbClr val="FFC857"/>
                </a:solidFill>
                <a:latin typeface="Bitstream Charter"/>
              </a:rPr>
              <a:t>[enter team number]</a:t>
            </a:r>
          </a:p>
          <a:p>
            <a:pPr>
              <a:spcAft>
                <a:spcPts val="300"/>
              </a:spcAft>
            </a:pPr>
            <a:r>
              <a:rPr sz="2100" b="0" i="0">
                <a:solidFill>
                  <a:srgbClr val="DFEAF3"/>
                </a:solidFill>
                <a:latin typeface="Bitstream Charter"/>
              </a:rPr>
              <a:t>Members: </a:t>
            </a:r>
            <a:r>
              <a:rPr sz="2100" b="0" i="0">
                <a:solidFill>
                  <a:srgbClr val="DFEAF3"/>
                </a:solidFill>
                <a:latin typeface="Bitstream Charter"/>
              </a:rPr>
              <a:t>Shantharam P, Gayas Sheik, Srihitha, Pradeep Sasidharan, </a:t>
            </a:r>
            <a:r>
              <a:rPr sz="2100" b="1" i="0">
                <a:solidFill>
                  <a:srgbClr val="FFC857"/>
                </a:solidFill>
                <a:latin typeface="Bitstream Charter"/>
              </a:rPr>
              <a:t>[member 5]</a:t>
            </a:r>
          </a:p>
          <a:p>
            <a:pPr>
              <a:spcAft>
                <a:spcPts val="300"/>
              </a:spcAft>
            </a:pPr>
            <a:r>
              <a:rPr sz="2100" b="0" i="0">
                <a:solidFill>
                  <a:srgbClr val="DFEAF3"/>
                </a:solidFill>
                <a:latin typeface="Bitstream Charter"/>
              </a:rPr>
              <a:t>Register numbers: </a:t>
            </a:r>
            <a:r>
              <a:rPr sz="2100" b="1" i="0">
                <a:solidFill>
                  <a:srgbClr val="FFC857"/>
                </a:solidFill>
                <a:latin typeface="Bitstream Charter"/>
              </a:rPr>
              <a:t>[add register numbers]</a:t>
            </a:r>
          </a:p>
        </p:txBody>
      </p:sp>
      <p:sp>
        <p:nvSpPr>
          <p:cNvPr id="3" name="Rectangle 2">
            <a:extLst>
              <a:ext uri="{FF2B5EF4-FFF2-40B4-BE49-F238E27FC236}">
                <a16:creationId xmlns:a16="http://schemas.microsoft.com/office/drawing/2014/main" id="{200614CC-A0DF-4994-9DFA-DB19CBB82A7A}"/>
              </a:ext>
            </a:extLst>
          </p:cNvPr>
          <p:cNvSpPr>
            <a:spLocks noGrp="1"/>
          </p:cNvSpPr>
          <p:nvPr/>
        </p:nvSpPr>
        <p:spPr>
          <a:xfrm>
            <a:off x="723900" y="6076950"/>
            <a:ext cx="10191750" cy="428625"/>
          </a:xfrm>
          <a:prstGeom prst="rect">
            <a:avLst/>
          </a:prstGeom>
          <a:noFill/>
          <a:ln w="0">
            <a:noFill/>
          </a:ln>
        </p:spPr>
        <p:txBody>
          <a:bodyPr wrap="square">
            <a:noAutofit/>
          </a:bodyPr>
          <a:lstStyle/>
          <a:p>
            <a:pPr>
              <a:spcAft>
                <a:spcPts val="400"/>
              </a:spcAft>
              <a:defRPr sz="1500" b="0">
                <a:solidFill>
                  <a:srgbClr val="C9DCEB"/>
                </a:solidFill>
                <a:latin typeface="Bitstream Charter"/>
                <a:ea typeface="Bitstream Charter"/>
                <a:cs typeface="Bitstream Charter"/>
              </a:defRPr>
            </a:pPr>
            <a:r>
              <a:rPr sz="1500" b="0" i="0">
                <a:solidFill>
                  <a:srgbClr val="C9DCEB"/>
                </a:solidFill>
                <a:latin typeface="Bitstream Charter"/>
              </a:rPr>
              <a:t>15-minute team presentation • 20 marks</a:t>
            </a:r>
          </a:p>
        </p:txBody>
      </p:sp>
      <p:sp>
        <p:nvSpPr>
          <p:cNvPr id="4" name="Rectangle 3">
            <a:extLst>
              <a:ext uri="{FF2B5EF4-FFF2-40B4-BE49-F238E27FC236}">
                <a16:creationId xmlns:a16="http://schemas.microsoft.com/office/drawing/2014/main" id="{06E169F0-19CC-44B3-BAE4-004A1D644DC7}"/>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C9DCEB"/>
                </a:solidFill>
                <a:latin typeface="Bitstream Charter"/>
                <a:ea typeface="Bitstream Charter"/>
                <a:cs typeface="Bitstream Charter"/>
              </a:defRPr>
            </a:pPr>
            <a:r>
              <a:rPr sz="1500" b="0">
                <a:solidFill>
                  <a:srgbClr val="C9DCEB"/>
                </a:solidFill>
                <a:latin typeface="Bitstream Charter"/>
                <a:ea typeface="Bitstream Charter"/>
                <a:cs typeface="Bitstream Charter"/>
              </a:rPr>
              <a:t>01</a:t>
            </a:r>
          </a:p>
        </p:txBody>
      </p:sp>
    </p:spTree>
    <p:extLst>
      <p:ext uri="{BB962C8B-B14F-4D97-AF65-F5344CB8AC3E}">
        <p14:creationId xmlns:p14="http://schemas.microsoft.com/office/powerpoint/2010/main" val="1023190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7979FDE-990F-4C15-B33C-B2975BF50CD9}"/>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3300" b="1">
                <a:solidFill>
                  <a:srgbClr val="132C43"/>
                </a:solidFill>
                <a:latin typeface="Bitstream Charter"/>
                <a:ea typeface="Bitstream Charter"/>
                <a:cs typeface="Bitstream Charter"/>
              </a:rPr>
              <a:t>Problem Statement and Research Gap</a:t>
            </a:r>
          </a:p>
        </p:txBody>
      </p:sp>
      <p:sp>
        <p:nvSpPr>
          <p:cNvPr id="4" name="Rectangle 3">
            <a:extLst>
              <a:ext uri="{FF2B5EF4-FFF2-40B4-BE49-F238E27FC236}">
                <a16:creationId xmlns:a16="http://schemas.microsoft.com/office/drawing/2014/main" id="{C795E4D0-3C0B-473C-BB65-A65A174FB43B}"/>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Bitstream Charter"/>
                <a:ea typeface="Bitstream Charter"/>
                <a:cs typeface="Bitstream Charter"/>
              </a:rPr>
              <a:t>02</a:t>
            </a:r>
          </a:p>
        </p:txBody>
      </p:sp>
      <p:graphicFrame>
        <p:nvGraphicFramePr>
          <p:cNvPr id="6" name="Table 5"/>
          <p:cNvGraphicFramePr>
            <a:graphicFrameLocks noGrp="1"/>
          </p:cNvGraphicFramePr>
          <p:nvPr/>
        </p:nvGraphicFramePr>
        <p:xfrm>
          <a:off x="722376" y="1600200"/>
          <a:ext cx="10744200" cy="2286000"/>
        </p:xfrm>
        <a:graphic>
          <a:graphicData uri="http://schemas.openxmlformats.org/drawingml/2006/table">
            <a:tbl>
              <a:tblPr firstRow="0" bandRow="0">
                <a:tableStyleId>{2D5ABB26-0587-4C30-8999-92F81FD0307C}</a:tableStyleId>
              </a:tblPr>
              <a:tblGrid>
                <a:gridCol w="2011680"/>
                <a:gridCol w="8732520"/>
              </a:tblGrid>
              <a:tr h="457200">
                <a:tc>
                  <a:txBody>
                    <a:bodyPr wrap="square"/>
                    <a:lstStyle/>
                    <a:p>
                      <a:r>
                        <a:rPr sz="1400" b="1" i="0">
                          <a:solidFill>
                            <a:srgbClr val="132C43"/>
                          </a:solidFill>
                          <a:latin typeface="Bitstream Charter"/>
                        </a:rPr>
                        <a:t>Problem statement</a:t>
                      </a:r>
                    </a:p>
                  </a:txBody>
                  <a:tcPr marL="64008" marR="64008" marT="54864" marB="54864" anchor="t">
                    <a:lnB w="9525" cap="flat" cmpd="sng" algn="ctr">
                      <a:solidFill>
                        <a:srgbClr val="C9D6E2"/>
                      </a:solidFill>
                      <a:prstDash val="solid"/>
                    </a:lnB>
                    <a:noFill/>
                  </a:tcPr>
                </a:tc>
                <a:tc>
                  <a:txBody>
                    <a:bodyPr wrap="square"/>
                    <a:lstStyle/>
                    <a:p>
                      <a:r>
                        <a:rPr sz="1400" b="0" i="0">
                          <a:solidFill>
                            <a:srgbClr val="263C50"/>
                          </a:solidFill>
                          <a:latin typeface="Bitstream Charter"/>
                        </a:rPr>
                        <a:t>A small studio cannot tell why a Steam game collects negative reviews. An early negative review costs the rating and often the sale: Steam refunds a game within 14 days if the player has under 2 hours of playtime.</a:t>
                      </a:r>
                    </a:p>
                  </a:txBody>
                  <a:tcPr marL="64008" marR="64008" marT="54864" marB="54864" anchor="t">
                    <a:lnB w="9525" cap="flat" cmpd="sng" algn="ctr">
                      <a:solidFill>
                        <a:srgbClr val="C9D6E2"/>
                      </a:solidFill>
                      <a:prstDash val="solid"/>
                    </a:lnB>
                    <a:noFill/>
                  </a:tcPr>
                </a:tc>
              </a:tr>
              <a:tr h="457200">
                <a:tc>
                  <a:txBody>
                    <a:bodyPr wrap="square"/>
                    <a:lstStyle/>
                    <a:p>
                      <a:r>
                        <a:rPr sz="1400" b="1" i="0">
                          <a:solidFill>
                            <a:srgbClr val="132C43"/>
                          </a:solidFill>
                          <a:latin typeface="Bitstream Charter"/>
                        </a:rPr>
                        <a:t>Existing methods</a:t>
                      </a:r>
                    </a:p>
                  </a:txBody>
                  <a:tcPr marL="64008" marR="64008" marT="54864" marB="54864" anchor="t">
                    <a:lnB w="9525" cap="flat" cmpd="sng" algn="ctr">
                      <a:solidFill>
                        <a:srgbClr val="C9D6E2"/>
                      </a:solidFill>
                      <a:prstDash val="solid"/>
                    </a:lnB>
                    <a:noFill/>
                  </a:tcPr>
                </a:tc>
                <a:tc>
                  <a:txBody>
                    <a:bodyPr wrap="square"/>
                    <a:lstStyle/>
                    <a:p>
                      <a:r>
                        <a:rPr sz="1400" b="0" i="0">
                          <a:solidFill>
                            <a:srgbClr val="263C50"/>
                          </a:solidFill>
                          <a:latin typeface="Bitstream Charter"/>
                        </a:rPr>
                        <a:t>Steam’s own review labels, computed from the share of positive reviews [2]; SteamSpy owner estimates [3]; large-scale descriptive studies of Steam reviews [1].</a:t>
                      </a:r>
                    </a:p>
                  </a:txBody>
                  <a:tcPr marL="64008" marR="64008" marT="54864" marB="54864" anchor="t">
                    <a:lnB w="9525" cap="flat" cmpd="sng" algn="ctr">
                      <a:solidFill>
                        <a:srgbClr val="C9D6E2"/>
                      </a:solidFill>
                      <a:prstDash val="solid"/>
                    </a:lnB>
                    <a:noFill/>
                  </a:tcPr>
                </a:tc>
              </a:tr>
              <a:tr h="457200">
                <a:tc>
                  <a:txBody>
                    <a:bodyPr wrap="square"/>
                    <a:lstStyle/>
                    <a:p>
                      <a:r>
                        <a:rPr sz="1400" b="1" i="0">
                          <a:solidFill>
                            <a:srgbClr val="132C43"/>
                          </a:solidFill>
                          <a:latin typeface="Bitstream Charter"/>
                        </a:rPr>
                        <a:t>Research gap</a:t>
                      </a:r>
                    </a:p>
                  </a:txBody>
                  <a:tcPr marL="64008" marR="64008" marT="54864" marB="54864" anchor="t">
                    <a:lnB w="9525" cap="flat" cmpd="sng" algn="ctr">
                      <a:solidFill>
                        <a:srgbClr val="C9D6E2"/>
                      </a:solidFill>
                      <a:prstDash val="solid"/>
                    </a:lnB>
                    <a:noFill/>
                  </a:tcPr>
                </a:tc>
                <a:tc>
                  <a:txBody>
                    <a:bodyPr wrap="square"/>
                    <a:lstStyle/>
                    <a:p>
                      <a:r>
                        <a:rPr sz="1400" b="0" i="0">
                          <a:solidFill>
                            <a:srgbClr val="263C50"/>
                          </a:solidFill>
                          <a:latin typeface="Bitstream Charter"/>
                        </a:rPr>
                        <a:t>These describe games and reviews after the fact. None turns early-playtime negativity into guidance on what to fix inside the refund window, or links review risk to launch features and patch timing.</a:t>
                      </a:r>
                    </a:p>
                  </a:txBody>
                  <a:tcPr marL="64008" marR="64008" marT="54864" marB="54864" anchor="t">
                    <a:lnB w="9525" cap="flat" cmpd="sng" algn="ctr">
                      <a:solidFill>
                        <a:srgbClr val="C9D6E2"/>
                      </a:solidFill>
                      <a:prstDash val="solid"/>
                    </a:lnB>
                    <a:noFill/>
                  </a:tcPr>
                </a:tc>
              </a:tr>
              <a:tr h="457200">
                <a:tc>
                  <a:txBody>
                    <a:bodyPr wrap="square"/>
                    <a:lstStyle/>
                    <a:p>
                      <a:r>
                        <a:rPr sz="1400" b="1" i="0">
                          <a:solidFill>
                            <a:srgbClr val="132C43"/>
                          </a:solidFill>
                          <a:latin typeface="Bitstream Charter"/>
                        </a:rPr>
                        <a:t>Proposed approach</a:t>
                      </a:r>
                    </a:p>
                  </a:txBody>
                  <a:tcPr marL="64008" marR="64008" marT="54864" marB="54864" anchor="t">
                    <a:lnB w="9525" cap="flat" cmpd="sng" algn="ctr">
                      <a:solidFill>
                        <a:srgbClr val="C9D6E2"/>
                      </a:solidFill>
                      <a:prstDash val="solid"/>
                    </a:lnB>
                    <a:noFill/>
                  </a:tcPr>
                </a:tc>
                <a:tc>
                  <a:txBody>
                    <a:bodyPr wrap="square"/>
                    <a:lstStyle/>
                    <a:p>
                      <a:r>
                        <a:rPr sz="1400" b="0" i="0">
                          <a:solidFill>
                            <a:srgbClr val="263C50"/>
                          </a:solidFill>
                          <a:latin typeface="Bitstream Charter"/>
                        </a:rPr>
                        <a:t>Collect our own data (1,861 indie roguelikes, 1.65M reviews); predict negative reviews and game success tiers; quantify the refund-window effect; mine complaint themes. Review 2 adds association rules, topic models and patch impact.</a:t>
                      </a:r>
                    </a:p>
                  </a:txBody>
                  <a:tcPr marL="64008" marR="64008" marT="54864" marB="54864" anchor="t">
                    <a:lnB w="9525" cap="flat" cmpd="sng" algn="ctr">
                      <a:solidFill>
                        <a:srgbClr val="C9D6E2"/>
                      </a:solidFill>
                      <a:prstDash val="solid"/>
                    </a:lnB>
                    <a:noFill/>
                  </a:tcPr>
                </a:tc>
              </a:tr>
              <a:tr h="457200">
                <a:tc>
                  <a:txBody>
                    <a:bodyPr wrap="square"/>
                    <a:lstStyle/>
                    <a:p>
                      <a:r>
                        <a:rPr sz="1400" b="1" i="0">
                          <a:solidFill>
                            <a:srgbClr val="132C43"/>
                          </a:solidFill>
                          <a:latin typeface="Bitstream Charter"/>
                        </a:rPr>
                        <a:t>Business objective</a:t>
                      </a:r>
                    </a:p>
                  </a:txBody>
                  <a:tcPr marL="64008" marR="64008" marT="54864" marB="54864" anchor="t">
                    <a:lnB w="9525" cap="flat" cmpd="sng" algn="ctr">
                      <a:solidFill>
                        <a:srgbClr val="C9D6E2"/>
                      </a:solidFill>
                      <a:prstDash val="solid"/>
                    </a:lnB>
                    <a:noFill/>
                  </a:tcPr>
                </a:tc>
                <a:tc>
                  <a:txBody>
                    <a:bodyPr wrap="square"/>
                    <a:lstStyle/>
                    <a:p>
                      <a:r>
                        <a:rPr sz="1400" b="0" i="0">
                          <a:solidFill>
                            <a:srgbClr val="263C50"/>
                          </a:solidFill>
                          <a:latin typeface="Bitstream Charter"/>
                        </a:rPr>
                        <a:t>Evidence for a small studio or publisher on which feature combinations to back, what to fix before the refund window closes, and when to patch.</a:t>
                      </a:r>
                    </a:p>
                  </a:txBody>
                  <a:tcPr marL="64008" marR="64008" marT="54864" marB="54864" anchor="t">
                    <a:lnB w="9525" cap="flat" cmpd="sng" algn="ctr">
                      <a:solidFill>
                        <a:srgbClr val="C9D6E2"/>
                      </a:solidFill>
                      <a:prstDash val="solid"/>
                    </a:lnB>
                    <a:noFill/>
                  </a:tcPr>
                </a:tc>
              </a:tr>
            </a:tbl>
          </a:graphicData>
        </a:graphic>
      </p:graphicFrame>
      <p:sp>
        <p:nvSpPr>
          <p:cNvPr id="7" name="TextBox 6"/>
          <p:cNvSpPr txBox="1"/>
          <p:nvPr/>
        </p:nvSpPr>
        <p:spPr>
          <a:xfrm>
            <a:off x="722376" y="5577840"/>
            <a:ext cx="10241280" cy="502920"/>
          </a:xfrm>
          <a:prstGeom prst="rect">
            <a:avLst/>
          </a:prstGeom>
          <a:noFill/>
        </p:spPr>
        <p:txBody>
          <a:bodyPr wrap="square" lIns="45720" rIns="45720" tIns="27432" bIns="27432">
            <a:spAutoFit/>
          </a:bodyPr>
          <a:lstStyle/>
          <a:p>
            <a:pPr>
              <a:spcAft>
                <a:spcPts val="100"/>
              </a:spcAft>
            </a:pPr>
            <a:r>
              <a:rPr sz="950" b="0" i="0">
                <a:solidFill>
                  <a:srgbClr val="48677E"/>
                </a:solidFill>
                <a:latin typeface="Bitstream Charter"/>
              </a:rPr>
              <a:t>[1] Lin, D., Bezemer, C.-P., Zou, Y., Hassan, A. E. (2018). An empirical study of game reviews on the Steam platform. Empirical Software Engineering. doi:10.1007/s10664-018-9627-4</a:t>
            </a:r>
          </a:p>
          <a:p>
            <a:pPr>
              <a:spcAft>
                <a:spcPts val="100"/>
              </a:spcAft>
            </a:pPr>
            <a:r>
              <a:rPr sz="950" b="0" i="0">
                <a:solidFill>
                  <a:srgbClr val="48677E"/>
                </a:solidFill>
                <a:latin typeface="Bitstream Charter"/>
              </a:rPr>
              <a:t>[2] Steam user review summary labels (Valve), Overwhelmingly Positive to Overwhelmingly Negative.   [3] SteamSpy owner estimates (steamspy.com).</a:t>
            </a:r>
          </a:p>
        </p:txBody>
      </p:sp>
    </p:spTree>
    <p:extLst>
      <p:ext uri="{BB962C8B-B14F-4D97-AF65-F5344CB8AC3E}">
        <p14:creationId xmlns:p14="http://schemas.microsoft.com/office/powerpoint/2010/main" val="236373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8313BE7-85DE-47DB-B5C6-05CA44392E93}"/>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3300" b="1">
                <a:solidFill>
                  <a:srgbClr val="132C43"/>
                </a:solidFill>
                <a:latin typeface="Bitstream Charter"/>
                <a:ea typeface="Bitstream Charter"/>
                <a:cs typeface="Bitstream Charter"/>
              </a:rPr>
              <a:t>Dataset Description</a:t>
            </a:r>
          </a:p>
        </p:txBody>
      </p:sp>
      <p:sp>
        <p:nvSpPr>
          <p:cNvPr id="4" name="Rectangle 3">
            <a:extLst>
              <a:ext uri="{FF2B5EF4-FFF2-40B4-BE49-F238E27FC236}">
                <a16:creationId xmlns:a16="http://schemas.microsoft.com/office/drawing/2014/main" id="{56BAB243-233E-4B53-8209-DA8F100FAA2E}"/>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Bitstream Charter"/>
                <a:ea typeface="Bitstream Charter"/>
                <a:cs typeface="Bitstream Charter"/>
              </a:rPr>
              <a:t>03</a:t>
            </a:r>
          </a:p>
        </p:txBody>
      </p:sp>
      <p:graphicFrame>
        <p:nvGraphicFramePr>
          <p:cNvPr id="6" name="Table 5"/>
          <p:cNvGraphicFramePr>
            <a:graphicFrameLocks noGrp="1"/>
          </p:cNvGraphicFramePr>
          <p:nvPr/>
        </p:nvGraphicFramePr>
        <p:xfrm>
          <a:off x="722376" y="1554480"/>
          <a:ext cx="5989320" cy="2286000"/>
        </p:xfrm>
        <a:graphic>
          <a:graphicData uri="http://schemas.openxmlformats.org/drawingml/2006/table">
            <a:tbl>
              <a:tblPr firstRow="0" bandRow="0">
                <a:tableStyleId>{2D5ABB26-0587-4C30-8999-92F81FD0307C}</a:tableStyleId>
              </a:tblPr>
              <a:tblGrid>
                <a:gridCol w="1600200"/>
                <a:gridCol w="4389120"/>
              </a:tblGrid>
              <a:tr h="457200">
                <a:tc>
                  <a:txBody>
                    <a:bodyPr wrap="square"/>
                    <a:lstStyle/>
                    <a:p>
                      <a:r>
                        <a:rPr sz="1200" b="1" i="0">
                          <a:solidFill>
                            <a:srgbClr val="132C43"/>
                          </a:solidFill>
                          <a:latin typeface="Bitstream Charter"/>
                        </a:rPr>
                        <a:t>Source and method</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Four public Steam sources, collected with our own throttled, resumable scrapers: store search, reviews, appdetails, SteamSpy and news. No pre-built dataset.</a:t>
                      </a:r>
                    </a:p>
                  </a:txBody>
                  <a:tcPr marL="64008" marR="64008" marT="45720" marB="45720" anchor="t">
                    <a:lnB w="9525" cap="flat" cmpd="sng" algn="ctr">
                      <a:solidFill>
                        <a:srgbClr val="C9D6E2"/>
                      </a:solidFill>
                      <a:prstDash val="solid"/>
                    </a:lnB>
                    <a:noFill/>
                  </a:tcPr>
                </a:tc>
              </a:tr>
              <a:tr h="457200">
                <a:tc>
                  <a:txBody>
                    <a:bodyPr wrap="square"/>
                    <a:lstStyle/>
                    <a:p>
                      <a:r>
                        <a:rPr sz="1200" b="1" i="0">
                          <a:solidFill>
                            <a:srgbClr val="132C43"/>
                          </a:solidFill>
                          <a:latin typeface="Bitstream Charter"/>
                        </a:rPr>
                        <a:t>Size</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1,861 games × 58 columns; 1,652,999 reviews (1,648,387 after cleaning) × 34 columns; 29,918 patch and sale announcements.</a:t>
                      </a:r>
                    </a:p>
                  </a:txBody>
                  <a:tcPr marL="64008" marR="64008" marT="45720" marB="45720" anchor="t">
                    <a:lnB w="9525" cap="flat" cmpd="sng" algn="ctr">
                      <a:solidFill>
                        <a:srgbClr val="C9D6E2"/>
                      </a:solidFill>
                      <a:prstDash val="solid"/>
                    </a:lnB>
                    <a:noFill/>
                  </a:tcPr>
                </a:tc>
              </a:tr>
              <a:tr h="457200">
                <a:tc>
                  <a:txBody>
                    <a:bodyPr wrap="square"/>
                    <a:lstStyle/>
                    <a:p>
                      <a:r>
                        <a:rPr sz="1200" b="1" i="0">
                          <a:solidFill>
                            <a:srgbClr val="132C43"/>
                          </a:solidFill>
                          <a:latin typeface="Bitstream Charter"/>
                        </a:rPr>
                        <a:t>Key variables</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Review: recommend flag, playtime at review, language, text, timestamps. Game: price, tags, genres, release date, owner estimate, Steam review totals.</a:t>
                      </a:r>
                    </a:p>
                  </a:txBody>
                  <a:tcPr marL="64008" marR="64008" marT="45720" marB="45720" anchor="t">
                    <a:lnB w="9525" cap="flat" cmpd="sng" algn="ctr">
                      <a:solidFill>
                        <a:srgbClr val="C9D6E2"/>
                      </a:solidFill>
                      <a:prstDash val="solid"/>
                    </a:lnB>
                    <a:noFill/>
                  </a:tcPr>
                </a:tc>
              </a:tr>
              <a:tr h="457200">
                <a:tc>
                  <a:txBody>
                    <a:bodyPr wrap="square"/>
                    <a:lstStyle/>
                    <a:p>
                      <a:r>
                        <a:rPr sz="1200" b="1" i="0">
                          <a:solidFill>
                            <a:srgbClr val="132C43"/>
                          </a:solidFill>
                          <a:latin typeface="Bitstream Charter"/>
                        </a:rPr>
                        <a:t>Prediction target</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Review level: negative review (10.6% of the 1.57M modelled reviews). Game level: success tier Struggling / Solid / Strong from Steam’s review totals.</a:t>
                      </a:r>
                    </a:p>
                  </a:txBody>
                  <a:tcPr marL="64008" marR="64008" marT="45720" marB="45720" anchor="t">
                    <a:lnB w="9525" cap="flat" cmpd="sng" algn="ctr">
                      <a:solidFill>
                        <a:srgbClr val="C9D6E2"/>
                      </a:solidFill>
                      <a:prstDash val="solid"/>
                    </a:lnB>
                    <a:noFill/>
                  </a:tcPr>
                </a:tc>
              </a:tr>
              <a:tr h="457200">
                <a:tc>
                  <a:txBody>
                    <a:bodyPr wrap="square"/>
                    <a:lstStyle/>
                    <a:p>
                      <a:r>
                        <a:rPr sz="1200" b="1" i="0">
                          <a:solidFill>
                            <a:srgbClr val="132C43"/>
                          </a:solidFill>
                          <a:latin typeface="Bitstream Charter"/>
                        </a:rPr>
                        <a:t>Period and limits</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Collected 1–2 Oct 2026; games released 2022–2025. Snapshot values; 5 very large games capped at their newest ~15,000 reviews; 60% of reviews are not English.</a:t>
                      </a:r>
                    </a:p>
                  </a:txBody>
                  <a:tcPr marL="64008" marR="64008" marT="45720" marB="45720" anchor="t">
                    <a:lnB w="9525" cap="flat" cmpd="sng" algn="ctr">
                      <a:solidFill>
                        <a:srgbClr val="C9D6E2"/>
                      </a:solidFill>
                      <a:prstDash val="solid"/>
                    </a:lnB>
                    <a:noFill/>
                  </a:tcPr>
                </a:tc>
              </a:tr>
            </a:tbl>
          </a:graphicData>
        </a:graphic>
      </p:graphicFrame>
      <p:sp>
        <p:nvSpPr>
          <p:cNvPr id="7" name="TextBox 6"/>
          <p:cNvSpPr txBox="1"/>
          <p:nvPr/>
        </p:nvSpPr>
        <p:spPr>
          <a:xfrm>
            <a:off x="6949440" y="1536192"/>
            <a:ext cx="4572000" cy="274320"/>
          </a:xfrm>
          <a:prstGeom prst="rect">
            <a:avLst/>
          </a:prstGeom>
          <a:noFill/>
        </p:spPr>
        <p:txBody>
          <a:bodyPr wrap="square" lIns="45720" rIns="45720" tIns="27432" bIns="27432">
            <a:spAutoFit/>
          </a:bodyPr>
          <a:lstStyle/>
          <a:p>
            <a:pPr>
              <a:spcAft>
                <a:spcPts val="400"/>
              </a:spcAft>
            </a:pPr>
            <a:r>
              <a:rPr sz="1100" b="1" i="0">
                <a:solidFill>
                  <a:srgbClr val="132C43"/>
                </a:solidFill>
                <a:latin typeface="Bitstream Charter"/>
              </a:rPr>
              <a:t>Data sample: games (docs/data_documentation.md)</a:t>
            </a:r>
          </a:p>
        </p:txBody>
      </p:sp>
      <p:graphicFrame>
        <p:nvGraphicFramePr>
          <p:cNvPr id="8" name="Table 7"/>
          <p:cNvGraphicFramePr>
            <a:graphicFrameLocks noGrp="1"/>
          </p:cNvGraphicFramePr>
          <p:nvPr/>
        </p:nvGraphicFramePr>
        <p:xfrm>
          <a:off x="6949440" y="1828800"/>
          <a:ext cx="4572000" cy="1280160"/>
        </p:xfrm>
        <a:graphic>
          <a:graphicData uri="http://schemas.openxmlformats.org/drawingml/2006/table">
            <a:tbl>
              <a:tblPr firstRow="0" bandRow="0">
                <a:tableStyleId>{2D5ABB26-0587-4C30-8999-92F81FD0307C}</a:tableStyleId>
              </a:tblPr>
              <a:tblGrid>
                <a:gridCol w="1508760"/>
                <a:gridCol w="457200"/>
                <a:gridCol w="548640"/>
                <a:gridCol w="685800"/>
                <a:gridCol w="457200"/>
                <a:gridCol w="914400"/>
              </a:tblGrid>
              <a:tr h="256032">
                <a:tc>
                  <a:txBody>
                    <a:bodyPr wrap="square"/>
                    <a:lstStyle/>
                    <a:p>
                      <a:r>
                        <a:rPr sz="950" b="1" i="0">
                          <a:solidFill>
                            <a:srgbClr val="FFFFFF"/>
                          </a:solidFill>
                          <a:latin typeface="Bitstream Charter"/>
                        </a:rPr>
                        <a:t>Game</a:t>
                      </a:r>
                    </a:p>
                  </a:txBody>
                  <a:tcPr marL="64008" marR="64008" marT="32004" marB="32004" anchor="ctr">
                    <a:solidFill>
                      <a:srgbClr val="132C43"/>
                    </a:solidFill>
                  </a:tcPr>
                </a:tc>
                <a:tc>
                  <a:txBody>
                    <a:bodyPr wrap="square"/>
                    <a:lstStyle/>
                    <a:p>
                      <a:pPr algn="ctr"/>
                      <a:r>
                        <a:rPr sz="950" b="1" i="0">
                          <a:solidFill>
                            <a:srgbClr val="FFFFFF"/>
                          </a:solidFill>
                          <a:latin typeface="Bitstream Charter"/>
                        </a:rPr>
                        <a:t>Year</a:t>
                      </a:r>
                    </a:p>
                  </a:txBody>
                  <a:tcPr marL="64008" marR="64008" marT="32004" marB="32004" anchor="ctr">
                    <a:solidFill>
                      <a:srgbClr val="132C43"/>
                    </a:solidFill>
                  </a:tcPr>
                </a:tc>
                <a:tc>
                  <a:txBody>
                    <a:bodyPr wrap="square"/>
                    <a:lstStyle/>
                    <a:p>
                      <a:pPr algn="ctr"/>
                      <a:r>
                        <a:rPr sz="950" b="1" i="0">
                          <a:solidFill>
                            <a:srgbClr val="FFFFFF"/>
                          </a:solidFill>
                          <a:latin typeface="Bitstream Charter"/>
                        </a:rPr>
                        <a:t>Price</a:t>
                      </a:r>
                    </a:p>
                  </a:txBody>
                  <a:tcPr marL="64008" marR="64008" marT="32004" marB="32004" anchor="ctr">
                    <a:solidFill>
                      <a:srgbClr val="132C43"/>
                    </a:solidFill>
                  </a:tcPr>
                </a:tc>
                <a:tc>
                  <a:txBody>
                    <a:bodyPr wrap="square"/>
                    <a:lstStyle/>
                    <a:p>
                      <a:pPr algn="r"/>
                      <a:r>
                        <a:rPr sz="950" b="1" i="0">
                          <a:solidFill>
                            <a:srgbClr val="FFFFFF"/>
                          </a:solidFill>
                          <a:latin typeface="Bitstream Charter"/>
                        </a:rPr>
                        <a:t>Reviews</a:t>
                      </a:r>
                    </a:p>
                  </a:txBody>
                  <a:tcPr marL="64008" marR="64008" marT="32004" marB="32004" anchor="ctr">
                    <a:solidFill>
                      <a:srgbClr val="132C43"/>
                    </a:solidFill>
                  </a:tcPr>
                </a:tc>
                <a:tc>
                  <a:txBody>
                    <a:bodyPr wrap="square"/>
                    <a:lstStyle/>
                    <a:p>
                      <a:pPr algn="ctr"/>
                      <a:r>
                        <a:rPr sz="950" b="1" i="0">
                          <a:solidFill>
                            <a:srgbClr val="FFFFFF"/>
                          </a:solidFill>
                          <a:latin typeface="Bitstream Charter"/>
                        </a:rPr>
                        <a:t>Neg.</a:t>
                      </a:r>
                    </a:p>
                  </a:txBody>
                  <a:tcPr marL="64008" marR="64008" marT="32004" marB="32004" anchor="ctr">
                    <a:solidFill>
                      <a:srgbClr val="132C43"/>
                    </a:solidFill>
                  </a:tcPr>
                </a:tc>
                <a:tc>
                  <a:txBody>
                    <a:bodyPr wrap="square"/>
                    <a:lstStyle/>
                    <a:p>
                      <a:r>
                        <a:rPr sz="950" b="1" i="0">
                          <a:solidFill>
                            <a:srgbClr val="FFFFFF"/>
                          </a:solidFill>
                          <a:latin typeface="Bitstream Charter"/>
                        </a:rPr>
                        <a:t>Tier</a:t>
                      </a:r>
                    </a:p>
                  </a:txBody>
                  <a:tcPr marL="64008" marR="64008" marT="32004" marB="32004" anchor="ctr">
                    <a:solidFill>
                      <a:srgbClr val="132C43"/>
                    </a:solidFill>
                  </a:tcPr>
                </a:tc>
              </a:tr>
              <a:tr h="256032">
                <a:tc>
                  <a:txBody>
                    <a:bodyPr wrap="square"/>
                    <a:lstStyle/>
                    <a:p>
                      <a:r>
                        <a:rPr sz="950" b="0" i="0">
                          <a:solidFill>
                            <a:srgbClr val="263C50"/>
                          </a:solidFill>
                          <a:latin typeface="Bitstream Charter"/>
                        </a:rPr>
                        <a:t>Escape of Pig</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950" b="0" i="0">
                          <a:solidFill>
                            <a:srgbClr val="263C50"/>
                          </a:solidFill>
                          <a:latin typeface="Bitstream Charter"/>
                        </a:rPr>
                        <a:t>2023</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950" b="0" i="0">
                          <a:solidFill>
                            <a:srgbClr val="263C50"/>
                          </a:solidFill>
                          <a:latin typeface="Bitstream Charter"/>
                        </a:rPr>
                        <a:t>$1.99</a:t>
                      </a:r>
                    </a:p>
                  </a:txBody>
                  <a:tcPr marL="64008" marR="64008" marT="32004" marB="32004" anchor="ctr">
                    <a:lnB w="9525" cap="flat" cmpd="sng" algn="ctr">
                      <a:solidFill>
                        <a:srgbClr val="C9D6E2"/>
                      </a:solidFill>
                      <a:prstDash val="solid"/>
                    </a:lnB>
                    <a:solidFill>
                      <a:srgbClr val="FFFFFF"/>
                    </a:solidFill>
                  </a:tcPr>
                </a:tc>
                <a:tc>
                  <a:txBody>
                    <a:bodyPr wrap="square"/>
                    <a:lstStyle/>
                    <a:p>
                      <a:pPr algn="r"/>
                      <a:r>
                        <a:rPr sz="950" b="0" i="0">
                          <a:solidFill>
                            <a:srgbClr val="263C50"/>
                          </a:solidFill>
                          <a:latin typeface="Bitstream Charter"/>
                        </a:rPr>
                        <a:t>15</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950" b="0" i="0">
                          <a:solidFill>
                            <a:srgbClr val="263C50"/>
                          </a:solidFill>
                          <a:latin typeface="Bitstream Charter"/>
                        </a:rPr>
                        <a:t>27%</a:t>
                      </a:r>
                    </a:p>
                  </a:txBody>
                  <a:tcPr marL="64008" marR="64008" marT="32004" marB="32004" anchor="ctr">
                    <a:lnB w="9525" cap="flat" cmpd="sng" algn="ctr">
                      <a:solidFill>
                        <a:srgbClr val="C9D6E2"/>
                      </a:solidFill>
                      <a:prstDash val="solid"/>
                    </a:lnB>
                    <a:solidFill>
                      <a:srgbClr val="FFFFFF"/>
                    </a:solidFill>
                  </a:tcPr>
                </a:tc>
                <a:tc>
                  <a:txBody>
                    <a:bodyPr wrap="square"/>
                    <a:lstStyle/>
                    <a:p>
                      <a:r>
                        <a:rPr sz="950" b="0" i="0">
                          <a:solidFill>
                            <a:srgbClr val="263C50"/>
                          </a:solidFill>
                          <a:latin typeface="Bitstream Charter"/>
                        </a:rPr>
                        <a:t>n/a</a:t>
                      </a:r>
                    </a:p>
                  </a:txBody>
                  <a:tcPr marL="64008" marR="64008" marT="32004" marB="32004" anchor="ctr">
                    <a:lnB w="9525" cap="flat" cmpd="sng" algn="ctr">
                      <a:solidFill>
                        <a:srgbClr val="C9D6E2"/>
                      </a:solidFill>
                      <a:prstDash val="solid"/>
                    </a:lnB>
                    <a:solidFill>
                      <a:srgbClr val="FFFFFF"/>
                    </a:solidFill>
                  </a:tcPr>
                </a:tc>
              </a:tr>
              <a:tr h="256032">
                <a:tc>
                  <a:txBody>
                    <a:bodyPr wrap="square"/>
                    <a:lstStyle/>
                    <a:p>
                      <a:r>
                        <a:rPr sz="950" b="0" i="0">
                          <a:solidFill>
                            <a:srgbClr val="263C50"/>
                          </a:solidFill>
                          <a:latin typeface="Bitstream Charter"/>
                        </a:rPr>
                        <a:t>Moonlight Chess</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950" b="0" i="0">
                          <a:solidFill>
                            <a:srgbClr val="263C50"/>
                          </a:solidFill>
                          <a:latin typeface="Bitstream Charter"/>
                        </a:rPr>
                        <a:t>2025</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950" b="0" i="0">
                          <a:solidFill>
                            <a:srgbClr val="263C50"/>
                          </a:solidFill>
                          <a:latin typeface="Bitstream Charter"/>
                        </a:rPr>
                        <a:t>$7.99</a:t>
                      </a:r>
                    </a:p>
                  </a:txBody>
                  <a:tcPr marL="64008" marR="64008" marT="32004" marB="32004" anchor="ctr">
                    <a:lnB w="9525" cap="flat" cmpd="sng" algn="ctr">
                      <a:solidFill>
                        <a:srgbClr val="C9D6E2"/>
                      </a:solidFill>
                      <a:prstDash val="solid"/>
                    </a:lnB>
                    <a:solidFill>
                      <a:srgbClr val="EAF0F6"/>
                    </a:solidFill>
                  </a:tcPr>
                </a:tc>
                <a:tc>
                  <a:txBody>
                    <a:bodyPr wrap="square"/>
                    <a:lstStyle/>
                    <a:p>
                      <a:pPr algn="r"/>
                      <a:r>
                        <a:rPr sz="950" b="0" i="0">
                          <a:solidFill>
                            <a:srgbClr val="263C50"/>
                          </a:solidFill>
                          <a:latin typeface="Bitstream Charter"/>
                        </a:rPr>
                        <a:t>50</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950" b="0" i="0">
                          <a:solidFill>
                            <a:srgbClr val="263C50"/>
                          </a:solidFill>
                          <a:latin typeface="Bitstream Charter"/>
                        </a:rPr>
                        <a:t>16%</a:t>
                      </a:r>
                    </a:p>
                  </a:txBody>
                  <a:tcPr marL="64008" marR="64008" marT="32004" marB="32004" anchor="ctr">
                    <a:lnB w="9525" cap="flat" cmpd="sng" algn="ctr">
                      <a:solidFill>
                        <a:srgbClr val="C9D6E2"/>
                      </a:solidFill>
                      <a:prstDash val="solid"/>
                    </a:lnB>
                    <a:solidFill>
                      <a:srgbClr val="EAF0F6"/>
                    </a:solidFill>
                  </a:tcPr>
                </a:tc>
                <a:tc>
                  <a:txBody>
                    <a:bodyPr wrap="square"/>
                    <a:lstStyle/>
                    <a:p>
                      <a:r>
                        <a:rPr sz="950" b="0" i="0">
                          <a:solidFill>
                            <a:srgbClr val="263C50"/>
                          </a:solidFill>
                          <a:latin typeface="Bitstream Charter"/>
                        </a:rPr>
                        <a:t>Solid</a:t>
                      </a:r>
                    </a:p>
                  </a:txBody>
                  <a:tcPr marL="64008" marR="64008" marT="32004" marB="32004" anchor="ctr">
                    <a:lnB w="9525" cap="flat" cmpd="sng" algn="ctr">
                      <a:solidFill>
                        <a:srgbClr val="C9D6E2"/>
                      </a:solidFill>
                      <a:prstDash val="solid"/>
                    </a:lnB>
                    <a:solidFill>
                      <a:srgbClr val="EAF0F6"/>
                    </a:solidFill>
                  </a:tcPr>
                </a:tc>
              </a:tr>
              <a:tr h="256032">
                <a:tc>
                  <a:txBody>
                    <a:bodyPr wrap="square"/>
                    <a:lstStyle/>
                    <a:p>
                      <a:r>
                        <a:rPr sz="950" b="0" i="0">
                          <a:solidFill>
                            <a:srgbClr val="263C50"/>
                          </a:solidFill>
                          <a:latin typeface="Bitstream Charter"/>
                        </a:rPr>
                        <a:t>Pizza Hero</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950" b="0" i="0">
                          <a:solidFill>
                            <a:srgbClr val="263C50"/>
                          </a:solidFill>
                          <a:latin typeface="Bitstream Charter"/>
                        </a:rPr>
                        <a:t>2024</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950" b="0" i="0">
                          <a:solidFill>
                            <a:srgbClr val="263C50"/>
                          </a:solidFill>
                          <a:latin typeface="Bitstream Charter"/>
                        </a:rPr>
                        <a:t>$1.99</a:t>
                      </a:r>
                    </a:p>
                  </a:txBody>
                  <a:tcPr marL="64008" marR="64008" marT="32004" marB="32004" anchor="ctr">
                    <a:lnB w="9525" cap="flat" cmpd="sng" algn="ctr">
                      <a:solidFill>
                        <a:srgbClr val="C9D6E2"/>
                      </a:solidFill>
                      <a:prstDash val="solid"/>
                    </a:lnB>
                    <a:solidFill>
                      <a:srgbClr val="FFFFFF"/>
                    </a:solidFill>
                  </a:tcPr>
                </a:tc>
                <a:tc>
                  <a:txBody>
                    <a:bodyPr wrap="square"/>
                    <a:lstStyle/>
                    <a:p>
                      <a:pPr algn="r"/>
                      <a:r>
                        <a:rPr sz="950" b="0" i="0">
                          <a:solidFill>
                            <a:srgbClr val="263C50"/>
                          </a:solidFill>
                          <a:latin typeface="Bitstream Charter"/>
                        </a:rPr>
                        <a:t>980</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950" b="0" i="0">
                          <a:solidFill>
                            <a:srgbClr val="263C50"/>
                          </a:solidFill>
                          <a:latin typeface="Bitstream Charter"/>
                        </a:rPr>
                        <a:t>11%</a:t>
                      </a:r>
                    </a:p>
                  </a:txBody>
                  <a:tcPr marL="64008" marR="64008" marT="32004" marB="32004" anchor="ctr">
                    <a:lnB w="9525" cap="flat" cmpd="sng" algn="ctr">
                      <a:solidFill>
                        <a:srgbClr val="C9D6E2"/>
                      </a:solidFill>
                      <a:prstDash val="solid"/>
                    </a:lnB>
                    <a:solidFill>
                      <a:srgbClr val="FFFFFF"/>
                    </a:solidFill>
                  </a:tcPr>
                </a:tc>
                <a:tc>
                  <a:txBody>
                    <a:bodyPr wrap="square"/>
                    <a:lstStyle/>
                    <a:p>
                      <a:r>
                        <a:rPr sz="950" b="0" i="0">
                          <a:solidFill>
                            <a:srgbClr val="263C50"/>
                          </a:solidFill>
                          <a:latin typeface="Bitstream Charter"/>
                        </a:rPr>
                        <a:t>Solid</a:t>
                      </a:r>
                    </a:p>
                  </a:txBody>
                  <a:tcPr marL="64008" marR="64008" marT="32004" marB="32004" anchor="ctr">
                    <a:lnB w="9525" cap="flat" cmpd="sng" algn="ctr">
                      <a:solidFill>
                        <a:srgbClr val="C9D6E2"/>
                      </a:solidFill>
                      <a:prstDash val="solid"/>
                    </a:lnB>
                    <a:solidFill>
                      <a:srgbClr val="FFFFFF"/>
                    </a:solidFill>
                  </a:tcPr>
                </a:tc>
              </a:tr>
              <a:tr h="256032">
                <a:tc>
                  <a:txBody>
                    <a:bodyPr wrap="square"/>
                    <a:lstStyle/>
                    <a:p>
                      <a:r>
                        <a:rPr sz="950" b="0" i="0">
                          <a:solidFill>
                            <a:srgbClr val="263C50"/>
                          </a:solidFill>
                          <a:latin typeface="Bitstream Charter"/>
                        </a:rPr>
                        <a:t>Ravenswatch</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950" b="0" i="0">
                          <a:solidFill>
                            <a:srgbClr val="263C50"/>
                          </a:solidFill>
                          <a:latin typeface="Bitstream Charter"/>
                        </a:rPr>
                        <a:t>2024</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950" b="0" i="0">
                          <a:solidFill>
                            <a:srgbClr val="263C50"/>
                          </a:solidFill>
                          <a:latin typeface="Bitstream Charter"/>
                        </a:rPr>
                        <a:t>$24.99</a:t>
                      </a:r>
                    </a:p>
                  </a:txBody>
                  <a:tcPr marL="64008" marR="64008" marT="32004" marB="32004" anchor="ctr">
                    <a:lnB w="9525" cap="flat" cmpd="sng" algn="ctr">
                      <a:solidFill>
                        <a:srgbClr val="C9D6E2"/>
                      </a:solidFill>
                      <a:prstDash val="solid"/>
                    </a:lnB>
                    <a:solidFill>
                      <a:srgbClr val="EAF0F6"/>
                    </a:solidFill>
                  </a:tcPr>
                </a:tc>
                <a:tc>
                  <a:txBody>
                    <a:bodyPr wrap="square"/>
                    <a:lstStyle/>
                    <a:p>
                      <a:pPr algn="r"/>
                      <a:r>
                        <a:rPr sz="950" b="0" i="0">
                          <a:solidFill>
                            <a:srgbClr val="263C50"/>
                          </a:solidFill>
                          <a:latin typeface="Bitstream Charter"/>
                        </a:rPr>
                        <a:t>22,834</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950" b="0" i="0">
                          <a:solidFill>
                            <a:srgbClr val="263C50"/>
                          </a:solidFill>
                          <a:latin typeface="Bitstream Charter"/>
                        </a:rPr>
                        <a:t>20%</a:t>
                      </a:r>
                    </a:p>
                  </a:txBody>
                  <a:tcPr marL="64008" marR="64008" marT="32004" marB="32004" anchor="ctr">
                    <a:lnB w="9525" cap="flat" cmpd="sng" algn="ctr">
                      <a:solidFill>
                        <a:srgbClr val="C9D6E2"/>
                      </a:solidFill>
                      <a:prstDash val="solid"/>
                    </a:lnB>
                    <a:solidFill>
                      <a:srgbClr val="EAF0F6"/>
                    </a:solidFill>
                  </a:tcPr>
                </a:tc>
                <a:tc>
                  <a:txBody>
                    <a:bodyPr wrap="square"/>
                    <a:lstStyle/>
                    <a:p>
                      <a:r>
                        <a:rPr sz="950" b="0" i="0">
                          <a:solidFill>
                            <a:srgbClr val="263C50"/>
                          </a:solidFill>
                          <a:latin typeface="Bitstream Charter"/>
                        </a:rPr>
                        <a:t>Solid</a:t>
                      </a:r>
                    </a:p>
                  </a:txBody>
                  <a:tcPr marL="64008" marR="64008" marT="32004" marB="32004" anchor="ctr">
                    <a:lnB w="9525" cap="flat" cmpd="sng" algn="ctr">
                      <a:solidFill>
                        <a:srgbClr val="C9D6E2"/>
                      </a:solidFill>
                      <a:prstDash val="solid"/>
                    </a:lnB>
                    <a:solidFill>
                      <a:srgbClr val="EAF0F6"/>
                    </a:solidFill>
                  </a:tcPr>
                </a:tc>
              </a:tr>
            </a:tbl>
          </a:graphicData>
        </a:graphic>
      </p:graphicFrame>
      <p:sp>
        <p:nvSpPr>
          <p:cNvPr id="9" name="TextBox 8"/>
          <p:cNvSpPr txBox="1"/>
          <p:nvPr/>
        </p:nvSpPr>
        <p:spPr>
          <a:xfrm>
            <a:off x="6949440" y="3200400"/>
            <a:ext cx="4572000" cy="274320"/>
          </a:xfrm>
          <a:prstGeom prst="rect">
            <a:avLst/>
          </a:prstGeom>
          <a:noFill/>
        </p:spPr>
        <p:txBody>
          <a:bodyPr wrap="square" lIns="45720" rIns="45720" tIns="27432" bIns="27432">
            <a:spAutoFit/>
          </a:bodyPr>
          <a:lstStyle/>
          <a:p>
            <a:pPr>
              <a:spcAft>
                <a:spcPts val="400"/>
              </a:spcAft>
            </a:pPr>
            <a:r>
              <a:rPr sz="1100" b="1" i="0">
                <a:solidFill>
                  <a:srgbClr val="132C43"/>
                </a:solidFill>
                <a:latin typeface="Bitstream Charter"/>
              </a:rPr>
              <a:t>Data sample: reviews (text and ids left out)</a:t>
            </a:r>
          </a:p>
        </p:txBody>
      </p:sp>
      <p:graphicFrame>
        <p:nvGraphicFramePr>
          <p:cNvPr id="10" name="Table 9"/>
          <p:cNvGraphicFramePr>
            <a:graphicFrameLocks noGrp="1"/>
          </p:cNvGraphicFramePr>
          <p:nvPr/>
        </p:nvGraphicFramePr>
        <p:xfrm>
          <a:off x="6949440" y="3493008"/>
          <a:ext cx="4572000" cy="1024128"/>
        </p:xfrm>
        <a:graphic>
          <a:graphicData uri="http://schemas.openxmlformats.org/drawingml/2006/table">
            <a:tbl>
              <a:tblPr firstRow="0" bandRow="0">
                <a:tableStyleId>{2D5ABB26-0587-4C30-8999-92F81FD0307C}</a:tableStyleId>
              </a:tblPr>
              <a:tblGrid>
                <a:gridCol w="1005840"/>
                <a:gridCol w="868680"/>
                <a:gridCol w="868680"/>
                <a:gridCol w="731520"/>
                <a:gridCol w="1097280"/>
              </a:tblGrid>
              <a:tr h="256032">
                <a:tc>
                  <a:txBody>
                    <a:bodyPr wrap="square"/>
                    <a:lstStyle/>
                    <a:p>
                      <a:r>
                        <a:rPr sz="950" b="1" i="0">
                          <a:solidFill>
                            <a:srgbClr val="FFFFFF"/>
                          </a:solidFill>
                          <a:latin typeface="Bitstream Charter"/>
                        </a:rPr>
                        <a:t>Language</a:t>
                      </a:r>
                    </a:p>
                  </a:txBody>
                  <a:tcPr marL="64008" marR="64008" marT="32004" marB="32004" anchor="ctr">
                    <a:solidFill>
                      <a:srgbClr val="132C43"/>
                    </a:solidFill>
                  </a:tcPr>
                </a:tc>
                <a:tc>
                  <a:txBody>
                    <a:bodyPr wrap="square"/>
                    <a:lstStyle/>
                    <a:p>
                      <a:pPr algn="ctr"/>
                      <a:r>
                        <a:rPr sz="950" b="1" i="0">
                          <a:solidFill>
                            <a:srgbClr val="FFFFFF"/>
                          </a:solidFill>
                          <a:latin typeface="Bitstream Charter"/>
                        </a:rPr>
                        <a:t>Playtime</a:t>
                      </a:r>
                    </a:p>
                  </a:txBody>
                  <a:tcPr marL="64008" marR="64008" marT="32004" marB="32004" anchor="ctr">
                    <a:solidFill>
                      <a:srgbClr val="132C43"/>
                    </a:solidFill>
                  </a:tcPr>
                </a:tc>
                <a:tc>
                  <a:txBody>
                    <a:bodyPr wrap="square"/>
                    <a:lstStyle/>
                    <a:p>
                      <a:pPr algn="ctr"/>
                      <a:r>
                        <a:rPr sz="950" b="1" i="0">
                          <a:solidFill>
                            <a:srgbClr val="FFFFFF"/>
                          </a:solidFill>
                          <a:latin typeface="Bitstream Charter"/>
                        </a:rPr>
                        <a:t>In window</a:t>
                      </a:r>
                    </a:p>
                  </a:txBody>
                  <a:tcPr marL="64008" marR="64008" marT="32004" marB="32004" anchor="ctr">
                    <a:solidFill>
                      <a:srgbClr val="132C43"/>
                    </a:solidFill>
                  </a:tcPr>
                </a:tc>
                <a:tc>
                  <a:txBody>
                    <a:bodyPr wrap="square"/>
                    <a:lstStyle/>
                    <a:p>
                      <a:pPr algn="r"/>
                      <a:r>
                        <a:rPr sz="950" b="1" i="0">
                          <a:solidFill>
                            <a:srgbClr val="FFFFFF"/>
                          </a:solidFill>
                          <a:latin typeface="Bitstream Charter"/>
                        </a:rPr>
                        <a:t>Chars</a:t>
                      </a:r>
                    </a:p>
                  </a:txBody>
                  <a:tcPr marL="64008" marR="64008" marT="32004" marB="32004" anchor="ctr">
                    <a:solidFill>
                      <a:srgbClr val="132C43"/>
                    </a:solidFill>
                  </a:tcPr>
                </a:tc>
                <a:tc>
                  <a:txBody>
                    <a:bodyPr wrap="square"/>
                    <a:lstStyle/>
                    <a:p>
                      <a:r>
                        <a:rPr sz="950" b="1" i="0">
                          <a:solidFill>
                            <a:srgbClr val="FFFFFF"/>
                          </a:solidFill>
                          <a:latin typeface="Bitstream Charter"/>
                        </a:rPr>
                        <a:t>Verdict</a:t>
                      </a:r>
                    </a:p>
                  </a:txBody>
                  <a:tcPr marL="64008" marR="64008" marT="32004" marB="32004" anchor="ctr">
                    <a:solidFill>
                      <a:srgbClr val="132C43"/>
                    </a:solidFill>
                  </a:tcPr>
                </a:tc>
              </a:tr>
              <a:tr h="256032">
                <a:tc>
                  <a:txBody>
                    <a:bodyPr wrap="square"/>
                    <a:lstStyle/>
                    <a:p>
                      <a:r>
                        <a:rPr sz="950" b="0" i="0">
                          <a:solidFill>
                            <a:srgbClr val="263C50"/>
                          </a:solidFill>
                          <a:latin typeface="Bitstream Charter"/>
                        </a:rPr>
                        <a:t>english</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950" b="0" i="0">
                          <a:solidFill>
                            <a:srgbClr val="263C50"/>
                          </a:solidFill>
                          <a:latin typeface="Bitstream Charter"/>
                        </a:rPr>
                        <a:t>&lt;2 h</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950" b="0" i="0">
                          <a:solidFill>
                            <a:srgbClr val="263C50"/>
                          </a:solidFill>
                          <a:latin typeface="Bitstream Charter"/>
                        </a:rPr>
                        <a:t>yes</a:t>
                      </a:r>
                    </a:p>
                  </a:txBody>
                  <a:tcPr marL="64008" marR="64008" marT="32004" marB="32004" anchor="ctr">
                    <a:lnB w="9525" cap="flat" cmpd="sng" algn="ctr">
                      <a:solidFill>
                        <a:srgbClr val="C9D6E2"/>
                      </a:solidFill>
                      <a:prstDash val="solid"/>
                    </a:lnB>
                    <a:solidFill>
                      <a:srgbClr val="FFFFFF"/>
                    </a:solidFill>
                  </a:tcPr>
                </a:tc>
                <a:tc>
                  <a:txBody>
                    <a:bodyPr wrap="square"/>
                    <a:lstStyle/>
                    <a:p>
                      <a:pPr algn="r"/>
                      <a:r>
                        <a:rPr sz="950" b="0" i="0">
                          <a:solidFill>
                            <a:srgbClr val="263C50"/>
                          </a:solidFill>
                          <a:latin typeface="Bitstream Charter"/>
                        </a:rPr>
                        <a:t>1,584</a:t>
                      </a:r>
                    </a:p>
                  </a:txBody>
                  <a:tcPr marL="64008" marR="64008" marT="32004" marB="32004" anchor="ctr">
                    <a:lnB w="9525" cap="flat" cmpd="sng" algn="ctr">
                      <a:solidFill>
                        <a:srgbClr val="C9D6E2"/>
                      </a:solidFill>
                      <a:prstDash val="solid"/>
                    </a:lnB>
                    <a:solidFill>
                      <a:srgbClr val="FFFFFF"/>
                    </a:solidFill>
                  </a:tcPr>
                </a:tc>
                <a:tc>
                  <a:txBody>
                    <a:bodyPr wrap="square"/>
                    <a:lstStyle/>
                    <a:p>
                      <a:r>
                        <a:rPr sz="950" b="0" i="0">
                          <a:solidFill>
                            <a:srgbClr val="263C50"/>
                          </a:solidFill>
                          <a:latin typeface="Bitstream Charter"/>
                        </a:rPr>
                        <a:t>negative</a:t>
                      </a:r>
                    </a:p>
                  </a:txBody>
                  <a:tcPr marL="64008" marR="64008" marT="32004" marB="32004" anchor="ctr">
                    <a:lnB w="9525" cap="flat" cmpd="sng" algn="ctr">
                      <a:solidFill>
                        <a:srgbClr val="C9D6E2"/>
                      </a:solidFill>
                      <a:prstDash val="solid"/>
                    </a:lnB>
                    <a:solidFill>
                      <a:srgbClr val="FFFFFF"/>
                    </a:solidFill>
                  </a:tcPr>
                </a:tc>
              </a:tr>
              <a:tr h="256032">
                <a:tc>
                  <a:txBody>
                    <a:bodyPr wrap="square"/>
                    <a:lstStyle/>
                    <a:p>
                      <a:r>
                        <a:rPr sz="950" b="0" i="0">
                          <a:solidFill>
                            <a:srgbClr val="263C50"/>
                          </a:solidFill>
                          <a:latin typeface="Bitstream Charter"/>
                        </a:rPr>
                        <a:t>english</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950" b="0" i="0">
                          <a:solidFill>
                            <a:srgbClr val="263C50"/>
                          </a:solidFill>
                          <a:latin typeface="Bitstream Charter"/>
                        </a:rPr>
                        <a:t>10–50 h</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950" b="0" i="0">
                          <a:solidFill>
                            <a:srgbClr val="263C50"/>
                          </a:solidFill>
                          <a:latin typeface="Bitstream Charter"/>
                        </a:rPr>
                        <a:t>no</a:t>
                      </a:r>
                    </a:p>
                  </a:txBody>
                  <a:tcPr marL="64008" marR="64008" marT="32004" marB="32004" anchor="ctr">
                    <a:lnB w="9525" cap="flat" cmpd="sng" algn="ctr">
                      <a:solidFill>
                        <a:srgbClr val="C9D6E2"/>
                      </a:solidFill>
                      <a:prstDash val="solid"/>
                    </a:lnB>
                    <a:solidFill>
                      <a:srgbClr val="EAF0F6"/>
                    </a:solidFill>
                  </a:tcPr>
                </a:tc>
                <a:tc>
                  <a:txBody>
                    <a:bodyPr wrap="square"/>
                    <a:lstStyle/>
                    <a:p>
                      <a:pPr algn="r"/>
                      <a:r>
                        <a:rPr sz="950" b="0" i="0">
                          <a:solidFill>
                            <a:srgbClr val="263C50"/>
                          </a:solidFill>
                          <a:latin typeface="Bitstream Charter"/>
                        </a:rPr>
                        <a:t>239</a:t>
                      </a:r>
                    </a:p>
                  </a:txBody>
                  <a:tcPr marL="64008" marR="64008" marT="32004" marB="32004" anchor="ctr">
                    <a:lnB w="9525" cap="flat" cmpd="sng" algn="ctr">
                      <a:solidFill>
                        <a:srgbClr val="C9D6E2"/>
                      </a:solidFill>
                      <a:prstDash val="solid"/>
                    </a:lnB>
                    <a:solidFill>
                      <a:srgbClr val="EAF0F6"/>
                    </a:solidFill>
                  </a:tcPr>
                </a:tc>
                <a:tc>
                  <a:txBody>
                    <a:bodyPr wrap="square"/>
                    <a:lstStyle/>
                    <a:p>
                      <a:r>
                        <a:rPr sz="950" b="0" i="0">
                          <a:solidFill>
                            <a:srgbClr val="263C50"/>
                          </a:solidFill>
                          <a:latin typeface="Bitstream Charter"/>
                        </a:rPr>
                        <a:t>positive</a:t>
                      </a:r>
                    </a:p>
                  </a:txBody>
                  <a:tcPr marL="64008" marR="64008" marT="32004" marB="32004" anchor="ctr">
                    <a:lnB w="9525" cap="flat" cmpd="sng" algn="ctr">
                      <a:solidFill>
                        <a:srgbClr val="C9D6E2"/>
                      </a:solidFill>
                      <a:prstDash val="solid"/>
                    </a:lnB>
                    <a:solidFill>
                      <a:srgbClr val="EAF0F6"/>
                    </a:solidFill>
                  </a:tcPr>
                </a:tc>
              </a:tr>
              <a:tr h="256032">
                <a:tc>
                  <a:txBody>
                    <a:bodyPr wrap="square"/>
                    <a:lstStyle/>
                    <a:p>
                      <a:r>
                        <a:rPr sz="950" b="0" i="0">
                          <a:solidFill>
                            <a:srgbClr val="263C50"/>
                          </a:solidFill>
                          <a:latin typeface="Bitstream Charter"/>
                        </a:rPr>
                        <a:t>schinese</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950" b="0" i="0">
                          <a:solidFill>
                            <a:srgbClr val="263C50"/>
                          </a:solidFill>
                          <a:latin typeface="Bitstream Charter"/>
                        </a:rPr>
                        <a:t>10–50 h</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950" b="0" i="0">
                          <a:solidFill>
                            <a:srgbClr val="263C50"/>
                          </a:solidFill>
                          <a:latin typeface="Bitstream Charter"/>
                        </a:rPr>
                        <a:t>no</a:t>
                      </a:r>
                    </a:p>
                  </a:txBody>
                  <a:tcPr marL="64008" marR="64008" marT="32004" marB="32004" anchor="ctr">
                    <a:lnB w="9525" cap="flat" cmpd="sng" algn="ctr">
                      <a:solidFill>
                        <a:srgbClr val="C9D6E2"/>
                      </a:solidFill>
                      <a:prstDash val="solid"/>
                    </a:lnB>
                    <a:solidFill>
                      <a:srgbClr val="FFFFFF"/>
                    </a:solidFill>
                  </a:tcPr>
                </a:tc>
                <a:tc>
                  <a:txBody>
                    <a:bodyPr wrap="square"/>
                    <a:lstStyle/>
                    <a:p>
                      <a:pPr algn="r"/>
                      <a:r>
                        <a:rPr sz="950" b="0" i="0">
                          <a:solidFill>
                            <a:srgbClr val="263C50"/>
                          </a:solidFill>
                          <a:latin typeface="Bitstream Charter"/>
                        </a:rPr>
                        <a:t>4,075</a:t>
                      </a:r>
                    </a:p>
                  </a:txBody>
                  <a:tcPr marL="64008" marR="64008" marT="32004" marB="32004" anchor="ctr">
                    <a:lnB w="9525" cap="flat" cmpd="sng" algn="ctr">
                      <a:solidFill>
                        <a:srgbClr val="C9D6E2"/>
                      </a:solidFill>
                      <a:prstDash val="solid"/>
                    </a:lnB>
                    <a:solidFill>
                      <a:srgbClr val="FFFFFF"/>
                    </a:solidFill>
                  </a:tcPr>
                </a:tc>
                <a:tc>
                  <a:txBody>
                    <a:bodyPr wrap="square"/>
                    <a:lstStyle/>
                    <a:p>
                      <a:r>
                        <a:rPr sz="950" b="0" i="0">
                          <a:solidFill>
                            <a:srgbClr val="263C50"/>
                          </a:solidFill>
                          <a:latin typeface="Bitstream Charter"/>
                        </a:rPr>
                        <a:t>negative</a:t>
                      </a:r>
                    </a:p>
                  </a:txBody>
                  <a:tcPr marL="64008" marR="64008" marT="32004" marB="32004" anchor="ctr">
                    <a:lnB w="9525" cap="flat" cmpd="sng" algn="ctr">
                      <a:solidFill>
                        <a:srgbClr val="C9D6E2"/>
                      </a:solidFill>
                      <a:prstDash val="solid"/>
                    </a:lnB>
                    <a:solidFill>
                      <a:srgbClr val="FFFFFF"/>
                    </a:solidFill>
                  </a:tcPr>
                </a:tc>
              </a:tr>
            </a:tbl>
          </a:graphicData>
        </a:graphic>
      </p:graphicFrame>
      <p:sp>
        <p:nvSpPr>
          <p:cNvPr id="11" name="TextBox 10"/>
          <p:cNvSpPr txBox="1"/>
          <p:nvPr/>
        </p:nvSpPr>
        <p:spPr>
          <a:xfrm>
            <a:off x="6949440" y="4709160"/>
            <a:ext cx="1463040" cy="548640"/>
          </a:xfrm>
          <a:prstGeom prst="rect">
            <a:avLst/>
          </a:prstGeom>
          <a:noFill/>
        </p:spPr>
        <p:txBody>
          <a:bodyPr wrap="square" lIns="45720" rIns="45720" tIns="27432" bIns="27432">
            <a:spAutoFit/>
          </a:bodyPr>
          <a:lstStyle/>
          <a:p>
            <a:pPr>
              <a:spcAft>
                <a:spcPts val="0"/>
              </a:spcAft>
            </a:pPr>
            <a:r>
              <a:rPr sz="2600" b="1" i="0">
                <a:solidFill>
                  <a:srgbClr val="132C43"/>
                </a:solidFill>
                <a:latin typeface="Bitstream Charter"/>
              </a:rPr>
              <a:t>1,861</a:t>
            </a:r>
          </a:p>
        </p:txBody>
      </p:sp>
      <p:sp>
        <p:nvSpPr>
          <p:cNvPr id="12" name="TextBox 11"/>
          <p:cNvSpPr txBox="1"/>
          <p:nvPr/>
        </p:nvSpPr>
        <p:spPr>
          <a:xfrm>
            <a:off x="6949440" y="5212080"/>
            <a:ext cx="1463040" cy="274320"/>
          </a:xfrm>
          <a:prstGeom prst="rect">
            <a:avLst/>
          </a:prstGeom>
          <a:noFill/>
        </p:spPr>
        <p:txBody>
          <a:bodyPr wrap="square" lIns="45720" rIns="45720" tIns="27432" bIns="27432">
            <a:spAutoFit/>
          </a:bodyPr>
          <a:lstStyle/>
          <a:p>
            <a:pPr>
              <a:spcAft>
                <a:spcPts val="400"/>
              </a:spcAft>
            </a:pPr>
            <a:r>
              <a:rPr sz="1100" b="0" i="0">
                <a:solidFill>
                  <a:srgbClr val="48677E"/>
                </a:solidFill>
                <a:latin typeface="Bitstream Charter"/>
              </a:rPr>
              <a:t>games</a:t>
            </a:r>
          </a:p>
        </p:txBody>
      </p:sp>
      <p:sp>
        <p:nvSpPr>
          <p:cNvPr id="13" name="TextBox 12"/>
          <p:cNvSpPr txBox="1"/>
          <p:nvPr/>
        </p:nvSpPr>
        <p:spPr>
          <a:xfrm>
            <a:off x="8503919" y="4709160"/>
            <a:ext cx="1463040" cy="548640"/>
          </a:xfrm>
          <a:prstGeom prst="rect">
            <a:avLst/>
          </a:prstGeom>
          <a:noFill/>
        </p:spPr>
        <p:txBody>
          <a:bodyPr wrap="square" lIns="45720" rIns="45720" tIns="27432" bIns="27432">
            <a:spAutoFit/>
          </a:bodyPr>
          <a:lstStyle/>
          <a:p>
            <a:pPr>
              <a:spcAft>
                <a:spcPts val="0"/>
              </a:spcAft>
            </a:pPr>
            <a:r>
              <a:rPr sz="2600" b="1" i="0">
                <a:solidFill>
                  <a:srgbClr val="132C43"/>
                </a:solidFill>
                <a:latin typeface="Bitstream Charter"/>
              </a:rPr>
              <a:t>1.65M</a:t>
            </a:r>
          </a:p>
        </p:txBody>
      </p:sp>
      <p:sp>
        <p:nvSpPr>
          <p:cNvPr id="14" name="TextBox 13"/>
          <p:cNvSpPr txBox="1"/>
          <p:nvPr/>
        </p:nvSpPr>
        <p:spPr>
          <a:xfrm>
            <a:off x="8503919" y="5212080"/>
            <a:ext cx="1463040" cy="274320"/>
          </a:xfrm>
          <a:prstGeom prst="rect">
            <a:avLst/>
          </a:prstGeom>
          <a:noFill/>
        </p:spPr>
        <p:txBody>
          <a:bodyPr wrap="square" lIns="45720" rIns="45720" tIns="27432" bIns="27432">
            <a:spAutoFit/>
          </a:bodyPr>
          <a:lstStyle/>
          <a:p>
            <a:pPr>
              <a:spcAft>
                <a:spcPts val="400"/>
              </a:spcAft>
            </a:pPr>
            <a:r>
              <a:rPr sz="1100" b="0" i="0">
                <a:solidFill>
                  <a:srgbClr val="48677E"/>
                </a:solidFill>
                <a:latin typeface="Bitstream Charter"/>
              </a:rPr>
              <a:t>reviews</a:t>
            </a:r>
          </a:p>
        </p:txBody>
      </p:sp>
      <p:sp>
        <p:nvSpPr>
          <p:cNvPr id="15" name="TextBox 14"/>
          <p:cNvSpPr txBox="1"/>
          <p:nvPr/>
        </p:nvSpPr>
        <p:spPr>
          <a:xfrm>
            <a:off x="10058400" y="4709160"/>
            <a:ext cx="1463040" cy="548640"/>
          </a:xfrm>
          <a:prstGeom prst="rect">
            <a:avLst/>
          </a:prstGeom>
          <a:noFill/>
        </p:spPr>
        <p:txBody>
          <a:bodyPr wrap="square" lIns="45720" rIns="45720" tIns="27432" bIns="27432">
            <a:spAutoFit/>
          </a:bodyPr>
          <a:lstStyle/>
          <a:p>
            <a:pPr>
              <a:spcAft>
                <a:spcPts val="0"/>
              </a:spcAft>
            </a:pPr>
            <a:r>
              <a:rPr sz="2600" b="1" i="0">
                <a:solidFill>
                  <a:srgbClr val="132C43"/>
                </a:solidFill>
                <a:latin typeface="Bitstream Charter"/>
              </a:rPr>
              <a:t>31</a:t>
            </a:r>
          </a:p>
        </p:txBody>
      </p:sp>
      <p:sp>
        <p:nvSpPr>
          <p:cNvPr id="16" name="TextBox 15"/>
          <p:cNvSpPr txBox="1"/>
          <p:nvPr/>
        </p:nvSpPr>
        <p:spPr>
          <a:xfrm>
            <a:off x="10058400" y="5212080"/>
            <a:ext cx="1463040" cy="274320"/>
          </a:xfrm>
          <a:prstGeom prst="rect">
            <a:avLst/>
          </a:prstGeom>
          <a:noFill/>
        </p:spPr>
        <p:txBody>
          <a:bodyPr wrap="square" lIns="45720" rIns="45720" tIns="27432" bIns="27432">
            <a:spAutoFit/>
          </a:bodyPr>
          <a:lstStyle/>
          <a:p>
            <a:pPr>
              <a:spcAft>
                <a:spcPts val="400"/>
              </a:spcAft>
            </a:pPr>
            <a:r>
              <a:rPr sz="1100" b="0" i="0">
                <a:solidFill>
                  <a:srgbClr val="48677E"/>
                </a:solidFill>
                <a:latin typeface="Bitstream Charter"/>
              </a:rPr>
              <a:t>languages</a:t>
            </a:r>
          </a:p>
        </p:txBody>
      </p:sp>
    </p:spTree>
    <p:extLst>
      <p:ext uri="{BB962C8B-B14F-4D97-AF65-F5344CB8AC3E}">
        <p14:creationId xmlns:p14="http://schemas.microsoft.com/office/powerpoint/2010/main" val="913027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D6EB4B3-97C6-47CE-8D1D-858646C8DE65}"/>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3300" b="1">
                <a:solidFill>
                  <a:srgbClr val="132C43"/>
                </a:solidFill>
                <a:latin typeface="Bitstream Charter"/>
                <a:ea typeface="Bitstream Charter"/>
                <a:cs typeface="Bitstream Charter"/>
              </a:rPr>
              <a:t>Data Cleaning and Preprocessing</a:t>
            </a:r>
          </a:p>
        </p:txBody>
      </p:sp>
      <p:sp>
        <p:nvSpPr>
          <p:cNvPr id="4" name="Rectangle 3">
            <a:extLst>
              <a:ext uri="{FF2B5EF4-FFF2-40B4-BE49-F238E27FC236}">
                <a16:creationId xmlns:a16="http://schemas.microsoft.com/office/drawing/2014/main" id="{E59E5E98-3194-46C8-976A-E6A1C64D5960}"/>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Bitstream Charter"/>
                <a:ea typeface="Bitstream Charter"/>
                <a:cs typeface="Bitstream Charter"/>
              </a:rPr>
              <a:t>04</a:t>
            </a:r>
          </a:p>
        </p:txBody>
      </p:sp>
      <p:graphicFrame>
        <p:nvGraphicFramePr>
          <p:cNvPr id="6" name="Table 5"/>
          <p:cNvGraphicFramePr>
            <a:graphicFrameLocks noGrp="1"/>
          </p:cNvGraphicFramePr>
          <p:nvPr/>
        </p:nvGraphicFramePr>
        <p:xfrm>
          <a:off x="722376" y="1554480"/>
          <a:ext cx="5760720" cy="1828800"/>
        </p:xfrm>
        <a:graphic>
          <a:graphicData uri="http://schemas.openxmlformats.org/drawingml/2006/table">
            <a:tbl>
              <a:tblPr firstRow="0" bandRow="0">
                <a:tableStyleId>{2D5ABB26-0587-4C30-8999-92F81FD0307C}</a:tableStyleId>
              </a:tblPr>
              <a:tblGrid>
                <a:gridCol w="1554480"/>
                <a:gridCol w="4206240"/>
              </a:tblGrid>
              <a:tr h="457200">
                <a:tc>
                  <a:txBody>
                    <a:bodyPr wrap="square"/>
                    <a:lstStyle/>
                    <a:p>
                      <a:r>
                        <a:rPr sz="1200" b="1" i="0">
                          <a:solidFill>
                            <a:srgbClr val="132C43"/>
                          </a:solidFill>
                          <a:latin typeface="Bitstream Charter"/>
                        </a:rPr>
                        <a:t>Missing values</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Only unusable rows are dropped: 4,612 empty reviews. Free games have no price, and no listed achievements counts as 0; both kept. 12 reviews with unknown playtime are kept and flagged.</a:t>
                      </a:r>
                    </a:p>
                  </a:txBody>
                  <a:tcPr marL="64008" marR="64008" marT="45720" marB="45720" anchor="t">
                    <a:lnB w="9525" cap="flat" cmpd="sng" algn="ctr">
                      <a:solidFill>
                        <a:srgbClr val="C9D6E2"/>
                      </a:solidFill>
                      <a:prstDash val="solid"/>
                    </a:lnB>
                    <a:noFill/>
                  </a:tcPr>
                </a:tc>
              </a:tr>
              <a:tr h="457200">
                <a:tc>
                  <a:txBody>
                    <a:bodyPr wrap="square"/>
                    <a:lstStyle/>
                    <a:p>
                      <a:r>
                        <a:rPr sz="1200" b="1" i="0">
                          <a:solidFill>
                            <a:srgbClr val="132C43"/>
                          </a:solidFill>
                          <a:latin typeface="Bitstream Charter"/>
                        </a:rPr>
                        <a:t>Duplicates and outliers</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No duplicate review IDs or games. Playtime above the 99.5% quantile (363 h) is winsorised in a copy and flagged. Low-content, symbol-spam and copy-pasted reviews are flagged, not removed.</a:t>
                      </a:r>
                    </a:p>
                  </a:txBody>
                  <a:tcPr marL="64008" marR="64008" marT="45720" marB="45720" anchor="t">
                    <a:lnB w="9525" cap="flat" cmpd="sng" algn="ctr">
                      <a:solidFill>
                        <a:srgbClr val="C9D6E2"/>
                      </a:solidFill>
                      <a:prstDash val="solid"/>
                    </a:lnB>
                    <a:noFill/>
                  </a:tcPr>
                </a:tc>
              </a:tr>
              <a:tr h="457200">
                <a:tc>
                  <a:txBody>
                    <a:bodyPr wrap="square"/>
                    <a:lstStyle/>
                    <a:p>
                      <a:r>
                        <a:rPr sz="1200" b="1" i="0">
                          <a:solidFill>
                            <a:srgbClr val="132C43"/>
                          </a:solidFill>
                          <a:latin typeface="Bitstream Charter"/>
                        </a:rPr>
                        <a:t>Encoding and scaling</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Tags multi-hot encoded, filtered and reduced with PCA. Logistic Regression imputes the median and standardises inside its pipeline; tree models use the values as they are.</a:t>
                      </a:r>
                    </a:p>
                  </a:txBody>
                  <a:tcPr marL="64008" marR="64008" marT="45720" marB="45720" anchor="t">
                    <a:lnB w="9525" cap="flat" cmpd="sng" algn="ctr">
                      <a:solidFill>
                        <a:srgbClr val="C9D6E2"/>
                      </a:solidFill>
                      <a:prstDash val="solid"/>
                    </a:lnB>
                    <a:noFill/>
                  </a:tcPr>
                </a:tc>
              </a:tr>
              <a:tr h="457200">
                <a:tc>
                  <a:txBody>
                    <a:bodyPr wrap="square"/>
                    <a:lstStyle/>
                    <a:p>
                      <a:r>
                        <a:rPr sz="1200" b="1" i="0">
                          <a:solidFill>
                            <a:srgbClr val="132C43"/>
                          </a:solidFill>
                          <a:latin typeface="Bitstream Charter"/>
                        </a:rPr>
                        <a:t>Before and after</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1,652,999 → 1,648,387 reviews (−0.28%); all 1,861 games kept. 32 rules, each logged with counts and a reason (docs/cleaning_log.md).</a:t>
                      </a:r>
                    </a:p>
                  </a:txBody>
                  <a:tcPr marL="64008" marR="64008" marT="45720" marB="45720" anchor="t">
                    <a:lnB w="9525" cap="flat" cmpd="sng" algn="ctr">
                      <a:solidFill>
                        <a:srgbClr val="C9D6E2"/>
                      </a:solidFill>
                      <a:prstDash val="solid"/>
                    </a:lnB>
                    <a:noFill/>
                  </a:tcPr>
                </a:tc>
              </a:tr>
            </a:tbl>
          </a:graphicData>
        </a:graphic>
      </p:graphicFrame>
      <p:sp>
        <p:nvSpPr>
          <p:cNvPr id="7" name="TextBox 6"/>
          <p:cNvSpPr txBox="1"/>
          <p:nvPr/>
        </p:nvSpPr>
        <p:spPr>
          <a:xfrm>
            <a:off x="6720840" y="1536192"/>
            <a:ext cx="4754880" cy="274320"/>
          </a:xfrm>
          <a:prstGeom prst="rect">
            <a:avLst/>
          </a:prstGeom>
          <a:noFill/>
        </p:spPr>
        <p:txBody>
          <a:bodyPr wrap="square" lIns="45720" rIns="45720" tIns="27432" bIns="27432">
            <a:spAutoFit/>
          </a:bodyPr>
          <a:lstStyle/>
          <a:p>
            <a:pPr>
              <a:spcAft>
                <a:spcPts val="400"/>
              </a:spcAft>
            </a:pPr>
            <a:r>
              <a:rPr sz="1100" b="1" i="0">
                <a:solidFill>
                  <a:srgbClr val="132C43"/>
                </a:solidFill>
                <a:latin typeface="Bitstream Charter"/>
              </a:rPr>
              <a:t>Notebook section 3: cleaning log, rows affected</a:t>
            </a:r>
          </a:p>
        </p:txBody>
      </p:sp>
      <p:graphicFrame>
        <p:nvGraphicFramePr>
          <p:cNvPr id="8" name="Table 7"/>
          <p:cNvGraphicFramePr>
            <a:graphicFrameLocks noGrp="1"/>
          </p:cNvGraphicFramePr>
          <p:nvPr/>
        </p:nvGraphicFramePr>
        <p:xfrm>
          <a:off x="6720840" y="1828800"/>
          <a:ext cx="4754880" cy="2962656"/>
        </p:xfrm>
        <a:graphic>
          <a:graphicData uri="http://schemas.openxmlformats.org/drawingml/2006/table">
            <a:tbl>
              <a:tblPr firstRow="0" bandRow="0">
                <a:tableStyleId>{2D5ABB26-0587-4C30-8999-92F81FD0307C}</a:tableStyleId>
              </a:tblPr>
              <a:tblGrid>
                <a:gridCol w="2651760"/>
                <a:gridCol w="914400"/>
                <a:gridCol w="1188720"/>
              </a:tblGrid>
              <a:tr h="329184">
                <a:tc>
                  <a:txBody>
                    <a:bodyPr wrap="square"/>
                    <a:lstStyle/>
                    <a:p>
                      <a:r>
                        <a:rPr sz="1050" b="1" i="0">
                          <a:solidFill>
                            <a:srgbClr val="FFFFFF"/>
                          </a:solidFill>
                          <a:latin typeface="Bitstream Charter"/>
                        </a:rPr>
                        <a:t>Rule</a:t>
                      </a:r>
                    </a:p>
                  </a:txBody>
                  <a:tcPr marL="64008" marR="64008" marT="32004" marB="32004" anchor="ctr">
                    <a:solidFill>
                      <a:srgbClr val="132C43"/>
                    </a:solidFill>
                  </a:tcPr>
                </a:tc>
                <a:tc>
                  <a:txBody>
                    <a:bodyPr wrap="square"/>
                    <a:lstStyle/>
                    <a:p>
                      <a:pPr algn="ctr"/>
                      <a:r>
                        <a:rPr sz="1050" b="1" i="0">
                          <a:solidFill>
                            <a:srgbClr val="FFFFFF"/>
                          </a:solidFill>
                          <a:latin typeface="Bitstream Charter"/>
                        </a:rPr>
                        <a:t>Action</a:t>
                      </a:r>
                    </a:p>
                  </a:txBody>
                  <a:tcPr marL="64008" marR="64008" marT="32004" marB="32004" anchor="ctr">
                    <a:solidFill>
                      <a:srgbClr val="132C43"/>
                    </a:solidFill>
                  </a:tcPr>
                </a:tc>
                <a:tc>
                  <a:txBody>
                    <a:bodyPr wrap="square"/>
                    <a:lstStyle/>
                    <a:p>
                      <a:pPr algn="r"/>
                      <a:r>
                        <a:rPr sz="1050" b="1" i="0">
                          <a:solidFill>
                            <a:srgbClr val="FFFFFF"/>
                          </a:solidFill>
                          <a:latin typeface="Bitstream Charter"/>
                        </a:rPr>
                        <a:t>Affected</a:t>
                      </a:r>
                    </a:p>
                  </a:txBody>
                  <a:tcPr marL="64008" marR="64008" marT="32004" marB="32004" anchor="ctr">
                    <a:solidFill>
                      <a:srgbClr val="132C43"/>
                    </a:solidFill>
                  </a:tcPr>
                </a:tc>
              </a:tr>
              <a:tr h="329184">
                <a:tc>
                  <a:txBody>
                    <a:bodyPr wrap="square"/>
                    <a:lstStyle/>
                    <a:p>
                      <a:r>
                        <a:rPr sz="1050" b="0" i="0">
                          <a:solidFill>
                            <a:srgbClr val="263C50"/>
                          </a:solidFill>
                          <a:latin typeface="Bitstream Charter"/>
                        </a:rPr>
                        <a:t>Empty review text</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1" i="0">
                          <a:solidFill>
                            <a:srgbClr val="D1495B"/>
                          </a:solidFill>
                          <a:latin typeface="Bitstream Charter"/>
                        </a:rPr>
                        <a:t>drop</a:t>
                      </a:r>
                    </a:p>
                  </a:txBody>
                  <a:tcPr marL="64008" marR="64008" marT="32004" marB="32004" anchor="ctr">
                    <a:lnB w="9525" cap="flat" cmpd="sng" algn="ctr">
                      <a:solidFill>
                        <a:srgbClr val="C9D6E2"/>
                      </a:solidFill>
                      <a:prstDash val="solid"/>
                    </a:lnB>
                    <a:solidFill>
                      <a:srgbClr val="FFFFFF"/>
                    </a:solidFill>
                  </a:tcPr>
                </a:tc>
                <a:tc>
                  <a:txBody>
                    <a:bodyPr wrap="square"/>
                    <a:lstStyle/>
                    <a:p>
                      <a:pPr algn="r"/>
                      <a:r>
                        <a:rPr sz="1050" b="0" i="0">
                          <a:solidFill>
                            <a:srgbClr val="263C50"/>
                          </a:solidFill>
                          <a:latin typeface="Bitstream Charter"/>
                        </a:rPr>
                        <a:t>4,612</a:t>
                      </a:r>
                    </a:p>
                  </a:txBody>
                  <a:tcPr marL="64008" marR="64008" marT="32004" marB="32004" anchor="ctr">
                    <a:lnB w="9525" cap="flat" cmpd="sng" algn="ctr">
                      <a:solidFill>
                        <a:srgbClr val="C9D6E2"/>
                      </a:solidFill>
                      <a:prstDash val="solid"/>
                    </a:lnB>
                    <a:solidFill>
                      <a:srgbClr val="FFFFFF"/>
                    </a:solidFill>
                  </a:tcPr>
                </a:tc>
              </a:tr>
              <a:tr h="329184">
                <a:tc>
                  <a:txBody>
                    <a:bodyPr wrap="square"/>
                    <a:lstStyle/>
                    <a:p>
                      <a:r>
                        <a:rPr sz="1050" b="0" i="0">
                          <a:solidFill>
                            <a:srgbClr val="263C50"/>
                          </a:solidFill>
                          <a:latin typeface="Bitstream Charter"/>
                        </a:rPr>
                        <a:t>Low content (very short)</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flag</a:t>
                      </a:r>
                    </a:p>
                  </a:txBody>
                  <a:tcPr marL="64008" marR="64008" marT="32004" marB="32004" anchor="ctr">
                    <a:lnB w="9525" cap="flat" cmpd="sng" algn="ctr">
                      <a:solidFill>
                        <a:srgbClr val="C9D6E2"/>
                      </a:solidFill>
                      <a:prstDash val="solid"/>
                    </a:lnB>
                    <a:solidFill>
                      <a:srgbClr val="EAF0F6"/>
                    </a:solidFill>
                  </a:tcPr>
                </a:tc>
                <a:tc>
                  <a:txBody>
                    <a:bodyPr wrap="square"/>
                    <a:lstStyle/>
                    <a:p>
                      <a:pPr algn="r"/>
                      <a:r>
                        <a:rPr sz="1050" b="0" i="0">
                          <a:solidFill>
                            <a:srgbClr val="263C50"/>
                          </a:solidFill>
                          <a:latin typeface="Bitstream Charter"/>
                        </a:rPr>
                        <a:t>208,724</a:t>
                      </a:r>
                    </a:p>
                  </a:txBody>
                  <a:tcPr marL="64008" marR="64008" marT="32004" marB="32004" anchor="ctr">
                    <a:lnB w="9525" cap="flat" cmpd="sng" algn="ctr">
                      <a:solidFill>
                        <a:srgbClr val="C9D6E2"/>
                      </a:solidFill>
                      <a:prstDash val="solid"/>
                    </a:lnB>
                    <a:solidFill>
                      <a:srgbClr val="EAF0F6"/>
                    </a:solidFill>
                  </a:tcPr>
                </a:tc>
              </a:tr>
              <a:tr h="329184">
                <a:tc>
                  <a:txBody>
                    <a:bodyPr wrap="square"/>
                    <a:lstStyle/>
                    <a:p>
                      <a:r>
                        <a:rPr sz="1050" b="0" i="0">
                          <a:solidFill>
                            <a:srgbClr val="263C50"/>
                          </a:solidFill>
                          <a:latin typeface="Bitstream Charter"/>
                        </a:rPr>
                        <a:t>Received for free</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flag</a:t>
                      </a:r>
                    </a:p>
                  </a:txBody>
                  <a:tcPr marL="64008" marR="64008" marT="32004" marB="32004" anchor="ctr">
                    <a:lnB w="9525" cap="flat" cmpd="sng" algn="ctr">
                      <a:solidFill>
                        <a:srgbClr val="C9D6E2"/>
                      </a:solidFill>
                      <a:prstDash val="solid"/>
                    </a:lnB>
                    <a:solidFill>
                      <a:srgbClr val="FFFFFF"/>
                    </a:solidFill>
                  </a:tcPr>
                </a:tc>
                <a:tc>
                  <a:txBody>
                    <a:bodyPr wrap="square"/>
                    <a:lstStyle/>
                    <a:p>
                      <a:pPr algn="r"/>
                      <a:r>
                        <a:rPr sz="1050" b="0" i="0">
                          <a:solidFill>
                            <a:srgbClr val="263C50"/>
                          </a:solidFill>
                          <a:latin typeface="Bitstream Charter"/>
                        </a:rPr>
                        <a:t>34,394</a:t>
                      </a:r>
                    </a:p>
                  </a:txBody>
                  <a:tcPr marL="64008" marR="64008" marT="32004" marB="32004" anchor="ctr">
                    <a:lnB w="9525" cap="flat" cmpd="sng" algn="ctr">
                      <a:solidFill>
                        <a:srgbClr val="C9D6E2"/>
                      </a:solidFill>
                      <a:prstDash val="solid"/>
                    </a:lnB>
                    <a:solidFill>
                      <a:srgbClr val="FFFFFF"/>
                    </a:solidFill>
                  </a:tcPr>
                </a:tc>
              </a:tr>
              <a:tr h="329184">
                <a:tc>
                  <a:txBody>
                    <a:bodyPr wrap="square"/>
                    <a:lstStyle/>
                    <a:p>
                      <a:r>
                        <a:rPr sz="1050" b="0" i="0">
                          <a:solidFill>
                            <a:srgbClr val="263C50"/>
                          </a:solidFill>
                          <a:latin typeface="Bitstream Charter"/>
                        </a:rPr>
                        <a:t>Written before launch</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flag</a:t>
                      </a:r>
                    </a:p>
                  </a:txBody>
                  <a:tcPr marL="64008" marR="64008" marT="32004" marB="32004" anchor="ctr">
                    <a:lnB w="9525" cap="flat" cmpd="sng" algn="ctr">
                      <a:solidFill>
                        <a:srgbClr val="C9D6E2"/>
                      </a:solidFill>
                      <a:prstDash val="solid"/>
                    </a:lnB>
                    <a:solidFill>
                      <a:srgbClr val="EAF0F6"/>
                    </a:solidFill>
                  </a:tcPr>
                </a:tc>
                <a:tc>
                  <a:txBody>
                    <a:bodyPr wrap="square"/>
                    <a:lstStyle/>
                    <a:p>
                      <a:pPr algn="r"/>
                      <a:r>
                        <a:rPr sz="1050" b="0" i="0">
                          <a:solidFill>
                            <a:srgbClr val="263C50"/>
                          </a:solidFill>
                          <a:latin typeface="Bitstream Charter"/>
                        </a:rPr>
                        <a:t>30,018</a:t>
                      </a:r>
                    </a:p>
                  </a:txBody>
                  <a:tcPr marL="64008" marR="64008" marT="32004" marB="32004" anchor="ctr">
                    <a:lnB w="9525" cap="flat" cmpd="sng" algn="ctr">
                      <a:solidFill>
                        <a:srgbClr val="C9D6E2"/>
                      </a:solidFill>
                      <a:prstDash val="solid"/>
                    </a:lnB>
                    <a:solidFill>
                      <a:srgbClr val="EAF0F6"/>
                    </a:solidFill>
                  </a:tcPr>
                </a:tc>
              </a:tr>
              <a:tr h="329184">
                <a:tc>
                  <a:txBody>
                    <a:bodyPr wrap="square"/>
                    <a:lstStyle/>
                    <a:p>
                      <a:r>
                        <a:rPr sz="1050" b="0" i="0">
                          <a:solidFill>
                            <a:srgbClr val="263C50"/>
                          </a:solidFill>
                          <a:latin typeface="Bitstream Charter"/>
                        </a:rPr>
                        <a:t>Playtime outlier (&gt;99.5%)</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flag</a:t>
                      </a:r>
                    </a:p>
                  </a:txBody>
                  <a:tcPr marL="64008" marR="64008" marT="32004" marB="32004" anchor="ctr">
                    <a:lnB w="9525" cap="flat" cmpd="sng" algn="ctr">
                      <a:solidFill>
                        <a:srgbClr val="C9D6E2"/>
                      </a:solidFill>
                      <a:prstDash val="solid"/>
                    </a:lnB>
                    <a:solidFill>
                      <a:srgbClr val="FFFFFF"/>
                    </a:solidFill>
                  </a:tcPr>
                </a:tc>
                <a:tc>
                  <a:txBody>
                    <a:bodyPr wrap="square"/>
                    <a:lstStyle/>
                    <a:p>
                      <a:pPr algn="r"/>
                      <a:r>
                        <a:rPr sz="1050" b="0" i="0">
                          <a:solidFill>
                            <a:srgbClr val="263C50"/>
                          </a:solidFill>
                          <a:latin typeface="Bitstream Charter"/>
                        </a:rPr>
                        <a:t>8,242</a:t>
                      </a:r>
                    </a:p>
                  </a:txBody>
                  <a:tcPr marL="64008" marR="64008" marT="32004" marB="32004" anchor="ctr">
                    <a:lnB w="9525" cap="flat" cmpd="sng" algn="ctr">
                      <a:solidFill>
                        <a:srgbClr val="C9D6E2"/>
                      </a:solidFill>
                      <a:prstDash val="solid"/>
                    </a:lnB>
                    <a:solidFill>
                      <a:srgbClr val="FFFFFF"/>
                    </a:solidFill>
                  </a:tcPr>
                </a:tc>
              </a:tr>
              <a:tr h="329184">
                <a:tc>
                  <a:txBody>
                    <a:bodyPr wrap="square"/>
                    <a:lstStyle/>
                    <a:p>
                      <a:r>
                        <a:rPr sz="1050" b="0" i="0">
                          <a:solidFill>
                            <a:srgbClr val="263C50"/>
                          </a:solidFill>
                          <a:latin typeface="Bitstream Charter"/>
                        </a:rPr>
                        <a:t>ASCII art / symbol spam</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flag</a:t>
                      </a:r>
                    </a:p>
                  </a:txBody>
                  <a:tcPr marL="64008" marR="64008" marT="32004" marB="32004" anchor="ctr">
                    <a:lnB w="9525" cap="flat" cmpd="sng" algn="ctr">
                      <a:solidFill>
                        <a:srgbClr val="C9D6E2"/>
                      </a:solidFill>
                      <a:prstDash val="solid"/>
                    </a:lnB>
                    <a:solidFill>
                      <a:srgbClr val="EAF0F6"/>
                    </a:solidFill>
                  </a:tcPr>
                </a:tc>
                <a:tc>
                  <a:txBody>
                    <a:bodyPr wrap="square"/>
                    <a:lstStyle/>
                    <a:p>
                      <a:pPr algn="r"/>
                      <a:r>
                        <a:rPr sz="1050" b="0" i="0">
                          <a:solidFill>
                            <a:srgbClr val="263C50"/>
                          </a:solidFill>
                          <a:latin typeface="Bitstream Charter"/>
                        </a:rPr>
                        <a:t>4,951</a:t>
                      </a:r>
                    </a:p>
                  </a:txBody>
                  <a:tcPr marL="64008" marR="64008" marT="32004" marB="32004" anchor="ctr">
                    <a:lnB w="9525" cap="flat" cmpd="sng" algn="ctr">
                      <a:solidFill>
                        <a:srgbClr val="C9D6E2"/>
                      </a:solidFill>
                      <a:prstDash val="solid"/>
                    </a:lnB>
                    <a:solidFill>
                      <a:srgbClr val="EAF0F6"/>
                    </a:solidFill>
                  </a:tcPr>
                </a:tc>
              </a:tr>
              <a:tr h="329184">
                <a:tc>
                  <a:txBody>
                    <a:bodyPr wrap="square"/>
                    <a:lstStyle/>
                    <a:p>
                      <a:r>
                        <a:rPr sz="1050" b="0" i="0">
                          <a:solidFill>
                            <a:srgbClr val="263C50"/>
                          </a:solidFill>
                          <a:latin typeface="Bitstream Charter"/>
                        </a:rPr>
                        <a:t>Copy-pasted text</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flag</a:t>
                      </a:r>
                    </a:p>
                  </a:txBody>
                  <a:tcPr marL="64008" marR="64008" marT="32004" marB="32004" anchor="ctr">
                    <a:lnB w="9525" cap="flat" cmpd="sng" algn="ctr">
                      <a:solidFill>
                        <a:srgbClr val="C9D6E2"/>
                      </a:solidFill>
                      <a:prstDash val="solid"/>
                    </a:lnB>
                    <a:solidFill>
                      <a:srgbClr val="FFFFFF"/>
                    </a:solidFill>
                  </a:tcPr>
                </a:tc>
                <a:tc>
                  <a:txBody>
                    <a:bodyPr wrap="square"/>
                    <a:lstStyle/>
                    <a:p>
                      <a:pPr algn="r"/>
                      <a:r>
                        <a:rPr sz="1050" b="0" i="0">
                          <a:solidFill>
                            <a:srgbClr val="263C50"/>
                          </a:solidFill>
                          <a:latin typeface="Bitstream Charter"/>
                        </a:rPr>
                        <a:t>2,285</a:t>
                      </a:r>
                    </a:p>
                  </a:txBody>
                  <a:tcPr marL="64008" marR="64008" marT="32004" marB="32004" anchor="ctr">
                    <a:lnB w="9525" cap="flat" cmpd="sng" algn="ctr">
                      <a:solidFill>
                        <a:srgbClr val="C9D6E2"/>
                      </a:solidFill>
                      <a:prstDash val="solid"/>
                    </a:lnB>
                    <a:solidFill>
                      <a:srgbClr val="FFFFFF"/>
                    </a:solidFill>
                  </a:tcPr>
                </a:tc>
              </a:tr>
              <a:tr h="329184">
                <a:tc>
                  <a:txBody>
                    <a:bodyPr wrap="square"/>
                    <a:lstStyle/>
                    <a:p>
                      <a:r>
                        <a:rPr sz="1050" b="0" i="0">
                          <a:solidFill>
                            <a:srgbClr val="263C50"/>
                          </a:solidFill>
                          <a:latin typeface="Bitstream Charter"/>
                        </a:rPr>
                        <a:t>Game launch date corrected</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fix</a:t>
                      </a:r>
                    </a:p>
                  </a:txBody>
                  <a:tcPr marL="64008" marR="64008" marT="32004" marB="32004" anchor="ctr">
                    <a:lnB w="9525" cap="flat" cmpd="sng" algn="ctr">
                      <a:solidFill>
                        <a:srgbClr val="C9D6E2"/>
                      </a:solidFill>
                      <a:prstDash val="solid"/>
                    </a:lnB>
                    <a:solidFill>
                      <a:srgbClr val="EAF0F6"/>
                    </a:solidFill>
                  </a:tcPr>
                </a:tc>
                <a:tc>
                  <a:txBody>
                    <a:bodyPr wrap="square"/>
                    <a:lstStyle/>
                    <a:p>
                      <a:pPr algn="r"/>
                      <a:r>
                        <a:rPr sz="1050" b="0" i="0">
                          <a:solidFill>
                            <a:srgbClr val="263C50"/>
                          </a:solidFill>
                          <a:latin typeface="Bitstream Charter"/>
                        </a:rPr>
                        <a:t>318</a:t>
                      </a:r>
                    </a:p>
                  </a:txBody>
                  <a:tcPr marL="64008" marR="64008" marT="32004" marB="32004" anchor="ctr">
                    <a:lnB w="9525" cap="flat" cmpd="sng" algn="ctr">
                      <a:solidFill>
                        <a:srgbClr val="C9D6E2"/>
                      </a:solidFill>
                      <a:prstDash val="solid"/>
                    </a:lnB>
                    <a:solidFill>
                      <a:srgbClr val="EAF0F6"/>
                    </a:solidFill>
                  </a:tcPr>
                </a:tc>
              </a:tr>
            </a:tbl>
          </a:graphicData>
        </a:graphic>
      </p:graphicFrame>
      <p:sp>
        <p:nvSpPr>
          <p:cNvPr id="9" name="TextBox 8"/>
          <p:cNvSpPr txBox="1"/>
          <p:nvPr/>
        </p:nvSpPr>
        <p:spPr>
          <a:xfrm>
            <a:off x="6720840" y="5029200"/>
            <a:ext cx="4754880" cy="640080"/>
          </a:xfrm>
          <a:prstGeom prst="rect">
            <a:avLst/>
          </a:prstGeom>
          <a:noFill/>
        </p:spPr>
        <p:txBody>
          <a:bodyPr wrap="square" lIns="45720" rIns="45720" tIns="27432" bIns="27432">
            <a:spAutoFit/>
          </a:bodyPr>
          <a:lstStyle/>
          <a:p>
            <a:pPr>
              <a:spcAft>
                <a:spcPts val="400"/>
              </a:spcAft>
            </a:pPr>
            <a:r>
              <a:rPr sz="1100" b="0" i="0">
                <a:solidFill>
                  <a:srgbClr val="48677E"/>
                </a:solidFill>
                <a:latin typeface="Bitstream Charter"/>
              </a:rPr>
              <a:t>Dropped rows are the exception; everything else is flagged and kept, so each analysis chooses what it needs (for example a text-mining flag).</a:t>
            </a:r>
          </a:p>
        </p:txBody>
      </p:sp>
    </p:spTree>
    <p:extLst>
      <p:ext uri="{BB962C8B-B14F-4D97-AF65-F5344CB8AC3E}">
        <p14:creationId xmlns:p14="http://schemas.microsoft.com/office/powerpoint/2010/main" val="603824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9D0AE25-D9BB-41D2-AA15-F048653EE973}"/>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3300" b="1">
                <a:solidFill>
                  <a:srgbClr val="132C43"/>
                </a:solidFill>
                <a:latin typeface="Bitstream Charter"/>
                <a:ea typeface="Bitstream Charter"/>
                <a:cs typeface="Bitstream Charter"/>
              </a:rPr>
              <a:t>Exploratory Analysis and Visualization</a:t>
            </a:r>
          </a:p>
        </p:txBody>
      </p:sp>
      <p:sp>
        <p:nvSpPr>
          <p:cNvPr id="4" name="Rectangle 3">
            <a:extLst>
              <a:ext uri="{FF2B5EF4-FFF2-40B4-BE49-F238E27FC236}">
                <a16:creationId xmlns:a16="http://schemas.microsoft.com/office/drawing/2014/main" id="{417FFBD7-6979-4B58-B685-F3B1F3CCD35B}"/>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Bitstream Charter"/>
                <a:ea typeface="Bitstream Charter"/>
                <a:cs typeface="Bitstream Charter"/>
              </a:rPr>
              <a:t>05</a:t>
            </a:r>
          </a:p>
        </p:txBody>
      </p:sp>
      <p:graphicFrame>
        <p:nvGraphicFramePr>
          <p:cNvPr id="6" name="Chart 5"/>
          <p:cNvGraphicFramePr>
            <a:graphicFrameLocks noGrp="1"/>
          </p:cNvGraphicFramePr>
          <p:nvPr/>
        </p:nvGraphicFramePr>
        <p:xfrm>
          <a:off x="640080" y="1554480"/>
          <a:ext cx="3520440" cy="2697480"/>
        </p:xfrm>
        <a:graphic>
          <a:graphicData uri="http://schemas.openxmlformats.org/drawingml/2006/chart">
            <c:chart xmlns:c="http://schemas.openxmlformats.org/drawingml/2006/chart" r:id="rId3"/>
          </a:graphicData>
        </a:graphic>
      </p:graphicFrame>
      <p:graphicFrame>
        <p:nvGraphicFramePr>
          <p:cNvPr id="7" name="Chart 6"/>
          <p:cNvGraphicFramePr>
            <a:graphicFrameLocks noGrp="1"/>
          </p:cNvGraphicFramePr>
          <p:nvPr/>
        </p:nvGraphicFramePr>
        <p:xfrm>
          <a:off x="4206240" y="1554480"/>
          <a:ext cx="3840480" cy="2697480"/>
        </p:xfrm>
        <a:graphic>
          <a:graphicData uri="http://schemas.openxmlformats.org/drawingml/2006/chart">
            <c:chart xmlns:c="http://schemas.openxmlformats.org/drawingml/2006/chart" r:id="rId4"/>
          </a:graphicData>
        </a:graphic>
      </p:graphicFrame>
      <p:graphicFrame>
        <p:nvGraphicFramePr>
          <p:cNvPr id="8" name="Chart 7"/>
          <p:cNvGraphicFramePr>
            <a:graphicFrameLocks noGrp="1"/>
          </p:cNvGraphicFramePr>
          <p:nvPr/>
        </p:nvGraphicFramePr>
        <p:xfrm>
          <a:off x="8092440" y="1554480"/>
          <a:ext cx="3611880" cy="2697480"/>
        </p:xfrm>
        <a:graphic>
          <a:graphicData uri="http://schemas.openxmlformats.org/drawingml/2006/chart">
            <c:chart xmlns:c="http://schemas.openxmlformats.org/drawingml/2006/chart" r:id="rId5"/>
          </a:graphicData>
        </a:graphic>
      </p:graphicFrame>
      <p:sp>
        <p:nvSpPr>
          <p:cNvPr id="9" name="TextBox 8"/>
          <p:cNvSpPr txBox="1"/>
          <p:nvPr/>
        </p:nvSpPr>
        <p:spPr>
          <a:xfrm>
            <a:off x="722376" y="4370832"/>
            <a:ext cx="10881360" cy="1645920"/>
          </a:xfrm>
          <a:prstGeom prst="rect">
            <a:avLst/>
          </a:prstGeom>
          <a:noFill/>
        </p:spPr>
        <p:txBody>
          <a:bodyPr wrap="square" lIns="45720" rIns="45720" tIns="27432" bIns="27432">
            <a:spAutoFit/>
          </a:bodyPr>
          <a:lstStyle/>
          <a:p>
            <a:pPr>
              <a:spcAft>
                <a:spcPts val="600"/>
              </a:spcAft>
            </a:pPr>
            <a:r>
              <a:rPr sz="1300" b="1" i="0">
                <a:solidFill>
                  <a:srgbClr val="132C43"/>
                </a:solidFill>
                <a:latin typeface="Bitstream Charter"/>
              </a:rPr>
              <a:t>1  Refund window: </a:t>
            </a:r>
            <a:r>
              <a:rPr sz="1300" b="0" i="0">
                <a:solidFill>
                  <a:srgbClr val="263C50"/>
                </a:solidFill>
                <a:latin typeface="Bitstream Charter"/>
              </a:rPr>
              <a:t>21.2% of reviews written under 2 h are negative against 8.8% later, and they are 29.0% of all negatives: the studio loses the review and often the sale.</a:t>
            </a:r>
          </a:p>
          <a:p>
            <a:pPr>
              <a:spcAft>
                <a:spcPts val="600"/>
              </a:spcAft>
            </a:pPr>
            <a:r>
              <a:rPr sz="1300" b="1" i="0">
                <a:solidFill>
                  <a:srgbClr val="132C43"/>
                </a:solidFill>
                <a:latin typeface="Bitstream Charter"/>
              </a:rPr>
              <a:t>2  Price: </a:t>
            </a:r>
            <a:r>
              <a:rPr sz="1300" b="0" i="0">
                <a:solidFill>
                  <a:srgbClr val="263C50"/>
                </a:solidFill>
                <a:latin typeface="Bitstream Charter"/>
              </a:rPr>
              <a:t>inside the window the negative share rises from 11% (under $5) to 32% ($20+); outside it price barely matters.</a:t>
            </a:r>
          </a:p>
          <a:p>
            <a:pPr>
              <a:spcAft>
                <a:spcPts val="600"/>
              </a:spcAft>
            </a:pPr>
            <a:r>
              <a:rPr sz="1300" b="1" i="0">
                <a:solidFill>
                  <a:srgbClr val="132C43"/>
                </a:solidFill>
                <a:latin typeface="Bitstream Charter"/>
              </a:rPr>
              <a:t>3  Complaints change: </a:t>
            </a:r>
            <a:r>
              <a:rPr sz="1300" b="0" i="0">
                <a:solidFill>
                  <a:srgbClr val="263C50"/>
                </a:solidFill>
                <a:latin typeface="Bitstream Charter"/>
              </a:rPr>
              <a:t>controls, camera and interface lead early (13.1% against 7.2%); repetition and unfair difficulty lead later. Fix the opening first, patch for depth after.</a:t>
            </a:r>
          </a:p>
        </p:txBody>
      </p:sp>
    </p:spTree>
    <p:extLst>
      <p:ext uri="{BB962C8B-B14F-4D97-AF65-F5344CB8AC3E}">
        <p14:creationId xmlns:p14="http://schemas.microsoft.com/office/powerpoint/2010/main" val="1587483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E1B486-1F4D-4280-881D-BABE8F4DD991}"/>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3300" b="1">
                <a:solidFill>
                  <a:srgbClr val="132C43"/>
                </a:solidFill>
                <a:latin typeface="Bitstream Charter"/>
                <a:ea typeface="Bitstream Charter"/>
                <a:cs typeface="Bitstream Charter"/>
              </a:rPr>
              <a:t>Feature Engineering or Dimensionality Reduction</a:t>
            </a:r>
          </a:p>
        </p:txBody>
      </p:sp>
      <p:sp>
        <p:nvSpPr>
          <p:cNvPr id="4" name="Rectangle 3">
            <a:extLst>
              <a:ext uri="{FF2B5EF4-FFF2-40B4-BE49-F238E27FC236}">
                <a16:creationId xmlns:a16="http://schemas.microsoft.com/office/drawing/2014/main" id="{EF5A7507-3557-4516-A60D-A4636F9CBF66}"/>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Bitstream Charter"/>
                <a:ea typeface="Bitstream Charter"/>
                <a:cs typeface="Bitstream Charter"/>
              </a:rPr>
              <a:t>06</a:t>
            </a:r>
          </a:p>
        </p:txBody>
      </p:sp>
      <p:graphicFrame>
        <p:nvGraphicFramePr>
          <p:cNvPr id="6" name="Table 5"/>
          <p:cNvGraphicFramePr>
            <a:graphicFrameLocks noGrp="1"/>
          </p:cNvGraphicFramePr>
          <p:nvPr/>
        </p:nvGraphicFramePr>
        <p:xfrm>
          <a:off x="722376" y="1554480"/>
          <a:ext cx="5897880" cy="1828800"/>
        </p:xfrm>
        <a:graphic>
          <a:graphicData uri="http://schemas.openxmlformats.org/drawingml/2006/table">
            <a:tbl>
              <a:tblPr firstRow="0" bandRow="0">
                <a:tableStyleId>{2D5ABB26-0587-4C30-8999-92F81FD0307C}</a:tableStyleId>
              </a:tblPr>
              <a:tblGrid>
                <a:gridCol w="1417320"/>
                <a:gridCol w="4480560"/>
              </a:tblGrid>
              <a:tr h="457200">
                <a:tc>
                  <a:txBody>
                    <a:bodyPr wrap="square"/>
                    <a:lstStyle/>
                    <a:p>
                      <a:r>
                        <a:rPr sz="1200" b="1" i="0">
                          <a:solidFill>
                            <a:srgbClr val="132C43"/>
                          </a:solidFill>
                          <a:latin typeface="Bitstream Charter"/>
                        </a:rPr>
                        <a:t>Method</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Engineered features kept as they are; tags and categories reduced with PCA; review text with TF-IDF and truncated SVD. Everything is fitted on training games only.</a:t>
                      </a:r>
                    </a:p>
                  </a:txBody>
                  <a:tcPr marL="64008" marR="64008" marT="45720" marB="45720" anchor="t">
                    <a:lnB w="9525" cap="flat" cmpd="sng" algn="ctr">
                      <a:solidFill>
                        <a:srgbClr val="C9D6E2"/>
                      </a:solidFill>
                      <a:prstDash val="solid"/>
                    </a:lnB>
                    <a:noFill/>
                  </a:tcPr>
                </a:tc>
              </a:tr>
              <a:tr h="457200">
                <a:tc>
                  <a:txBody>
                    <a:bodyPr wrap="square"/>
                    <a:lstStyle/>
                    <a:p>
                      <a:r>
                        <a:rPr sz="1200" b="1" i="0">
                          <a:solidFill>
                            <a:srgbClr val="132C43"/>
                          </a:solidFill>
                          <a:latin typeface="Bitstream Charter"/>
                        </a:rPr>
                        <a:t>Features used</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Review: playtime bucket, refund-window and launch-week flags, days since launch, price tier, patch and sale recency, reviewer and text length. Game: price tier, launch year, DLC, achievements, platforms and 68 tag components.</a:t>
                      </a:r>
                    </a:p>
                  </a:txBody>
                  <a:tcPr marL="64008" marR="64008" marT="45720" marB="45720" anchor="t">
                    <a:lnB w="9525" cap="flat" cmpd="sng" algn="ctr">
                      <a:solidFill>
                        <a:srgbClr val="C9D6E2"/>
                      </a:solidFill>
                      <a:prstDash val="solid"/>
                    </a:lnB>
                    <a:noFill/>
                  </a:tcPr>
                </a:tc>
              </a:tr>
              <a:tr h="457200">
                <a:tc>
                  <a:txBody>
                    <a:bodyPr wrap="square"/>
                    <a:lstStyle/>
                    <a:p>
                      <a:r>
                        <a:rPr sz="1200" b="1" i="0">
                          <a:solidFill>
                            <a:srgbClr val="132C43"/>
                          </a:solidFill>
                          <a:latin typeface="Bitstream Charter"/>
                        </a:rPr>
                        <a:t>Justification</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439 sparse tag columns invite overfitting on 1,861 games. PCA keeps their shared structure, and an elbow rule picks the number of components reproducibly.</a:t>
                      </a:r>
                    </a:p>
                  </a:txBody>
                  <a:tcPr marL="64008" marR="64008" marT="45720" marB="45720" anchor="t">
                    <a:lnB w="9525" cap="flat" cmpd="sng" algn="ctr">
                      <a:solidFill>
                        <a:srgbClr val="C9D6E2"/>
                      </a:solidFill>
                      <a:prstDash val="solid"/>
                    </a:lnB>
                    <a:noFill/>
                  </a:tcPr>
                </a:tc>
              </a:tr>
              <a:tr h="457200">
                <a:tc>
                  <a:txBody>
                    <a:bodyPr wrap="square"/>
                    <a:lstStyle/>
                    <a:p>
                      <a:r>
                        <a:rPr sz="1200" b="1" i="0">
                          <a:solidFill>
                            <a:srgbClr val="132C43"/>
                          </a:solidFill>
                          <a:latin typeface="Bitstream Charter"/>
                        </a:rPr>
                        <a:t>Effect</a:t>
                      </a:r>
                    </a:p>
                  </a:txBody>
                  <a:tcPr marL="64008" marR="64008" marT="45720" marB="45720" anchor="t">
                    <a:lnB w="9525" cap="flat" cmpd="sng" algn="ctr">
                      <a:solidFill>
                        <a:srgbClr val="C9D6E2"/>
                      </a:solidFill>
                      <a:prstDash val="solid"/>
                    </a:lnB>
                    <a:noFill/>
                  </a:tcPr>
                </a:tc>
                <a:tc>
                  <a:txBody>
                    <a:bodyPr wrap="square"/>
                    <a:lstStyle/>
                    <a:p>
                      <a:r>
                        <a:rPr sz="1200" b="0" i="0">
                          <a:solidFill>
                            <a:srgbClr val="263C50"/>
                          </a:solidFill>
                          <a:latin typeface="Bitstream Charter"/>
                        </a:rPr>
                        <a:t>Tags: 439 → 234 → 68 columns, 75% of training variance (70.5% on held-out games). Text: 41,891 terms → 78 components; adding the text lifts PR-AUC from 0.36 to 0.58.</a:t>
                      </a:r>
                    </a:p>
                  </a:txBody>
                  <a:tcPr marL="64008" marR="64008" marT="45720" marB="45720" anchor="t">
                    <a:lnB w="9525" cap="flat" cmpd="sng" algn="ctr">
                      <a:solidFill>
                        <a:srgbClr val="C9D6E2"/>
                      </a:solidFill>
                      <a:prstDash val="solid"/>
                    </a:lnB>
                    <a:noFill/>
                  </a:tcPr>
                </a:tc>
              </a:tr>
            </a:tbl>
          </a:graphicData>
        </a:graphic>
      </p:graphicFrame>
      <p:graphicFrame>
        <p:nvGraphicFramePr>
          <p:cNvPr id="7" name="Chart 6"/>
          <p:cNvGraphicFramePr>
            <a:graphicFrameLocks noGrp="1"/>
          </p:cNvGraphicFramePr>
          <p:nvPr/>
        </p:nvGraphicFramePr>
        <p:xfrm>
          <a:off x="6812280" y="1554480"/>
          <a:ext cx="4754880" cy="3108960"/>
        </p:xfrm>
        <a:graphic>
          <a:graphicData uri="http://schemas.openxmlformats.org/drawingml/2006/chart">
            <c:chart xmlns:c="http://schemas.openxmlformats.org/drawingml/2006/chart" r:id="rId3"/>
          </a:graphicData>
        </a:graphic>
      </p:graphicFrame>
      <p:sp>
        <p:nvSpPr>
          <p:cNvPr id="8" name="TextBox 7"/>
          <p:cNvSpPr txBox="1"/>
          <p:nvPr/>
        </p:nvSpPr>
        <p:spPr>
          <a:xfrm>
            <a:off x="6812280" y="4709160"/>
            <a:ext cx="4754880" cy="822960"/>
          </a:xfrm>
          <a:prstGeom prst="rect">
            <a:avLst/>
          </a:prstGeom>
          <a:noFill/>
        </p:spPr>
        <p:txBody>
          <a:bodyPr wrap="square" lIns="45720" rIns="45720" tIns="27432" bIns="27432">
            <a:spAutoFit/>
          </a:bodyPr>
          <a:lstStyle/>
          <a:p>
            <a:pPr>
              <a:spcAft>
                <a:spcPts val="400"/>
              </a:spcAft>
            </a:pPr>
            <a:r>
              <a:rPr sz="1150" b="1" i="0">
                <a:solidFill>
                  <a:srgbClr val="D1495B"/>
                </a:solidFill>
                <a:latin typeface="Bitstream Charter"/>
              </a:rPr>
              <a:t>k = 68: </a:t>
            </a:r>
            <a:r>
              <a:rPr sz="1150" b="0" i="0">
                <a:solidFill>
                  <a:srgbClr val="263C50"/>
                </a:solidFill>
                <a:latin typeface="Bitstream Charter"/>
              </a:rPr>
              <a:t>the elbow of the curve keeps 75% of the variance. The first components read as action roguelike vs card/strategy, a polished store page vs 3D and free-to-play, and 2D pixel art vs 3D.</a:t>
            </a:r>
          </a:p>
        </p:txBody>
      </p:sp>
    </p:spTree>
    <p:extLst>
      <p:ext uri="{BB962C8B-B14F-4D97-AF65-F5344CB8AC3E}">
        <p14:creationId xmlns:p14="http://schemas.microsoft.com/office/powerpoint/2010/main" val="1584663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CBD94D-6D9D-42D1-A713-E89A508CC26D}"/>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3300" b="1">
                <a:solidFill>
                  <a:srgbClr val="132C43"/>
                </a:solidFill>
                <a:latin typeface="Bitstream Charter"/>
                <a:ea typeface="Bitstream Charter"/>
                <a:cs typeface="Bitstream Charter"/>
              </a:rPr>
              <a:t>Predictive Model Development</a:t>
            </a:r>
          </a:p>
        </p:txBody>
      </p:sp>
      <p:sp>
        <p:nvSpPr>
          <p:cNvPr id="4" name="Rectangle 3">
            <a:extLst>
              <a:ext uri="{FF2B5EF4-FFF2-40B4-BE49-F238E27FC236}">
                <a16:creationId xmlns:a16="http://schemas.microsoft.com/office/drawing/2014/main" id="{32988478-2A56-4326-9883-7D85FD0A7E38}"/>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Bitstream Charter"/>
                <a:ea typeface="Bitstream Charter"/>
                <a:cs typeface="Bitstream Charter"/>
              </a:rPr>
              <a:t>07</a:t>
            </a:r>
          </a:p>
        </p:txBody>
      </p:sp>
      <p:graphicFrame>
        <p:nvGraphicFramePr>
          <p:cNvPr id="6" name="Table 5"/>
          <p:cNvGraphicFramePr>
            <a:graphicFrameLocks noGrp="1"/>
          </p:cNvGraphicFramePr>
          <p:nvPr/>
        </p:nvGraphicFramePr>
        <p:xfrm>
          <a:off x="722376" y="1554480"/>
          <a:ext cx="10744200" cy="3401568"/>
        </p:xfrm>
        <a:graphic>
          <a:graphicData uri="http://schemas.openxmlformats.org/drawingml/2006/table">
            <a:tbl>
              <a:tblPr firstRow="0" bandRow="0">
                <a:tableStyleId>{2D5ABB26-0587-4C30-8999-92F81FD0307C}</a:tableStyleId>
              </a:tblPr>
              <a:tblGrid>
                <a:gridCol w="1554480"/>
                <a:gridCol w="4754880"/>
                <a:gridCol w="4434840"/>
              </a:tblGrid>
              <a:tr h="566928">
                <a:tc>
                  <a:txBody>
                    <a:bodyPr wrap="square"/>
                    <a:lstStyle/>
                    <a:p>
                      <a:r>
                        <a:rPr sz="1150" b="1" i="0">
                          <a:solidFill>
                            <a:srgbClr val="FFFFFF"/>
                          </a:solidFill>
                          <a:latin typeface="Bitstream Charter"/>
                        </a:rPr>
                        <a:t/>
                      </a:r>
                    </a:p>
                  </a:txBody>
                  <a:tcPr marL="64008" marR="64008" marT="32004" marB="32004" anchor="ctr">
                    <a:solidFill>
                      <a:srgbClr val="132C43"/>
                    </a:solidFill>
                  </a:tcPr>
                </a:tc>
                <a:tc>
                  <a:txBody>
                    <a:bodyPr wrap="square"/>
                    <a:lstStyle/>
                    <a:p>
                      <a:r>
                        <a:rPr sz="1150" b="1" i="0">
                          <a:solidFill>
                            <a:srgbClr val="FFFFFF"/>
                          </a:solidFill>
                          <a:latin typeface="Bitstream Charter"/>
                        </a:rPr>
                        <a:t>Review level</a:t>
                      </a:r>
                    </a:p>
                  </a:txBody>
                  <a:tcPr marL="64008" marR="64008" marT="32004" marB="32004" anchor="ctr">
                    <a:solidFill>
                      <a:srgbClr val="132C43"/>
                    </a:solidFill>
                  </a:tcPr>
                </a:tc>
                <a:tc>
                  <a:txBody>
                    <a:bodyPr wrap="square"/>
                    <a:lstStyle/>
                    <a:p>
                      <a:r>
                        <a:rPr sz="1150" b="1" i="0">
                          <a:solidFill>
                            <a:srgbClr val="FFFFFF"/>
                          </a:solidFill>
                          <a:latin typeface="Bitstream Charter"/>
                        </a:rPr>
                        <a:t>Game level</a:t>
                      </a:r>
                    </a:p>
                  </a:txBody>
                  <a:tcPr marL="64008" marR="64008" marT="32004" marB="32004" anchor="ctr">
                    <a:solidFill>
                      <a:srgbClr val="132C43"/>
                    </a:solidFill>
                  </a:tcPr>
                </a:tc>
              </a:tr>
              <a:tr h="566928">
                <a:tc>
                  <a:txBody>
                    <a:bodyPr wrap="square"/>
                    <a:lstStyle/>
                    <a:p>
                      <a:r>
                        <a:rPr sz="1150" b="1" i="0">
                          <a:solidFill>
                            <a:srgbClr val="263C50"/>
                          </a:solidFill>
                          <a:latin typeface="Bitstream Charter"/>
                        </a:rPr>
                        <a:t>Prediction task</a:t>
                      </a:r>
                    </a:p>
                  </a:txBody>
                  <a:tcPr marL="64008" marR="64008" marT="32004" marB="32004" anchor="ctr">
                    <a:lnB w="9525" cap="flat" cmpd="sng" algn="ctr">
                      <a:solidFill>
                        <a:srgbClr val="C9D6E2"/>
                      </a:solidFill>
                      <a:prstDash val="solid"/>
                    </a:lnB>
                    <a:solidFill>
                      <a:srgbClr val="FFFFFF"/>
                    </a:solidFill>
                  </a:tcPr>
                </a:tc>
                <a:tc>
                  <a:txBody>
                    <a:bodyPr wrap="square"/>
                    <a:lstStyle/>
                    <a:p>
                      <a:r>
                        <a:rPr sz="1150" b="0" i="0">
                          <a:solidFill>
                            <a:srgbClr val="263C50"/>
                          </a:solidFill>
                          <a:latin typeface="Bitstream Charter"/>
                        </a:rPr>
                        <a:t>Classification: will a review be negative? (10.6% are)</a:t>
                      </a:r>
                    </a:p>
                  </a:txBody>
                  <a:tcPr marL="64008" marR="64008" marT="32004" marB="32004" anchor="ctr">
                    <a:lnB w="9525" cap="flat" cmpd="sng" algn="ctr">
                      <a:solidFill>
                        <a:srgbClr val="C9D6E2"/>
                      </a:solidFill>
                      <a:prstDash val="solid"/>
                    </a:lnB>
                    <a:solidFill>
                      <a:srgbClr val="FFFFFF"/>
                    </a:solidFill>
                  </a:tcPr>
                </a:tc>
                <a:tc>
                  <a:txBody>
                    <a:bodyPr wrap="square"/>
                    <a:lstStyle/>
                    <a:p>
                      <a:r>
                        <a:rPr sz="1150" b="0" i="0">
                          <a:solidFill>
                            <a:srgbClr val="263C50"/>
                          </a:solidFill>
                          <a:latin typeface="Bitstream Charter"/>
                        </a:rPr>
                        <a:t>Classification into 3 ordered tiers: Struggling, Solid, Strong</a:t>
                      </a:r>
                    </a:p>
                  </a:txBody>
                  <a:tcPr marL="64008" marR="64008" marT="32004" marB="32004" anchor="ctr">
                    <a:lnB w="9525" cap="flat" cmpd="sng" algn="ctr">
                      <a:solidFill>
                        <a:srgbClr val="C9D6E2"/>
                      </a:solidFill>
                      <a:prstDash val="solid"/>
                    </a:lnB>
                    <a:solidFill>
                      <a:srgbClr val="FFFFFF"/>
                    </a:solidFill>
                  </a:tcPr>
                </a:tc>
              </a:tr>
              <a:tr h="566928">
                <a:tc>
                  <a:txBody>
                    <a:bodyPr wrap="square"/>
                    <a:lstStyle/>
                    <a:p>
                      <a:r>
                        <a:rPr sz="1150" b="1" i="0">
                          <a:solidFill>
                            <a:srgbClr val="263C50"/>
                          </a:solidFill>
                          <a:latin typeface="Bitstream Charter"/>
                        </a:rPr>
                        <a:t>Models</a:t>
                      </a:r>
                    </a:p>
                  </a:txBody>
                  <a:tcPr marL="64008" marR="64008" marT="32004" marB="32004" anchor="ctr">
                    <a:lnB w="9525" cap="flat" cmpd="sng" algn="ctr">
                      <a:solidFill>
                        <a:srgbClr val="C9D6E2"/>
                      </a:solidFill>
                      <a:prstDash val="solid"/>
                    </a:lnB>
                    <a:solidFill>
                      <a:srgbClr val="EAF0F6"/>
                    </a:solidFill>
                  </a:tcPr>
                </a:tc>
                <a:tc>
                  <a:txBody>
                    <a:bodyPr wrap="square"/>
                    <a:lstStyle/>
                    <a:p>
                      <a:r>
                        <a:rPr sz="1150" b="0" i="0">
                          <a:solidFill>
                            <a:srgbClr val="263C50"/>
                          </a:solidFill>
                          <a:latin typeface="Bitstream Charter"/>
                        </a:rPr>
                        <a:t>Dummy baseline, Logistic Regression, Random Forest, LightGBM, XGBoost; plus text models (TF-IDF + Logistic Regression)</a:t>
                      </a:r>
                    </a:p>
                  </a:txBody>
                  <a:tcPr marL="64008" marR="64008" marT="32004" marB="32004" anchor="ctr">
                    <a:lnB w="9525" cap="flat" cmpd="sng" algn="ctr">
                      <a:solidFill>
                        <a:srgbClr val="C9D6E2"/>
                      </a:solidFill>
                      <a:prstDash val="solid"/>
                    </a:lnB>
                    <a:solidFill>
                      <a:srgbClr val="EAF0F6"/>
                    </a:solidFill>
                  </a:tcPr>
                </a:tc>
                <a:tc>
                  <a:txBody>
                    <a:bodyPr wrap="square"/>
                    <a:lstStyle/>
                    <a:p>
                      <a:r>
                        <a:rPr sz="1150" b="0" i="0">
                          <a:solidFill>
                            <a:srgbClr val="263C50"/>
                          </a:solidFill>
                          <a:latin typeface="Bitstream Charter"/>
                        </a:rPr>
                        <a:t>Dummy baseline, Logistic Regression, Random Forest, LightGBM, XGBoost</a:t>
                      </a:r>
                    </a:p>
                  </a:txBody>
                  <a:tcPr marL="64008" marR="64008" marT="32004" marB="32004" anchor="ctr">
                    <a:lnB w="9525" cap="flat" cmpd="sng" algn="ctr">
                      <a:solidFill>
                        <a:srgbClr val="C9D6E2"/>
                      </a:solidFill>
                      <a:prstDash val="solid"/>
                    </a:lnB>
                    <a:solidFill>
                      <a:srgbClr val="EAF0F6"/>
                    </a:solidFill>
                  </a:tcPr>
                </a:tc>
              </a:tr>
              <a:tr h="566928">
                <a:tc>
                  <a:txBody>
                    <a:bodyPr wrap="square"/>
                    <a:lstStyle/>
                    <a:p>
                      <a:r>
                        <a:rPr sz="1150" b="1" i="0">
                          <a:solidFill>
                            <a:srgbClr val="263C50"/>
                          </a:solidFill>
                          <a:latin typeface="Bitstream Charter"/>
                        </a:rPr>
                        <a:t>Model selection</a:t>
                      </a:r>
                    </a:p>
                  </a:txBody>
                  <a:tcPr marL="64008" marR="64008" marT="32004" marB="32004" anchor="ctr">
                    <a:lnB w="9525" cap="flat" cmpd="sng" algn="ctr">
                      <a:solidFill>
                        <a:srgbClr val="C9D6E2"/>
                      </a:solidFill>
                      <a:prstDash val="solid"/>
                    </a:lnB>
                    <a:solidFill>
                      <a:srgbClr val="FFFFFF"/>
                    </a:solidFill>
                  </a:tcPr>
                </a:tc>
                <a:tc>
                  <a:txBody>
                    <a:bodyPr wrap="square"/>
                    <a:lstStyle/>
                    <a:p>
                      <a:r>
                        <a:rPr sz="1150" b="0" i="0">
                          <a:solidFill>
                            <a:srgbClr val="263C50"/>
                          </a:solidFill>
                          <a:latin typeface="Bitstream Charter"/>
                        </a:rPr>
                        <a:t>The brief’s three cover linear, bagged and boosted trees; LightGBM adds a second boosting method; the Dummy shows what guessing scores. Large data (1.26M training rows) suits tree ensembles.</a:t>
                      </a:r>
                    </a:p>
                  </a:txBody>
                  <a:tcPr marL="64008" marR="64008" marT="32004" marB="32004" anchor="ctr">
                    <a:lnB w="9525" cap="flat" cmpd="sng" algn="ctr">
                      <a:solidFill>
                        <a:srgbClr val="C9D6E2"/>
                      </a:solidFill>
                      <a:prstDash val="solid"/>
                    </a:lnB>
                    <a:solidFill>
                      <a:srgbClr val="FFFFFF"/>
                    </a:solidFill>
                  </a:tcPr>
                </a:tc>
                <a:tc>
                  <a:txBody>
                    <a:bodyPr wrap="square"/>
                    <a:lstStyle/>
                    <a:p>
                      <a:r>
                        <a:rPr sz="1150" b="0" i="0">
                          <a:solidFill>
                            <a:srgbClr val="263C50"/>
                          </a:solidFill>
                          <a:latin typeface="Bitstream Charter"/>
                        </a:rPr>
                        <a:t>Same models. Small data (1,191 games), so simple models can compete with boosting.</a:t>
                      </a:r>
                    </a:p>
                  </a:txBody>
                  <a:tcPr marL="64008" marR="64008" marT="32004" marB="32004" anchor="ctr">
                    <a:lnB w="9525" cap="flat" cmpd="sng" algn="ctr">
                      <a:solidFill>
                        <a:srgbClr val="C9D6E2"/>
                      </a:solidFill>
                      <a:prstDash val="solid"/>
                    </a:lnB>
                    <a:solidFill>
                      <a:srgbClr val="FFFFFF"/>
                    </a:solidFill>
                  </a:tcPr>
                </a:tc>
              </a:tr>
              <a:tr h="566928">
                <a:tc>
                  <a:txBody>
                    <a:bodyPr wrap="square"/>
                    <a:lstStyle/>
                    <a:p>
                      <a:r>
                        <a:rPr sz="1150" b="1" i="0">
                          <a:solidFill>
                            <a:srgbClr val="263C50"/>
                          </a:solidFill>
                          <a:latin typeface="Bitstream Charter"/>
                        </a:rPr>
                        <a:t>Data split</a:t>
                      </a:r>
                    </a:p>
                  </a:txBody>
                  <a:tcPr marL="64008" marR="64008" marT="32004" marB="32004" anchor="ctr">
                    <a:lnB w="9525" cap="flat" cmpd="sng" algn="ctr">
                      <a:solidFill>
                        <a:srgbClr val="C9D6E2"/>
                      </a:solidFill>
                      <a:prstDash val="solid"/>
                    </a:lnB>
                    <a:solidFill>
                      <a:srgbClr val="EAF0F6"/>
                    </a:solidFill>
                  </a:tcPr>
                </a:tc>
                <a:tc>
                  <a:txBody>
                    <a:bodyPr wrap="square"/>
                    <a:lstStyle/>
                    <a:p>
                      <a:r>
                        <a:rPr sz="1150" b="0" i="0">
                          <a:solidFill>
                            <a:srgbClr val="263C50"/>
                          </a:solidFill>
                          <a:latin typeface="Bitstream Charter"/>
                        </a:rPr>
                        <a:t>80/20 by game: 1,257,095 train / 316,341 test reviews</a:t>
                      </a:r>
                    </a:p>
                  </a:txBody>
                  <a:tcPr marL="64008" marR="64008" marT="32004" marB="32004" anchor="ctr">
                    <a:lnB w="9525" cap="flat" cmpd="sng" algn="ctr">
                      <a:solidFill>
                        <a:srgbClr val="C9D6E2"/>
                      </a:solidFill>
                      <a:prstDash val="solid"/>
                    </a:lnB>
                    <a:solidFill>
                      <a:srgbClr val="EAF0F6"/>
                    </a:solidFill>
                  </a:tcPr>
                </a:tc>
                <a:tc>
                  <a:txBody>
                    <a:bodyPr wrap="square"/>
                    <a:lstStyle/>
                    <a:p>
                      <a:r>
                        <a:rPr sz="1150" b="0" i="0">
                          <a:solidFill>
                            <a:srgbClr val="263C50"/>
                          </a:solidFill>
                          <a:latin typeface="Bitstream Charter"/>
                        </a:rPr>
                        <a:t>1,191 train / 299 test games (a tier needs 20+ reviews)</a:t>
                      </a:r>
                    </a:p>
                  </a:txBody>
                  <a:tcPr marL="64008" marR="64008" marT="32004" marB="32004" anchor="ctr">
                    <a:lnB w="9525" cap="flat" cmpd="sng" algn="ctr">
                      <a:solidFill>
                        <a:srgbClr val="C9D6E2"/>
                      </a:solidFill>
                      <a:prstDash val="solid"/>
                    </a:lnB>
                    <a:solidFill>
                      <a:srgbClr val="EAF0F6"/>
                    </a:solidFill>
                  </a:tcPr>
                </a:tc>
              </a:tr>
              <a:tr h="566928">
                <a:tc>
                  <a:txBody>
                    <a:bodyPr wrap="square"/>
                    <a:lstStyle/>
                    <a:p>
                      <a:r>
                        <a:rPr sz="1150" b="1" i="0">
                          <a:solidFill>
                            <a:srgbClr val="263C50"/>
                          </a:solidFill>
                          <a:latin typeface="Bitstream Charter"/>
                        </a:rPr>
                        <a:t>Settings</a:t>
                      </a:r>
                    </a:p>
                  </a:txBody>
                  <a:tcPr marL="64008" marR="64008" marT="32004" marB="32004" anchor="ctr">
                    <a:lnB w="9525" cap="flat" cmpd="sng" algn="ctr">
                      <a:solidFill>
                        <a:srgbClr val="C9D6E2"/>
                      </a:solidFill>
                      <a:prstDash val="solid"/>
                    </a:lnB>
                    <a:solidFill>
                      <a:srgbClr val="FFFFFF"/>
                    </a:solidFill>
                  </a:tcPr>
                </a:tc>
                <a:tc>
                  <a:txBody>
                    <a:bodyPr wrap="square"/>
                    <a:lstStyle/>
                    <a:p>
                      <a:r>
                        <a:rPr sz="1150" b="0" i="0">
                          <a:solidFill>
                            <a:srgbClr val="263C50"/>
                          </a:solidFill>
                          <a:latin typeface="Bitstream Charter"/>
                        </a:rPr>
                        <a:t>Small grids tuned by 5-fold CV on train; class weights; early stopping on PR-AUC; threshold set on out-of-fold predictions; XGBoost on default settings</a:t>
                      </a:r>
                    </a:p>
                  </a:txBody>
                  <a:tcPr marL="64008" marR="64008" marT="32004" marB="32004" anchor="ctr">
                    <a:lnB w="9525" cap="flat" cmpd="sng" algn="ctr">
                      <a:solidFill>
                        <a:srgbClr val="C9D6E2"/>
                      </a:solidFill>
                      <a:prstDash val="solid"/>
                    </a:lnB>
                    <a:solidFill>
                      <a:srgbClr val="FFFFFF"/>
                    </a:solidFill>
                  </a:tcPr>
                </a:tc>
                <a:tc>
                  <a:txBody>
                    <a:bodyPr wrap="square"/>
                    <a:lstStyle/>
                    <a:p>
                      <a:r>
                        <a:rPr sz="1150" b="0" i="0">
                          <a:solidFill>
                            <a:srgbClr val="263C50"/>
                          </a:solidFill>
                          <a:latin typeface="Bitstream Charter"/>
                        </a:rPr>
                        <a:t>Grids tuned by CV macro-F1; balanced class weights; early stopping on log-loss; class scales set on out-of-fold predictions; XGBoost on defaults</a:t>
                      </a:r>
                    </a:p>
                  </a:txBody>
                  <a:tcPr marL="64008" marR="64008" marT="32004" marB="32004" anchor="ctr">
                    <a:lnB w="9525" cap="flat" cmpd="sng" algn="ctr">
                      <a:solidFill>
                        <a:srgbClr val="C9D6E2"/>
                      </a:solidFill>
                      <a:prstDash val="solid"/>
                    </a:lnB>
                    <a:solidFill>
                      <a:srgbClr val="FFFFFF"/>
                    </a:solidFill>
                  </a:tcPr>
                </a:tc>
              </a:tr>
            </a:tbl>
          </a:graphicData>
        </a:graphic>
      </p:graphicFrame>
      <p:sp>
        <p:nvSpPr>
          <p:cNvPr id="7" name="TextBox 6"/>
          <p:cNvSpPr txBox="1"/>
          <p:nvPr/>
        </p:nvSpPr>
        <p:spPr>
          <a:xfrm>
            <a:off x="722376" y="5440680"/>
            <a:ext cx="10744200" cy="548640"/>
          </a:xfrm>
          <a:prstGeom prst="rect">
            <a:avLst/>
          </a:prstGeom>
          <a:noFill/>
        </p:spPr>
        <p:txBody>
          <a:bodyPr wrap="square" lIns="45720" rIns="45720" tIns="27432" bIns="27432">
            <a:spAutoFit/>
          </a:bodyPr>
          <a:lstStyle/>
          <a:p>
            <a:pPr>
              <a:spcAft>
                <a:spcPts val="400"/>
              </a:spcAft>
            </a:pPr>
            <a:r>
              <a:rPr sz="1200" b="1" i="0">
                <a:solidFill>
                  <a:srgbClr val="132C43"/>
                </a:solidFill>
                <a:latin typeface="Bitstream Charter"/>
              </a:rPr>
              <a:t>Rules for every model: </a:t>
            </a:r>
            <a:r>
              <a:rPr sz="1200" b="0" i="0">
                <a:solidFill>
                  <a:srgbClr val="263C50"/>
                </a:solidFill>
                <a:latin typeface="Bitstream Charter"/>
              </a:rPr>
              <a:t>one shared split by game (no game on both sides) with 5 cross-validation folds inside train; anything learned from data is fitted on training rows only; the test set is scored once (docs/modelling_protocol.md).</a:t>
            </a:r>
          </a:p>
        </p:txBody>
      </p:sp>
    </p:spTree>
    <p:extLst>
      <p:ext uri="{BB962C8B-B14F-4D97-AF65-F5344CB8AC3E}">
        <p14:creationId xmlns:p14="http://schemas.microsoft.com/office/powerpoint/2010/main" val="1562942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1907DA-B24F-4A5B-A3F9-04993771CEE6}"/>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3300" b="1">
                <a:solidFill>
                  <a:srgbClr val="132C43"/>
                </a:solidFill>
                <a:latin typeface="Bitstream Charter"/>
                <a:ea typeface="Bitstream Charter"/>
                <a:cs typeface="Bitstream Charter"/>
              </a:rPr>
              <a:t>Model Evaluation and Result Interpretation</a:t>
            </a:r>
          </a:p>
        </p:txBody>
      </p:sp>
      <p:sp>
        <p:nvSpPr>
          <p:cNvPr id="4" name="Rectangle 3">
            <a:extLst>
              <a:ext uri="{FF2B5EF4-FFF2-40B4-BE49-F238E27FC236}">
                <a16:creationId xmlns:a16="http://schemas.microsoft.com/office/drawing/2014/main" id="{F5EF6DBD-CE88-4890-B056-8911B34122A0}"/>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Bitstream Charter"/>
                <a:ea typeface="Bitstream Charter"/>
                <a:cs typeface="Bitstream Charter"/>
              </a:rPr>
              <a:t>08</a:t>
            </a:r>
          </a:p>
        </p:txBody>
      </p:sp>
      <p:sp>
        <p:nvSpPr>
          <p:cNvPr id="6" name="TextBox 5"/>
          <p:cNvSpPr txBox="1"/>
          <p:nvPr/>
        </p:nvSpPr>
        <p:spPr>
          <a:xfrm>
            <a:off x="722376" y="1481328"/>
            <a:ext cx="5760720" cy="274320"/>
          </a:xfrm>
          <a:prstGeom prst="rect">
            <a:avLst/>
          </a:prstGeom>
          <a:noFill/>
        </p:spPr>
        <p:txBody>
          <a:bodyPr wrap="square" lIns="45720" rIns="45720" tIns="27432" bIns="27432">
            <a:spAutoFit/>
          </a:bodyPr>
          <a:lstStyle/>
          <a:p>
            <a:pPr>
              <a:spcAft>
                <a:spcPts val="400"/>
              </a:spcAft>
            </a:pPr>
            <a:r>
              <a:rPr sz="1150" b="1" i="0">
                <a:solidFill>
                  <a:srgbClr val="132C43"/>
                </a:solidFill>
                <a:latin typeface="Bitstream Charter"/>
              </a:rPr>
              <a:t>Test results (scored once)</a:t>
            </a:r>
          </a:p>
        </p:txBody>
      </p:sp>
      <p:graphicFrame>
        <p:nvGraphicFramePr>
          <p:cNvPr id="7" name="Table 6"/>
          <p:cNvGraphicFramePr>
            <a:graphicFrameLocks noGrp="1"/>
          </p:cNvGraphicFramePr>
          <p:nvPr/>
        </p:nvGraphicFramePr>
        <p:xfrm>
          <a:off x="722376" y="1755648"/>
          <a:ext cx="5760720" cy="1645920"/>
        </p:xfrm>
        <a:graphic>
          <a:graphicData uri="http://schemas.openxmlformats.org/drawingml/2006/table">
            <a:tbl>
              <a:tblPr firstRow="0" bandRow="0">
                <a:tableStyleId>{2D5ABB26-0587-4C30-8999-92F81FD0307C}</a:tableStyleId>
              </a:tblPr>
              <a:tblGrid>
                <a:gridCol w="1737360"/>
                <a:gridCol w="1005840"/>
                <a:gridCol w="1005840"/>
                <a:gridCol w="1005840"/>
                <a:gridCol w="1005840"/>
              </a:tblGrid>
              <a:tr h="274320">
                <a:tc>
                  <a:txBody>
                    <a:bodyPr wrap="square"/>
                    <a:lstStyle/>
                    <a:p>
                      <a:r>
                        <a:rPr sz="1050" b="1" i="0">
                          <a:solidFill>
                            <a:srgbClr val="FFFFFF"/>
                          </a:solidFill>
                          <a:latin typeface="Bitstream Charter"/>
                        </a:rPr>
                        <a:t>Model</a:t>
                      </a:r>
                    </a:p>
                  </a:txBody>
                  <a:tcPr marL="64008" marR="64008" marT="32004" marB="32004" anchor="ctr">
                    <a:solidFill>
                      <a:srgbClr val="132C43"/>
                    </a:solidFill>
                  </a:tcPr>
                </a:tc>
                <a:tc>
                  <a:txBody>
                    <a:bodyPr wrap="square"/>
                    <a:lstStyle/>
                    <a:p>
                      <a:pPr algn="ctr"/>
                      <a:r>
                        <a:rPr sz="1050" b="1" i="0">
                          <a:solidFill>
                            <a:srgbClr val="FFFFFF"/>
                          </a:solidFill>
                          <a:latin typeface="Bitstream Charter"/>
                        </a:rPr>
                        <a:t>Review PR-AUC</a:t>
                      </a:r>
                    </a:p>
                  </a:txBody>
                  <a:tcPr marL="64008" marR="64008" marT="32004" marB="32004" anchor="ctr">
                    <a:solidFill>
                      <a:srgbClr val="132C43"/>
                    </a:solidFill>
                  </a:tcPr>
                </a:tc>
                <a:tc>
                  <a:txBody>
                    <a:bodyPr wrap="square"/>
                    <a:lstStyle/>
                    <a:p>
                      <a:pPr algn="ctr"/>
                      <a:r>
                        <a:rPr sz="1050" b="1" i="0">
                          <a:solidFill>
                            <a:srgbClr val="FFFFFF"/>
                          </a:solidFill>
                          <a:latin typeface="Bitstream Charter"/>
                        </a:rPr>
                        <a:t>Review ROC-AUC</a:t>
                      </a:r>
                    </a:p>
                  </a:txBody>
                  <a:tcPr marL="64008" marR="64008" marT="32004" marB="32004" anchor="ctr">
                    <a:solidFill>
                      <a:srgbClr val="132C43"/>
                    </a:solidFill>
                  </a:tcPr>
                </a:tc>
                <a:tc>
                  <a:txBody>
                    <a:bodyPr wrap="square"/>
                    <a:lstStyle/>
                    <a:p>
                      <a:pPr algn="ctr"/>
                      <a:r>
                        <a:rPr sz="1050" b="1" i="0">
                          <a:solidFill>
                            <a:srgbClr val="FFFFFF"/>
                          </a:solidFill>
                          <a:latin typeface="Bitstream Charter"/>
                        </a:rPr>
                        <a:t>Game macro-F1</a:t>
                      </a:r>
                    </a:p>
                  </a:txBody>
                  <a:tcPr marL="64008" marR="64008" marT="32004" marB="32004" anchor="ctr">
                    <a:solidFill>
                      <a:srgbClr val="132C43"/>
                    </a:solidFill>
                  </a:tcPr>
                </a:tc>
                <a:tc>
                  <a:txBody>
                    <a:bodyPr wrap="square"/>
                    <a:lstStyle/>
                    <a:p>
                      <a:pPr algn="ctr"/>
                      <a:r>
                        <a:rPr sz="1050" b="1" i="0">
                          <a:solidFill>
                            <a:srgbClr val="FFFFFF"/>
                          </a:solidFill>
                          <a:latin typeface="Bitstream Charter"/>
                        </a:rPr>
                        <a:t>Struggling recall</a:t>
                      </a:r>
                    </a:p>
                  </a:txBody>
                  <a:tcPr marL="64008" marR="64008" marT="32004" marB="32004" anchor="ctr">
                    <a:solidFill>
                      <a:srgbClr val="132C43"/>
                    </a:solidFill>
                  </a:tcPr>
                </a:tc>
              </a:tr>
              <a:tr h="274320">
                <a:tc>
                  <a:txBody>
                    <a:bodyPr wrap="square"/>
                    <a:lstStyle/>
                    <a:p>
                      <a:r>
                        <a:rPr sz="1050" b="0" i="0">
                          <a:solidFill>
                            <a:srgbClr val="263C50"/>
                          </a:solidFill>
                          <a:latin typeface="Bitstream Charter"/>
                        </a:rPr>
                        <a:t>Dummy (prior)</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0.106</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0.500</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0.220</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0.00</a:t>
                      </a:r>
                    </a:p>
                  </a:txBody>
                  <a:tcPr marL="64008" marR="64008" marT="32004" marB="32004" anchor="ctr">
                    <a:lnB w="9525" cap="flat" cmpd="sng" algn="ctr">
                      <a:solidFill>
                        <a:srgbClr val="C9D6E2"/>
                      </a:solidFill>
                      <a:prstDash val="solid"/>
                    </a:lnB>
                    <a:solidFill>
                      <a:srgbClr val="FFFFFF"/>
                    </a:solidFill>
                  </a:tcPr>
                </a:tc>
              </a:tr>
              <a:tr h="274320">
                <a:tc>
                  <a:txBody>
                    <a:bodyPr wrap="square"/>
                    <a:lstStyle/>
                    <a:p>
                      <a:r>
                        <a:rPr sz="1050" b="0" i="0">
                          <a:solidFill>
                            <a:srgbClr val="263C50"/>
                          </a:solidFill>
                          <a:latin typeface="Bitstream Charter"/>
                        </a:rPr>
                        <a:t>Logistic Regression</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0.194</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0.663</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0.423</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0.39</a:t>
                      </a:r>
                    </a:p>
                  </a:txBody>
                  <a:tcPr marL="64008" marR="64008" marT="32004" marB="32004" anchor="ctr">
                    <a:lnB w="9525" cap="flat" cmpd="sng" algn="ctr">
                      <a:solidFill>
                        <a:srgbClr val="C9D6E2"/>
                      </a:solidFill>
                      <a:prstDash val="solid"/>
                    </a:lnB>
                    <a:solidFill>
                      <a:srgbClr val="EAF0F6"/>
                    </a:solidFill>
                  </a:tcPr>
                </a:tc>
              </a:tr>
              <a:tr h="274320">
                <a:tc>
                  <a:txBody>
                    <a:bodyPr wrap="square"/>
                    <a:lstStyle/>
                    <a:p>
                      <a:r>
                        <a:rPr sz="1050" b="0" i="0">
                          <a:solidFill>
                            <a:srgbClr val="263C50"/>
                          </a:solidFill>
                          <a:latin typeface="Bitstream Charter"/>
                        </a:rPr>
                        <a:t>Random Forest</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0.275</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0.721</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0.404</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0.14</a:t>
                      </a:r>
                    </a:p>
                  </a:txBody>
                  <a:tcPr marL="64008" marR="64008" marT="32004" marB="32004" anchor="ctr">
                    <a:lnB w="9525" cap="flat" cmpd="sng" algn="ctr">
                      <a:solidFill>
                        <a:srgbClr val="C9D6E2"/>
                      </a:solidFill>
                      <a:prstDash val="solid"/>
                    </a:lnB>
                    <a:solidFill>
                      <a:srgbClr val="FFFFFF"/>
                    </a:solidFill>
                  </a:tcPr>
                </a:tc>
              </a:tr>
              <a:tr h="274320">
                <a:tc>
                  <a:txBody>
                    <a:bodyPr wrap="square"/>
                    <a:lstStyle/>
                    <a:p>
                      <a:r>
                        <a:rPr sz="1050" b="0" i="0">
                          <a:solidFill>
                            <a:srgbClr val="263C50"/>
                          </a:solidFill>
                          <a:latin typeface="Bitstream Charter"/>
                        </a:rPr>
                        <a:t>LightGBM</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0.265</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0.729</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0.421</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50" b="0" i="0">
                          <a:solidFill>
                            <a:srgbClr val="263C50"/>
                          </a:solidFill>
                          <a:latin typeface="Bitstream Charter"/>
                        </a:rPr>
                        <a:t>0.45</a:t>
                      </a:r>
                    </a:p>
                  </a:txBody>
                  <a:tcPr marL="64008" marR="64008" marT="32004" marB="32004" anchor="ctr">
                    <a:lnB w="9525" cap="flat" cmpd="sng" algn="ctr">
                      <a:solidFill>
                        <a:srgbClr val="C9D6E2"/>
                      </a:solidFill>
                      <a:prstDash val="solid"/>
                    </a:lnB>
                    <a:solidFill>
                      <a:srgbClr val="EAF0F6"/>
                    </a:solidFill>
                  </a:tcPr>
                </a:tc>
              </a:tr>
              <a:tr h="274320">
                <a:tc>
                  <a:txBody>
                    <a:bodyPr wrap="square"/>
                    <a:lstStyle/>
                    <a:p>
                      <a:r>
                        <a:rPr sz="1050" b="0" i="0">
                          <a:solidFill>
                            <a:srgbClr val="263C50"/>
                          </a:solidFill>
                          <a:latin typeface="Bitstream Charter"/>
                        </a:rPr>
                        <a:t>XGBoost</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0.283</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0.733</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0.388</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50" b="0" i="0">
                          <a:solidFill>
                            <a:srgbClr val="263C50"/>
                          </a:solidFill>
                          <a:latin typeface="Bitstream Charter"/>
                        </a:rPr>
                        <a:t>0.14</a:t>
                      </a:r>
                    </a:p>
                  </a:txBody>
                  <a:tcPr marL="64008" marR="64008" marT="32004" marB="32004" anchor="ctr">
                    <a:lnB w="9525" cap="flat" cmpd="sng" algn="ctr">
                      <a:solidFill>
                        <a:srgbClr val="C9D6E2"/>
                      </a:solidFill>
                      <a:prstDash val="solid"/>
                    </a:lnB>
                    <a:solidFill>
                      <a:srgbClr val="FFFFFF"/>
                    </a:solidFill>
                  </a:tcPr>
                </a:tc>
              </a:tr>
            </a:tbl>
          </a:graphicData>
        </a:graphic>
      </p:graphicFrame>
      <p:graphicFrame>
        <p:nvGraphicFramePr>
          <p:cNvPr id="8" name="Chart 7"/>
          <p:cNvGraphicFramePr>
            <a:graphicFrameLocks noGrp="1"/>
          </p:cNvGraphicFramePr>
          <p:nvPr/>
        </p:nvGraphicFramePr>
        <p:xfrm>
          <a:off x="640080" y="3520440"/>
          <a:ext cx="3246120" cy="2148840"/>
        </p:xfrm>
        <a:graphic>
          <a:graphicData uri="http://schemas.openxmlformats.org/drawingml/2006/chart">
            <c:chart xmlns:c="http://schemas.openxmlformats.org/drawingml/2006/chart" r:id="rId3"/>
          </a:graphicData>
        </a:graphic>
      </p:graphicFrame>
      <p:sp>
        <p:nvSpPr>
          <p:cNvPr id="9" name="TextBox 8"/>
          <p:cNvSpPr txBox="1"/>
          <p:nvPr/>
        </p:nvSpPr>
        <p:spPr>
          <a:xfrm>
            <a:off x="3977639" y="3611880"/>
            <a:ext cx="2560320" cy="2103120"/>
          </a:xfrm>
          <a:prstGeom prst="rect">
            <a:avLst/>
          </a:prstGeom>
          <a:noFill/>
        </p:spPr>
        <p:txBody>
          <a:bodyPr wrap="square" lIns="45720" rIns="45720" tIns="27432" bIns="27432">
            <a:spAutoFit/>
          </a:bodyPr>
          <a:lstStyle/>
          <a:p>
            <a:pPr>
              <a:spcAft>
                <a:spcPts val="300"/>
              </a:spcAft>
            </a:pPr>
            <a:r>
              <a:rPr sz="1100" b="1" i="0">
                <a:solidFill>
                  <a:srgbClr val="132C43"/>
                </a:solidFill>
                <a:latin typeface="Bitstream Charter"/>
              </a:rPr>
              <a:t>Precision / recall / F1</a:t>
            </a:r>
          </a:p>
          <a:p>
            <a:pPr>
              <a:spcAft>
                <a:spcPts val="300"/>
              </a:spcAft>
            </a:pPr>
            <a:r>
              <a:rPr sz="1100" b="0" i="0">
                <a:solidFill>
                  <a:srgbClr val="263C50"/>
                </a:solidFill>
                <a:latin typeface="Bitstream Charter"/>
              </a:rPr>
              <a:t>text model: 0.72 / 0.72 / 0.72</a:t>
            </a:r>
          </a:p>
          <a:p>
            <a:pPr>
              <a:spcAft>
                <a:spcPts val="300"/>
              </a:spcAft>
            </a:pPr>
            <a:r>
              <a:rPr sz="1100" b="0" i="0">
                <a:solidFill>
                  <a:srgbClr val="263C50"/>
                </a:solidFill>
                <a:latin typeface="Bitstream Charter"/>
              </a:rPr>
              <a:t>XGBoost (metadata): 0.24 / 0.52 / 0.33</a:t>
            </a:r>
          </a:p>
          <a:p>
            <a:pPr>
              <a:spcAft>
                <a:spcPts val="300"/>
              </a:spcAft>
            </a:pPr>
            <a:r>
              <a:rPr sz="1000" b="0" i="0">
                <a:solidFill>
                  <a:srgbClr val="48677E"/>
                </a:solidFill>
                <a:latin typeface="Bitstream Charter"/>
              </a:rPr>
              <a:t>Dummy PR-AUC equals the base rate: 0.106 (reviews), 0.115 (English subset).</a:t>
            </a:r>
          </a:p>
        </p:txBody>
      </p:sp>
      <p:pic>
        <p:nvPicPr>
          <p:cNvPr id="10" name="Picture 9" descr="game_xgb_confusion.png"/>
          <p:cNvPicPr>
            <a:picLocks noChangeAspect="1"/>
          </p:cNvPicPr>
          <p:nvPr/>
        </p:nvPicPr>
        <p:blipFill>
          <a:blip r:embed="rId4"/>
          <a:stretch>
            <a:fillRect/>
          </a:stretch>
        </p:blipFill>
        <p:spPr>
          <a:xfrm>
            <a:off x="6720840" y="1508760"/>
            <a:ext cx="4846320" cy="1982585"/>
          </a:xfrm>
          <a:prstGeom prst="rect">
            <a:avLst/>
          </a:prstGeom>
        </p:spPr>
      </p:pic>
      <p:sp>
        <p:nvSpPr>
          <p:cNvPr id="11" name="TextBox 10"/>
          <p:cNvSpPr txBox="1"/>
          <p:nvPr/>
        </p:nvSpPr>
        <p:spPr>
          <a:xfrm>
            <a:off x="6720840" y="3611880"/>
            <a:ext cx="4846320" cy="228600"/>
          </a:xfrm>
          <a:prstGeom prst="rect">
            <a:avLst/>
          </a:prstGeom>
          <a:noFill/>
        </p:spPr>
        <p:txBody>
          <a:bodyPr wrap="square" lIns="45720" rIns="45720" tIns="27432" bIns="27432">
            <a:spAutoFit/>
          </a:bodyPr>
          <a:lstStyle/>
          <a:p>
            <a:pPr>
              <a:spcAft>
                <a:spcPts val="400"/>
              </a:spcAft>
            </a:pPr>
            <a:r>
              <a:rPr sz="900" b="0" i="1">
                <a:solidFill>
                  <a:srgbClr val="48677E"/>
                </a:solidFill>
                <a:latin typeface="Bitstream Charter"/>
              </a:rPr>
              <a:t>Game level, XGBoost: confusion matrix (left: default rule)</a:t>
            </a:r>
          </a:p>
        </p:txBody>
      </p:sp>
      <p:sp>
        <p:nvSpPr>
          <p:cNvPr id="12" name="TextBox 11"/>
          <p:cNvSpPr txBox="1"/>
          <p:nvPr/>
        </p:nvSpPr>
        <p:spPr>
          <a:xfrm>
            <a:off x="6720840" y="3931920"/>
            <a:ext cx="4846320" cy="2194560"/>
          </a:xfrm>
          <a:prstGeom prst="rect">
            <a:avLst/>
          </a:prstGeom>
          <a:noFill/>
        </p:spPr>
        <p:txBody>
          <a:bodyPr wrap="square" lIns="45720" rIns="45720" tIns="27432" bIns="27432">
            <a:spAutoFit/>
          </a:bodyPr>
          <a:lstStyle/>
          <a:p>
            <a:pPr>
              <a:spcAft>
                <a:spcPts val="500"/>
              </a:spcAft>
            </a:pPr>
            <a:r>
              <a:rPr sz="1100" b="1" i="0">
                <a:solidFill>
                  <a:srgbClr val="132C43"/>
                </a:solidFill>
                <a:latin typeface="Bitstream Charter"/>
              </a:rPr>
              <a:t>Interpretation  </a:t>
            </a:r>
            <a:r>
              <a:rPr sz="1100" b="0" i="0">
                <a:solidFill>
                  <a:srgbClr val="263C50"/>
                </a:solidFill>
                <a:latin typeface="Bitstream Charter"/>
              </a:rPr>
              <a:t>Metadata alone predicts review negativity weakly (best PR-AUC 0.28 against 0.11 for guessing); the review text is far stronger (0.79). Game tiers are only weakly predictable from the store page (macro-F1 about 0.42 against 0.22): more games would not help. No model wins: the intervals overlap (299 test games).</a:t>
            </a:r>
          </a:p>
          <a:p>
            <a:pPr>
              <a:spcAft>
                <a:spcPts val="500"/>
              </a:spcAft>
            </a:pPr>
            <a:r>
              <a:rPr sz="1100" b="1" i="0">
                <a:solidFill>
                  <a:srgbClr val="132C43"/>
                </a:solidFill>
                <a:latin typeface="Bitstream Charter"/>
              </a:rPr>
              <a:t>Business findings  </a:t>
            </a:r>
            <a:r>
              <a:rPr sz="1100" b="0" i="0">
                <a:solidFill>
                  <a:srgbClr val="263C50"/>
                </a:solidFill>
                <a:latin typeface="Bitstream Charter"/>
              </a:rPr>
              <a:t>Under-2-hour reviews are 21.2% negative against 8.8%; fix controls and the opening first, patch repetition and balance later; price raises early expectations.</a:t>
            </a:r>
          </a:p>
        </p:txBody>
      </p:sp>
    </p:spTree>
    <p:extLst>
      <p:ext uri="{BB962C8B-B14F-4D97-AF65-F5344CB8AC3E}">
        <p14:creationId xmlns:p14="http://schemas.microsoft.com/office/powerpoint/2010/main" val="737816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3F0F2AA-D9AE-451E-88B3-50DA1CB9CA75}"/>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3300" b="1">
                <a:solidFill>
                  <a:srgbClr val="132C43"/>
                </a:solidFill>
                <a:latin typeface="Bitstream Charter"/>
                <a:ea typeface="Bitstream Charter"/>
                <a:cs typeface="Bitstream Charter"/>
              </a:rPr>
              <a:t>Project Tracking and Progress</a:t>
            </a:r>
          </a:p>
        </p:txBody>
      </p:sp>
      <p:sp>
        <p:nvSpPr>
          <p:cNvPr id="4" name="Rectangle 3">
            <a:extLst>
              <a:ext uri="{FF2B5EF4-FFF2-40B4-BE49-F238E27FC236}">
                <a16:creationId xmlns:a16="http://schemas.microsoft.com/office/drawing/2014/main" id="{ED890D8A-37F2-40A9-B076-E90BCFF434B6}"/>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Bitstream Charter"/>
                <a:ea typeface="Bitstream Charter"/>
                <a:cs typeface="Bitstream Charter"/>
              </a:rPr>
              <a:t>09</a:t>
            </a:r>
          </a:p>
        </p:txBody>
      </p:sp>
      <p:sp>
        <p:nvSpPr>
          <p:cNvPr id="6" name="TextBox 5"/>
          <p:cNvSpPr txBox="1"/>
          <p:nvPr/>
        </p:nvSpPr>
        <p:spPr>
          <a:xfrm>
            <a:off x="722376" y="1508760"/>
            <a:ext cx="10789920" cy="566928"/>
          </a:xfrm>
          <a:prstGeom prst="rect">
            <a:avLst/>
          </a:prstGeom>
          <a:noFill/>
        </p:spPr>
        <p:txBody>
          <a:bodyPr wrap="square" lIns="45720" rIns="45720" tIns="27432" bIns="27432">
            <a:spAutoFit/>
          </a:bodyPr>
          <a:lstStyle/>
          <a:p>
            <a:pPr>
              <a:spcAft>
                <a:spcPts val="300"/>
              </a:spcAft>
            </a:pPr>
            <a:r>
              <a:rPr sz="1250" b="1" i="0">
                <a:solidFill>
                  <a:srgbClr val="132C43"/>
                </a:solidFill>
                <a:latin typeface="Bitstream Charter"/>
              </a:rPr>
              <a:t>GitHub Projects board: </a:t>
            </a:r>
            <a:r>
              <a:rPr sz="1250" b="0" i="0">
                <a:solidFill>
                  <a:srgbClr val="48677E"/>
                </a:solidFill>
                <a:latin typeface="Bitstream Charter"/>
                <a:hlinkClick r:id="rId3"/>
              </a:rPr>
              <a:t>https://github.com/users/Shan713/projects/1</a:t>
            </a:r>
            <a:r>
              <a:rPr sz="1100" b="0" i="0">
                <a:solidFill>
                  <a:srgbClr val="48677E"/>
                </a:solidFill>
                <a:latin typeface="Bitstream Charter"/>
              </a:rPr>
              <a:t>  (private to the team)</a:t>
            </a:r>
          </a:p>
          <a:p>
            <a:pPr>
              <a:spcAft>
                <a:spcPts val="300"/>
              </a:spcAft>
            </a:pPr>
            <a:r>
              <a:rPr sz="1250" b="1" i="0">
                <a:solidFill>
                  <a:srgbClr val="132C43"/>
                </a:solidFill>
                <a:latin typeface="Bitstream Charter"/>
              </a:rPr>
              <a:t>Stages: </a:t>
            </a:r>
            <a:r>
              <a:rPr sz="1250" b="0" i="0">
                <a:solidFill>
                  <a:srgbClr val="263C50"/>
                </a:solidFill>
                <a:latin typeface="Bitstream Charter"/>
              </a:rPr>
              <a:t>Backlog → To Do → In Progress → Review/Testing → Completed.  </a:t>
            </a:r>
            <a:r>
              <a:rPr sz="1250" b="1" i="0">
                <a:solidFill>
                  <a:srgbClr val="263C50"/>
                </a:solidFill>
                <a:latin typeface="Bitstream Charter"/>
              </a:rPr>
              <a:t>Review 1 cards: 29  </a:t>
            </a:r>
            <a:r>
              <a:rPr sz="1250" b="0" i="0">
                <a:solidFill>
                  <a:srgbClr val="263C50"/>
                </a:solidFill>
                <a:latin typeface="Bitstream Charter"/>
              </a:rPr>
              <a:t>Completed 24, In Progress 1, To Do 1, Backlog 3.</a:t>
            </a:r>
          </a:p>
        </p:txBody>
      </p:sp>
      <p:graphicFrame>
        <p:nvGraphicFramePr>
          <p:cNvPr id="7" name="Table 6"/>
          <p:cNvGraphicFramePr>
            <a:graphicFrameLocks noGrp="1"/>
          </p:cNvGraphicFramePr>
          <p:nvPr/>
        </p:nvGraphicFramePr>
        <p:xfrm>
          <a:off x="722376" y="2194560"/>
          <a:ext cx="6217920" cy="3685032"/>
        </p:xfrm>
        <a:graphic>
          <a:graphicData uri="http://schemas.openxmlformats.org/drawingml/2006/table">
            <a:tbl>
              <a:tblPr firstRow="0" bandRow="0">
                <a:tableStyleId>{2D5ABB26-0587-4C30-8999-92F81FD0307C}</a:tableStyleId>
              </a:tblPr>
              <a:tblGrid>
                <a:gridCol w="2743200"/>
                <a:gridCol w="1417320"/>
                <a:gridCol w="868680"/>
                <a:gridCol w="1188720"/>
              </a:tblGrid>
              <a:tr h="283464">
                <a:tc>
                  <a:txBody>
                    <a:bodyPr wrap="square"/>
                    <a:lstStyle/>
                    <a:p>
                      <a:r>
                        <a:rPr sz="1000" b="1" i="0">
                          <a:solidFill>
                            <a:srgbClr val="FFFFFF"/>
                          </a:solidFill>
                          <a:latin typeface="Bitstream Charter"/>
                        </a:rPr>
                        <a:t>Task</a:t>
                      </a:r>
                    </a:p>
                  </a:txBody>
                  <a:tcPr marL="64008" marR="64008" marT="32004" marB="32004" anchor="ctr">
                    <a:solidFill>
                      <a:srgbClr val="132C43"/>
                    </a:solidFill>
                  </a:tcPr>
                </a:tc>
                <a:tc>
                  <a:txBody>
                    <a:bodyPr wrap="square"/>
                    <a:lstStyle/>
                    <a:p>
                      <a:r>
                        <a:rPr sz="1000" b="1" i="0">
                          <a:solidFill>
                            <a:srgbClr val="FFFFFF"/>
                          </a:solidFill>
                          <a:latin typeface="Bitstream Charter"/>
                        </a:rPr>
                        <a:t>Assignee</a:t>
                      </a:r>
                    </a:p>
                  </a:txBody>
                  <a:tcPr marL="64008" marR="64008" marT="32004" marB="32004" anchor="ctr">
                    <a:solidFill>
                      <a:srgbClr val="132C43"/>
                    </a:solidFill>
                  </a:tcPr>
                </a:tc>
                <a:tc>
                  <a:txBody>
                    <a:bodyPr wrap="square"/>
                    <a:lstStyle/>
                    <a:p>
                      <a:pPr algn="ctr"/>
                      <a:r>
                        <a:rPr sz="1000" b="1" i="0">
                          <a:solidFill>
                            <a:srgbClr val="FFFFFF"/>
                          </a:solidFill>
                          <a:latin typeface="Bitstream Charter"/>
                        </a:rPr>
                        <a:t>Due (d/m)</a:t>
                      </a:r>
                    </a:p>
                  </a:txBody>
                  <a:tcPr marL="64008" marR="64008" marT="32004" marB="32004" anchor="ctr">
                    <a:solidFill>
                      <a:srgbClr val="132C43"/>
                    </a:solidFill>
                  </a:tcPr>
                </a:tc>
                <a:tc>
                  <a:txBody>
                    <a:bodyPr wrap="square"/>
                    <a:lstStyle/>
                    <a:p>
                      <a:r>
                        <a:rPr sz="1000" b="1" i="0">
                          <a:solidFill>
                            <a:srgbClr val="FFFFFF"/>
                          </a:solidFill>
                          <a:latin typeface="Bitstream Charter"/>
                        </a:rPr>
                        <a:t>Status</a:t>
                      </a:r>
                    </a:p>
                  </a:txBody>
                  <a:tcPr marL="64008" marR="64008" marT="32004" marB="32004" anchor="ctr">
                    <a:solidFill>
                      <a:srgbClr val="132C43"/>
                    </a:solidFill>
                  </a:tcPr>
                </a:tc>
              </a:tr>
              <a:tr h="283464">
                <a:tc>
                  <a:txBody>
                    <a:bodyPr wrap="square"/>
                    <a:lstStyle/>
                    <a:p>
                      <a:r>
                        <a:rPr sz="1000" b="0" i="0">
                          <a:solidFill>
                            <a:srgbClr val="263C50"/>
                          </a:solidFill>
                          <a:latin typeface="Bitstream Charter"/>
                        </a:rPr>
                        <a:t>#11  Run full review scrape</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0" i="0">
                          <a:solidFill>
                            <a:srgbClr val="263C50"/>
                          </a:solidFill>
                          <a:latin typeface="Bitstream Charter"/>
                        </a:rPr>
                        <a:t>Shan713</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00" b="0" i="0">
                          <a:solidFill>
                            <a:srgbClr val="263C50"/>
                          </a:solidFill>
                          <a:latin typeface="Bitstream Charter"/>
                        </a:rPr>
                        <a:t>09/10</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FFFFFF"/>
                    </a:solidFill>
                  </a:tcPr>
                </a:tc>
              </a:tr>
              <a:tr h="283464">
                <a:tc>
                  <a:txBody>
                    <a:bodyPr wrap="square"/>
                    <a:lstStyle/>
                    <a:p>
                      <a:r>
                        <a:rPr sz="1000" b="0" i="0">
                          <a:solidFill>
                            <a:srgbClr val="263C50"/>
                          </a:solidFill>
                          <a:latin typeface="Bitstream Charter"/>
                        </a:rPr>
                        <a:t>#16  Clean the data</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0" i="0">
                          <a:solidFill>
                            <a:srgbClr val="263C50"/>
                          </a:solidFill>
                          <a:latin typeface="Bitstream Charter"/>
                        </a:rPr>
                        <a:t>Shan713</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00" b="0" i="0">
                          <a:solidFill>
                            <a:srgbClr val="263C50"/>
                          </a:solidFill>
                          <a:latin typeface="Bitstream Charter"/>
                        </a:rPr>
                        <a:t>13/10</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EAF0F6"/>
                    </a:solidFill>
                  </a:tcPr>
                </a:tc>
              </a:tr>
              <a:tr h="283464">
                <a:tc>
                  <a:txBody>
                    <a:bodyPr wrap="square"/>
                    <a:lstStyle/>
                    <a:p>
                      <a:r>
                        <a:rPr sz="1000" b="0" i="0">
                          <a:solidFill>
                            <a:srgbClr val="263C50"/>
                          </a:solidFill>
                          <a:latin typeface="Bitstream Charter"/>
                        </a:rPr>
                        <a:t>#20  EDA part 1</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0" i="0">
                          <a:solidFill>
                            <a:srgbClr val="263C50"/>
                          </a:solidFill>
                          <a:latin typeface="Bitstream Charter"/>
                        </a:rPr>
                        <a:t>srihithathotakura</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00" b="0" i="0">
                          <a:solidFill>
                            <a:srgbClr val="263C50"/>
                          </a:solidFill>
                          <a:latin typeface="Bitstream Charter"/>
                        </a:rPr>
                        <a:t>14/10</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FFFFFF"/>
                    </a:solidFill>
                  </a:tcPr>
                </a:tc>
              </a:tr>
              <a:tr h="283464">
                <a:tc>
                  <a:txBody>
                    <a:bodyPr wrap="square"/>
                    <a:lstStyle/>
                    <a:p>
                      <a:r>
                        <a:rPr sz="1000" b="0" i="0">
                          <a:solidFill>
                            <a:srgbClr val="263C50"/>
                          </a:solidFill>
                          <a:latin typeface="Bitstream Charter"/>
                        </a:rPr>
                        <a:t>#18  Feature engineering</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0" i="0">
                          <a:solidFill>
                            <a:srgbClr val="263C50"/>
                          </a:solidFill>
                          <a:latin typeface="Bitstream Charter"/>
                        </a:rPr>
                        <a:t>gayas-sheik</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00" b="0" i="0">
                          <a:solidFill>
                            <a:srgbClr val="263C50"/>
                          </a:solidFill>
                          <a:latin typeface="Bitstream Charter"/>
                        </a:rPr>
                        <a:t>15/10</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EAF0F6"/>
                    </a:solidFill>
                  </a:tcPr>
                </a:tc>
              </a:tr>
              <a:tr h="283464">
                <a:tc>
                  <a:txBody>
                    <a:bodyPr wrap="square"/>
                    <a:lstStyle/>
                    <a:p>
                      <a:r>
                        <a:rPr sz="1000" b="0" i="0">
                          <a:solidFill>
                            <a:srgbClr val="263C50"/>
                          </a:solidFill>
                          <a:latin typeface="Bitstream Charter"/>
                        </a:rPr>
                        <a:t>#19  Dimensionality reduction</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0" i="0">
                          <a:solidFill>
                            <a:srgbClr val="263C50"/>
                          </a:solidFill>
                          <a:latin typeface="Bitstream Charter"/>
                        </a:rPr>
                        <a:t>gayas-sheik</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00" b="0" i="0">
                          <a:solidFill>
                            <a:srgbClr val="263C50"/>
                          </a:solidFill>
                          <a:latin typeface="Bitstream Charter"/>
                        </a:rPr>
                        <a:t>16/10</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FFFFFF"/>
                    </a:solidFill>
                  </a:tcPr>
                </a:tc>
              </a:tr>
              <a:tr h="283464">
                <a:tc>
                  <a:txBody>
                    <a:bodyPr wrap="square"/>
                    <a:lstStyle/>
                    <a:p>
                      <a:r>
                        <a:rPr sz="1000" b="0" i="0">
                          <a:solidFill>
                            <a:srgbClr val="263C50"/>
                          </a:solidFill>
                          <a:latin typeface="Bitstream Charter"/>
                        </a:rPr>
                        <a:t>#23  Targets, split, baseline</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1" i="0">
                          <a:solidFill>
                            <a:srgbClr val="D1495B"/>
                          </a:solidFill>
                          <a:latin typeface="Bitstream Charter"/>
                        </a:rPr>
                        <a:t>unassigned</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00" b="0" i="0">
                          <a:solidFill>
                            <a:srgbClr val="263C50"/>
                          </a:solidFill>
                          <a:latin typeface="Bitstream Charter"/>
                        </a:rPr>
                        <a:t>15/10</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EAF0F6"/>
                    </a:solidFill>
                  </a:tcPr>
                </a:tc>
              </a:tr>
              <a:tr h="283464">
                <a:tc>
                  <a:txBody>
                    <a:bodyPr wrap="square"/>
                    <a:lstStyle/>
                    <a:p>
                      <a:r>
                        <a:rPr sz="1000" b="0" i="0">
                          <a:solidFill>
                            <a:srgbClr val="263C50"/>
                          </a:solidFill>
                          <a:latin typeface="Bitstream Charter"/>
                        </a:rPr>
                        <a:t>#24  Review-level models</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1" i="0">
                          <a:solidFill>
                            <a:srgbClr val="D1495B"/>
                          </a:solidFill>
                          <a:latin typeface="Bitstream Charter"/>
                        </a:rPr>
                        <a:t>unassigned</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00" b="0" i="0">
                          <a:solidFill>
                            <a:srgbClr val="263C50"/>
                          </a:solidFill>
                          <a:latin typeface="Bitstream Charter"/>
                        </a:rPr>
                        <a:t>17/10</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FFFFFF"/>
                    </a:solidFill>
                  </a:tcPr>
                </a:tc>
              </a:tr>
              <a:tr h="283464">
                <a:tc>
                  <a:txBody>
                    <a:bodyPr wrap="square"/>
                    <a:lstStyle/>
                    <a:p>
                      <a:r>
                        <a:rPr sz="1000" b="0" i="0">
                          <a:solidFill>
                            <a:srgbClr val="263C50"/>
                          </a:solidFill>
                          <a:latin typeface="Bitstream Charter"/>
                        </a:rPr>
                        <a:t>#25  Game-level models</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1" i="0">
                          <a:solidFill>
                            <a:srgbClr val="D1495B"/>
                          </a:solidFill>
                          <a:latin typeface="Bitstream Charter"/>
                        </a:rPr>
                        <a:t>unassigned</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00" b="0" i="0">
                          <a:solidFill>
                            <a:srgbClr val="263C50"/>
                          </a:solidFill>
                          <a:latin typeface="Bitstream Charter"/>
                        </a:rPr>
                        <a:t>18/10</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EAF0F6"/>
                    </a:solidFill>
                  </a:tcPr>
                </a:tc>
              </a:tr>
              <a:tr h="283464">
                <a:tc>
                  <a:txBody>
                    <a:bodyPr wrap="square"/>
                    <a:lstStyle/>
                    <a:p>
                      <a:r>
                        <a:rPr sz="1000" b="0" i="0">
                          <a:solidFill>
                            <a:srgbClr val="263C50"/>
                          </a:solidFill>
                          <a:latin typeface="Bitstream Charter"/>
                        </a:rPr>
                        <a:t>#26  Evaluation and meaning</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1" i="0">
                          <a:solidFill>
                            <a:srgbClr val="D1495B"/>
                          </a:solidFill>
                          <a:latin typeface="Bitstream Charter"/>
                        </a:rPr>
                        <a:t>unassigned</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00" b="0" i="0">
                          <a:solidFill>
                            <a:srgbClr val="263C50"/>
                          </a:solidFill>
                          <a:latin typeface="Bitstream Charter"/>
                        </a:rPr>
                        <a:t>19/10</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FFFFFF"/>
                    </a:solidFill>
                  </a:tcPr>
                </a:tc>
              </a:tr>
              <a:tr h="283464">
                <a:tc>
                  <a:txBody>
                    <a:bodyPr wrap="square"/>
                    <a:lstStyle/>
                    <a:p>
                      <a:r>
                        <a:rPr sz="1000" b="0" i="0">
                          <a:solidFill>
                            <a:srgbClr val="263C50"/>
                          </a:solidFill>
                          <a:latin typeface="Bitstream Charter"/>
                        </a:rPr>
                        <a:t>#27  Notebook and findings</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1" i="0">
                          <a:solidFill>
                            <a:srgbClr val="D1495B"/>
                          </a:solidFill>
                          <a:latin typeface="Bitstream Charter"/>
                        </a:rPr>
                        <a:t>unassigned</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00" b="0" i="0">
                          <a:solidFill>
                            <a:srgbClr val="263C50"/>
                          </a:solidFill>
                          <a:latin typeface="Bitstream Charter"/>
                        </a:rPr>
                        <a:t>20/10</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EAF0F6"/>
                    </a:solidFill>
                  </a:tcPr>
                </a:tc>
              </a:tr>
              <a:tr h="283464">
                <a:tc>
                  <a:txBody>
                    <a:bodyPr wrap="square"/>
                    <a:lstStyle/>
                    <a:p>
                      <a:r>
                        <a:rPr sz="1000" b="0" i="0">
                          <a:solidFill>
                            <a:srgbClr val="263C50"/>
                          </a:solidFill>
                          <a:latin typeface="Bitstream Charter"/>
                        </a:rPr>
                        <a:t>#6  Problem statement</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1" i="0">
                          <a:solidFill>
                            <a:srgbClr val="D1495B"/>
                          </a:solidFill>
                          <a:latin typeface="Bitstream Charter"/>
                        </a:rPr>
                        <a:t>unassigned</a:t>
                      </a:r>
                    </a:p>
                  </a:txBody>
                  <a:tcPr marL="64008" marR="64008" marT="32004" marB="32004" anchor="ctr">
                    <a:lnB w="9525" cap="flat" cmpd="sng" algn="ctr">
                      <a:solidFill>
                        <a:srgbClr val="C9D6E2"/>
                      </a:solidFill>
                      <a:prstDash val="solid"/>
                    </a:lnB>
                    <a:solidFill>
                      <a:srgbClr val="FFFFFF"/>
                    </a:solidFill>
                  </a:tcPr>
                </a:tc>
                <a:tc>
                  <a:txBody>
                    <a:bodyPr wrap="square"/>
                    <a:lstStyle/>
                    <a:p>
                      <a:pPr algn="ctr"/>
                      <a:r>
                        <a:rPr sz="1000" b="0" i="0">
                          <a:solidFill>
                            <a:srgbClr val="263C50"/>
                          </a:solidFill>
                          <a:latin typeface="Bitstream Charter"/>
                        </a:rPr>
                        <a:t>03/10</a:t>
                      </a:r>
                    </a:p>
                  </a:txBody>
                  <a:tcPr marL="64008" marR="64008" marT="32004" marB="32004" anchor="ctr">
                    <a:lnB w="9525" cap="flat" cmpd="sng" algn="ctr">
                      <a:solidFill>
                        <a:srgbClr val="C9D6E2"/>
                      </a:solidFill>
                      <a:prstDash val="solid"/>
                    </a:lnB>
                    <a:solidFill>
                      <a:srgbClr val="FFFFFF"/>
                    </a:solidFill>
                  </a:tcPr>
                </a:tc>
                <a:tc>
                  <a:txBody>
                    <a:bodyPr wrap="square"/>
                    <a:lstStyle/>
                    <a:p>
                      <a:r>
                        <a:rPr sz="1000" b="0" i="0">
                          <a:solidFill>
                            <a:srgbClr val="263C50"/>
                          </a:solidFill>
                          <a:latin typeface="Bitstream Charter"/>
                        </a:rPr>
                        <a:t>Completed</a:t>
                      </a:r>
                    </a:p>
                  </a:txBody>
                  <a:tcPr marL="64008" marR="64008" marT="32004" marB="32004" anchor="ctr">
                    <a:lnB w="9525" cap="flat" cmpd="sng" algn="ctr">
                      <a:solidFill>
                        <a:srgbClr val="C9D6E2"/>
                      </a:solidFill>
                      <a:prstDash val="solid"/>
                    </a:lnB>
                    <a:solidFill>
                      <a:srgbClr val="FFFFFF"/>
                    </a:solidFill>
                  </a:tcPr>
                </a:tc>
              </a:tr>
              <a:tr h="283464">
                <a:tc>
                  <a:txBody>
                    <a:bodyPr wrap="square"/>
                    <a:lstStyle/>
                    <a:p>
                      <a:r>
                        <a:rPr sz="1000" b="0" i="0">
                          <a:solidFill>
                            <a:srgbClr val="263C50"/>
                          </a:solidFill>
                          <a:latin typeface="Bitstream Charter"/>
                        </a:rPr>
                        <a:t>#22  Final charts</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1" i="0">
                          <a:solidFill>
                            <a:srgbClr val="D1495B"/>
                          </a:solidFill>
                          <a:latin typeface="Bitstream Charter"/>
                        </a:rPr>
                        <a:t>unassigned</a:t>
                      </a:r>
                    </a:p>
                  </a:txBody>
                  <a:tcPr marL="64008" marR="64008" marT="32004" marB="32004" anchor="ctr">
                    <a:lnB w="9525" cap="flat" cmpd="sng" algn="ctr">
                      <a:solidFill>
                        <a:srgbClr val="C9D6E2"/>
                      </a:solidFill>
                      <a:prstDash val="solid"/>
                    </a:lnB>
                    <a:solidFill>
                      <a:srgbClr val="EAF0F6"/>
                    </a:solidFill>
                  </a:tcPr>
                </a:tc>
                <a:tc>
                  <a:txBody>
                    <a:bodyPr wrap="square"/>
                    <a:lstStyle/>
                    <a:p>
                      <a:pPr algn="ctr"/>
                      <a:r>
                        <a:rPr sz="1000" b="0" i="0">
                          <a:solidFill>
                            <a:srgbClr val="263C50"/>
                          </a:solidFill>
                          <a:latin typeface="Bitstream Charter"/>
                        </a:rPr>
                        <a:t>04/10</a:t>
                      </a:r>
                    </a:p>
                  </a:txBody>
                  <a:tcPr marL="64008" marR="64008" marT="32004" marB="32004" anchor="ctr">
                    <a:lnB w="9525" cap="flat" cmpd="sng" algn="ctr">
                      <a:solidFill>
                        <a:srgbClr val="C9D6E2"/>
                      </a:solidFill>
                      <a:prstDash val="solid"/>
                    </a:lnB>
                    <a:solidFill>
                      <a:srgbClr val="EAF0F6"/>
                    </a:solidFill>
                  </a:tcPr>
                </a:tc>
                <a:tc>
                  <a:txBody>
                    <a:bodyPr wrap="square"/>
                    <a:lstStyle/>
                    <a:p>
                      <a:r>
                        <a:rPr sz="1000" b="0" i="0">
                          <a:solidFill>
                            <a:srgbClr val="263C50"/>
                          </a:solidFill>
                          <a:latin typeface="Bitstream Charter"/>
                        </a:rPr>
                        <a:t>In Progress</a:t>
                      </a:r>
                    </a:p>
                  </a:txBody>
                  <a:tcPr marL="64008" marR="64008" marT="32004" marB="32004" anchor="ctr">
                    <a:lnB w="9525" cap="flat" cmpd="sng" algn="ctr">
                      <a:solidFill>
                        <a:srgbClr val="C9D6E2"/>
                      </a:solidFill>
                      <a:prstDash val="solid"/>
                    </a:lnB>
                    <a:solidFill>
                      <a:srgbClr val="EAF0F6"/>
                    </a:solidFill>
                  </a:tcPr>
                </a:tc>
              </a:tr>
            </a:tbl>
          </a:graphicData>
        </a:graphic>
      </p:graphicFrame>
      <p:sp>
        <p:nvSpPr>
          <p:cNvPr id="8" name="TextBox 7"/>
          <p:cNvSpPr txBox="1"/>
          <p:nvPr/>
        </p:nvSpPr>
        <p:spPr>
          <a:xfrm>
            <a:off x="7178040" y="2148840"/>
            <a:ext cx="4389120" cy="3840480"/>
          </a:xfrm>
          <a:prstGeom prst="rect">
            <a:avLst/>
          </a:prstGeom>
          <a:noFill/>
        </p:spPr>
        <p:txBody>
          <a:bodyPr wrap="square" lIns="45720" rIns="45720" tIns="27432" bIns="27432">
            <a:spAutoFit/>
          </a:bodyPr>
          <a:lstStyle/>
          <a:p>
            <a:pPr>
              <a:spcAft>
                <a:spcPts val="500"/>
              </a:spcAft>
            </a:pPr>
            <a:r>
              <a:rPr sz="1100" b="1" i="0">
                <a:solidFill>
                  <a:srgbClr val="132C43"/>
                </a:solidFill>
                <a:latin typeface="Bitstream Charter"/>
              </a:rPr>
              <a:t>Activity history (dated)</a:t>
            </a:r>
          </a:p>
          <a:p>
            <a:pPr>
              <a:spcAft>
                <a:spcPts val="500"/>
              </a:spcAft>
            </a:pPr>
            <a:r>
              <a:rPr sz="1100" b="1" i="0">
                <a:solidFill>
                  <a:srgbClr val="263C50"/>
                </a:solidFill>
                <a:latin typeface="Bitstream Charter"/>
              </a:rPr>
              <a:t>1–2 Oct  </a:t>
            </a:r>
            <a:r>
              <a:rPr sz="1100" b="0" i="0">
                <a:solidFill>
                  <a:srgbClr val="263C50"/>
                </a:solidFill>
                <a:latin typeface="Bitstream Charter"/>
              </a:rPr>
              <a:t>1,861-game universe, 1.65M reviews scraped, raw data frozen; cleaning pipeline; EDA (PR #1) and tag SVD (PR #2) opened.</a:t>
            </a:r>
          </a:p>
          <a:p>
            <a:pPr>
              <a:spcAft>
                <a:spcPts val="500"/>
              </a:spcAft>
            </a:pPr>
            <a:r>
              <a:rPr sz="1100" b="1" i="0">
                <a:solidFill>
                  <a:srgbClr val="263C50"/>
                </a:solidFill>
                <a:latin typeface="Bitstream Charter"/>
              </a:rPr>
              <a:t>3 Oct  </a:t>
            </a:r>
            <a:r>
              <a:rPr sz="1100" b="0" i="0">
                <a:solidFill>
                  <a:srgbClr val="263C50"/>
                </a:solidFill>
                <a:latin typeface="Bitstream Charter"/>
              </a:rPr>
              <a:t>Board created; shared split, features, game tiers, README (PRs #51–#54); XGBoost models (PR #55); SVD fixes (#49, #50).</a:t>
            </a:r>
          </a:p>
          <a:p>
            <a:pPr>
              <a:spcAft>
                <a:spcPts val="500"/>
              </a:spcAft>
            </a:pPr>
            <a:r>
              <a:rPr sz="1100" b="1" i="0">
                <a:solidFill>
                  <a:srgbClr val="263C50"/>
                </a:solidFill>
                <a:latin typeface="Bitstream Charter"/>
              </a:rPr>
              <a:t>4 Oct  </a:t>
            </a:r>
            <a:r>
              <a:rPr sz="1100" b="0" i="0">
                <a:solidFill>
                  <a:srgbClr val="263C50"/>
                </a:solidFill>
                <a:latin typeface="Bitstream Charter"/>
              </a:rPr>
              <a:t>Model comparison, text models, business findings, problem statement, notebook (PRs #56, #57); review dates set.</a:t>
            </a:r>
          </a:p>
          <a:p>
            <a:pPr>
              <a:spcAft>
                <a:spcPts val="500"/>
              </a:spcAft>
            </a:pPr>
            <a:r>
              <a:rPr sz="1100" b="0" i="1">
                <a:solidFill>
                  <a:srgbClr val="48677E"/>
                </a:solidFill>
                <a:latin typeface="Bitstream Charter"/>
              </a:rPr>
              <a:t>46 cards, 10 merged PRs, 31 commits by 4 contributors.</a:t>
            </a:r>
          </a:p>
          <a:p>
            <a:pPr>
              <a:spcAft>
                <a:spcPts val="500"/>
              </a:spcAft>
            </a:pPr>
            <a:r>
              <a:rPr sz="1100" b="1" i="0">
                <a:solidFill>
                  <a:srgbClr val="132C43"/>
                </a:solidFill>
                <a:latin typeface="Bitstream Charter"/>
              </a:rPr>
              <a:t>Evidence: </a:t>
            </a:r>
            <a:r>
              <a:rPr sz="1100" b="0" i="0">
                <a:solidFill>
                  <a:srgbClr val="263C50"/>
                </a:solidFill>
                <a:latin typeface="Bitstream Charter"/>
              </a:rPr>
              <a:t>every card links its file in the Evidence field; repository </a:t>
            </a:r>
            <a:r>
              <a:rPr sz="1100" b="0" i="0">
                <a:solidFill>
                  <a:srgbClr val="48677E"/>
                </a:solidFill>
                <a:latin typeface="Bitstream Charter"/>
                <a:hlinkClick r:id="rId4"/>
              </a:rPr>
              <a:t>github.com/Shan713/IndieGuard</a:t>
            </a:r>
          </a:p>
        </p:txBody>
      </p:sp>
    </p:spTree>
    <p:extLst>
      <p:ext uri="{BB962C8B-B14F-4D97-AF65-F5344CB8AC3E}">
        <p14:creationId xmlns:p14="http://schemas.microsoft.com/office/powerpoint/2010/main" val="382719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3ABBC82-584F-45E6-AAB2-5127018ABB61}"/>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3300" b="1">
                <a:solidFill>
                  <a:srgbClr val="132C43"/>
                </a:solidFill>
                <a:latin typeface="Bitstream Charter"/>
                <a:ea typeface="Bitstream Charter"/>
                <a:cs typeface="Bitstream Charter"/>
              </a:rPr>
              <a:t>Individual Contributions and Next Steps</a:t>
            </a:r>
          </a:p>
        </p:txBody>
      </p:sp>
      <p:sp>
        <p:nvSpPr>
          <p:cNvPr id="4" name="Rectangle 3">
            <a:extLst>
              <a:ext uri="{FF2B5EF4-FFF2-40B4-BE49-F238E27FC236}">
                <a16:creationId xmlns:a16="http://schemas.microsoft.com/office/drawing/2014/main" id="{169D0911-0185-448C-9EAD-CD711521C4E4}"/>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Bitstream Charter"/>
                <a:ea typeface="Bitstream Charter"/>
                <a:cs typeface="Bitstream Charter"/>
              </a:rPr>
              <a:t>10</a:t>
            </a:r>
          </a:p>
        </p:txBody>
      </p:sp>
      <p:graphicFrame>
        <p:nvGraphicFramePr>
          <p:cNvPr id="6" name="Table 5"/>
          <p:cNvGraphicFramePr>
            <a:graphicFrameLocks noGrp="1"/>
          </p:cNvGraphicFramePr>
          <p:nvPr/>
        </p:nvGraphicFramePr>
        <p:xfrm>
          <a:off x="722376" y="1481328"/>
          <a:ext cx="10744200" cy="2743200"/>
        </p:xfrm>
        <a:graphic>
          <a:graphicData uri="http://schemas.openxmlformats.org/drawingml/2006/table">
            <a:tbl>
              <a:tblPr firstRow="0" bandRow="0">
                <a:tableStyleId>{2D5ABB26-0587-4C30-8999-92F81FD0307C}</a:tableStyleId>
              </a:tblPr>
              <a:tblGrid>
                <a:gridCol w="2148840"/>
                <a:gridCol w="6126480"/>
                <a:gridCol w="2468880"/>
              </a:tblGrid>
              <a:tr h="457200">
                <a:tc>
                  <a:txBody>
                    <a:bodyPr wrap="square"/>
                    <a:lstStyle/>
                    <a:p>
                      <a:r>
                        <a:rPr sz="950" b="1" i="0">
                          <a:solidFill>
                            <a:srgbClr val="FFFFFF"/>
                          </a:solidFill>
                          <a:latin typeface="Bitstream Charter"/>
                        </a:rPr>
                        <a:t>Member / register no.</a:t>
                      </a:r>
                    </a:p>
                  </a:txBody>
                  <a:tcPr marL="64008" marR="64008" marT="32004" marB="32004" anchor="ctr">
                    <a:solidFill>
                      <a:srgbClr val="132C43"/>
                    </a:solidFill>
                  </a:tcPr>
                </a:tc>
                <a:tc>
                  <a:txBody>
                    <a:bodyPr wrap="square"/>
                    <a:lstStyle/>
                    <a:p>
                      <a:r>
                        <a:rPr sz="950" b="1" i="0">
                          <a:solidFill>
                            <a:srgbClr val="FFFFFF"/>
                          </a:solidFill>
                          <a:latin typeface="Bitstream Charter"/>
                        </a:rPr>
                        <a:t>Completed tasks and evidence</a:t>
                      </a:r>
                    </a:p>
                  </a:txBody>
                  <a:tcPr marL="64008" marR="64008" marT="32004" marB="32004" anchor="ctr">
                    <a:solidFill>
                      <a:srgbClr val="132C43"/>
                    </a:solidFill>
                  </a:tcPr>
                </a:tc>
                <a:tc>
                  <a:txBody>
                    <a:bodyPr wrap="square"/>
                    <a:lstStyle/>
                    <a:p>
                      <a:r>
                        <a:rPr sz="950" b="1" i="0">
                          <a:solidFill>
                            <a:srgbClr val="FFFFFF"/>
                          </a:solidFill>
                          <a:latin typeface="Bitstream Charter"/>
                        </a:rPr>
                        <a:t>Pending work</a:t>
                      </a:r>
                    </a:p>
                  </a:txBody>
                  <a:tcPr marL="64008" marR="64008" marT="32004" marB="32004" anchor="ctr">
                    <a:solidFill>
                      <a:srgbClr val="132C43"/>
                    </a:solidFill>
                  </a:tcPr>
                </a:tc>
              </a:tr>
              <a:tr h="457200">
                <a:tc>
                  <a:txBody>
                    <a:bodyPr wrap="square"/>
                    <a:lstStyle/>
                    <a:p>
                      <a:r>
                        <a:rPr sz="950" b="1" i="0">
                          <a:solidFill>
                            <a:srgbClr val="263C50"/>
                          </a:solidFill>
                          <a:latin typeface="Bitstream Charter"/>
                        </a:rPr>
                        <a:t>Shantharam P</a:t>
                      </a:r>
                      <a:r>
                        <a:rPr sz="950" b="0" i="0">
                          <a:solidFill>
                            <a:srgbClr val="263C50"/>
                          </a:solidFill>
                          <a:latin typeface="Bitstream Charter"/>
                        </a:rPr>
                        <a:t> / </a:t>
                      </a:r>
                      <a:r>
                        <a:rPr sz="950" b="1" i="0">
                          <a:solidFill>
                            <a:srgbClr val="B7791F"/>
                          </a:solidFill>
                          <a:latin typeface="Bitstream Charter"/>
                        </a:rPr>
                        <a:t>[reg. no.]</a:t>
                      </a:r>
                    </a:p>
                  </a:txBody>
                  <a:tcPr marL="64008" marR="64008" marT="32004" marB="32004" anchor="ctr">
                    <a:lnB w="9525" cap="flat" cmpd="sng" algn="ctr">
                      <a:solidFill>
                        <a:srgbClr val="C9D6E2"/>
                      </a:solidFill>
                      <a:prstDash val="solid"/>
                    </a:lnB>
                    <a:solidFill>
                      <a:srgbClr val="FFFFFF"/>
                    </a:solidFill>
                  </a:tcPr>
                </a:tc>
                <a:tc>
                  <a:txBody>
                    <a:bodyPr wrap="square"/>
                    <a:lstStyle/>
                    <a:p>
                      <a:r>
                        <a:rPr sz="950" b="0" i="0">
                          <a:solidFill>
                            <a:srgbClr val="263C50"/>
                          </a:solidFill>
                          <a:latin typeface="Bitstream Charter"/>
                        </a:rPr>
                        <a:t>Data collection and cleaning, dataset documentation, shared split, features and game tiers, model comparison and text models, findings, problem statement, notebook, board. Evidence: src/collect, src/clean, src/features, src/models, docs/</a:t>
                      </a:r>
                    </a:p>
                  </a:txBody>
                  <a:tcPr marL="64008" marR="64008" marT="32004" marB="32004" anchor="ctr">
                    <a:lnB w="9525" cap="flat" cmpd="sng" algn="ctr">
                      <a:solidFill>
                        <a:srgbClr val="C9D6E2"/>
                      </a:solidFill>
                      <a:prstDash val="solid"/>
                    </a:lnB>
                    <a:solidFill>
                      <a:srgbClr val="FFFFFF"/>
                    </a:solidFill>
                  </a:tcPr>
                </a:tc>
                <a:tc>
                  <a:txBody>
                    <a:bodyPr wrap="square"/>
                    <a:lstStyle/>
                    <a:p>
                      <a:r>
                        <a:rPr sz="950" b="0" i="0">
                          <a:solidFill>
                            <a:srgbClr val="263C50"/>
                          </a:solidFill>
                          <a:latin typeface="Bitstream Charter"/>
                        </a:rPr>
                        <a:t>Slides rehearsal; board owners</a:t>
                      </a:r>
                    </a:p>
                  </a:txBody>
                  <a:tcPr marL="64008" marR="64008" marT="32004" marB="32004" anchor="ctr">
                    <a:lnB w="9525" cap="flat" cmpd="sng" algn="ctr">
                      <a:solidFill>
                        <a:srgbClr val="C9D6E2"/>
                      </a:solidFill>
                      <a:prstDash val="solid"/>
                    </a:lnB>
                    <a:solidFill>
                      <a:srgbClr val="FFFFFF"/>
                    </a:solidFill>
                  </a:tcPr>
                </a:tc>
              </a:tr>
              <a:tr h="457200">
                <a:tc>
                  <a:txBody>
                    <a:bodyPr wrap="square"/>
                    <a:lstStyle/>
                    <a:p>
                      <a:r>
                        <a:rPr sz="950" b="1" i="0">
                          <a:solidFill>
                            <a:srgbClr val="263C50"/>
                          </a:solidFill>
                          <a:latin typeface="Bitstream Charter"/>
                        </a:rPr>
                        <a:t>Gayas Sheik</a:t>
                      </a:r>
                      <a:r>
                        <a:rPr sz="950" b="0" i="0">
                          <a:solidFill>
                            <a:srgbClr val="263C50"/>
                          </a:solidFill>
                          <a:latin typeface="Bitstream Charter"/>
                        </a:rPr>
                        <a:t> / </a:t>
                      </a:r>
                      <a:r>
                        <a:rPr sz="950" b="1" i="0">
                          <a:solidFill>
                            <a:srgbClr val="B7791F"/>
                          </a:solidFill>
                          <a:latin typeface="Bitstream Charter"/>
                        </a:rPr>
                        <a:t>[reg. no.]</a:t>
                      </a:r>
                    </a:p>
                  </a:txBody>
                  <a:tcPr marL="64008" marR="64008" marT="32004" marB="32004" anchor="ctr">
                    <a:lnB w="9525" cap="flat" cmpd="sng" algn="ctr">
                      <a:solidFill>
                        <a:srgbClr val="C9D6E2"/>
                      </a:solidFill>
                      <a:prstDash val="solid"/>
                    </a:lnB>
                    <a:solidFill>
                      <a:srgbClr val="EAF0F6"/>
                    </a:solidFill>
                  </a:tcPr>
                </a:tc>
                <a:tc>
                  <a:txBody>
                    <a:bodyPr wrap="square"/>
                    <a:lstStyle/>
                    <a:p>
                      <a:r>
                        <a:rPr sz="950" b="0" i="0">
                          <a:solidFill>
                            <a:srgbClr val="263C50"/>
                          </a:solidFill>
                          <a:latin typeface="Bitstream Charter"/>
                        </a:rPr>
                        <a:t>Tag dimensionality reduction (train/test fit, portable paths), co-author of the feature pipeline. Evidence: PRs #2, #49, #50; src/dimensionality_reduction</a:t>
                      </a:r>
                    </a:p>
                  </a:txBody>
                  <a:tcPr marL="64008" marR="64008" marT="32004" marB="32004" anchor="ctr">
                    <a:lnB w="9525" cap="flat" cmpd="sng" algn="ctr">
                      <a:solidFill>
                        <a:srgbClr val="C9D6E2"/>
                      </a:solidFill>
                      <a:prstDash val="solid"/>
                    </a:lnB>
                    <a:solidFill>
                      <a:srgbClr val="EAF0F6"/>
                    </a:solidFill>
                  </a:tcPr>
                </a:tc>
                <a:tc>
                  <a:txBody>
                    <a:bodyPr wrap="square"/>
                    <a:lstStyle/>
                    <a:p>
                      <a:r>
                        <a:rPr sz="950" b="0" i="0">
                          <a:solidFill>
                            <a:srgbClr val="263C50"/>
                          </a:solidFill>
                          <a:latin typeface="Bitstream Charter"/>
                        </a:rPr>
                        <a:t>Contribution summaries (#29); analysis-table card (#15)</a:t>
                      </a:r>
                    </a:p>
                  </a:txBody>
                  <a:tcPr marL="64008" marR="64008" marT="32004" marB="32004" anchor="ctr">
                    <a:lnB w="9525" cap="flat" cmpd="sng" algn="ctr">
                      <a:solidFill>
                        <a:srgbClr val="C9D6E2"/>
                      </a:solidFill>
                      <a:prstDash val="solid"/>
                    </a:lnB>
                    <a:solidFill>
                      <a:srgbClr val="EAF0F6"/>
                    </a:solidFill>
                  </a:tcPr>
                </a:tc>
              </a:tr>
              <a:tr h="457200">
                <a:tc>
                  <a:txBody>
                    <a:bodyPr wrap="square"/>
                    <a:lstStyle/>
                    <a:p>
                      <a:r>
                        <a:rPr sz="950" b="1" i="0">
                          <a:solidFill>
                            <a:srgbClr val="263C50"/>
                          </a:solidFill>
                          <a:latin typeface="Bitstream Charter"/>
                        </a:rPr>
                        <a:t>Srihitha</a:t>
                      </a:r>
                      <a:r>
                        <a:rPr sz="950" b="0" i="0">
                          <a:solidFill>
                            <a:srgbClr val="263C50"/>
                          </a:solidFill>
                          <a:latin typeface="Bitstream Charter"/>
                        </a:rPr>
                        <a:t> / </a:t>
                      </a:r>
                      <a:r>
                        <a:rPr sz="950" b="1" i="0">
                          <a:solidFill>
                            <a:srgbClr val="B7791F"/>
                          </a:solidFill>
                          <a:latin typeface="Bitstream Charter"/>
                        </a:rPr>
                        <a:t>[reg. no.]</a:t>
                      </a:r>
                    </a:p>
                  </a:txBody>
                  <a:tcPr marL="64008" marR="64008" marT="32004" marB="32004" anchor="ctr">
                    <a:lnB w="9525" cap="flat" cmpd="sng" algn="ctr">
                      <a:solidFill>
                        <a:srgbClr val="C9D6E2"/>
                      </a:solidFill>
                      <a:prstDash val="solid"/>
                    </a:lnB>
                    <a:solidFill>
                      <a:srgbClr val="FFFFFF"/>
                    </a:solidFill>
                  </a:tcPr>
                </a:tc>
                <a:tc>
                  <a:txBody>
                    <a:bodyPr wrap="square"/>
                    <a:lstStyle/>
                    <a:p>
                      <a:r>
                        <a:rPr sz="950" b="0" i="0">
                          <a:solidFill>
                            <a:srgbClr val="263C50"/>
                          </a:solidFill>
                          <a:latin typeface="Bitstream Charter"/>
                        </a:rPr>
                        <a:t>EDA notebook with 29 figures. Evidence: PR #1; notebooks/02_EDA_Visualizations.ipynb</a:t>
                      </a:r>
                    </a:p>
                  </a:txBody>
                  <a:tcPr marL="64008" marR="64008" marT="32004" marB="32004" anchor="ctr">
                    <a:lnB w="9525" cap="flat" cmpd="sng" algn="ctr">
                      <a:solidFill>
                        <a:srgbClr val="C9D6E2"/>
                      </a:solidFill>
                      <a:prstDash val="solid"/>
                    </a:lnB>
                    <a:solidFill>
                      <a:srgbClr val="FFFFFF"/>
                    </a:solidFill>
                  </a:tcPr>
                </a:tc>
                <a:tc>
                  <a:txBody>
                    <a:bodyPr wrap="square"/>
                    <a:lstStyle/>
                    <a:p>
                      <a:r>
                        <a:rPr sz="950" b="0" i="0">
                          <a:solidFill>
                            <a:srgbClr val="263C50"/>
                          </a:solidFill>
                          <a:latin typeface="Bitstream Charter"/>
                        </a:rPr>
                        <a:t>Final charts for slides (#22)</a:t>
                      </a:r>
                    </a:p>
                  </a:txBody>
                  <a:tcPr marL="64008" marR="64008" marT="32004" marB="32004" anchor="ctr">
                    <a:lnB w="9525" cap="flat" cmpd="sng" algn="ctr">
                      <a:solidFill>
                        <a:srgbClr val="C9D6E2"/>
                      </a:solidFill>
                      <a:prstDash val="solid"/>
                    </a:lnB>
                    <a:solidFill>
                      <a:srgbClr val="FFFFFF"/>
                    </a:solidFill>
                  </a:tcPr>
                </a:tc>
              </a:tr>
              <a:tr h="457200">
                <a:tc>
                  <a:txBody>
                    <a:bodyPr wrap="square"/>
                    <a:lstStyle/>
                    <a:p>
                      <a:r>
                        <a:rPr sz="950" b="1" i="0">
                          <a:solidFill>
                            <a:srgbClr val="263C50"/>
                          </a:solidFill>
                          <a:latin typeface="Bitstream Charter"/>
                        </a:rPr>
                        <a:t>Pradeep Sasidharan</a:t>
                      </a:r>
                      <a:r>
                        <a:rPr sz="950" b="0" i="0">
                          <a:solidFill>
                            <a:srgbClr val="263C50"/>
                          </a:solidFill>
                          <a:latin typeface="Bitstream Charter"/>
                        </a:rPr>
                        <a:t> / </a:t>
                      </a:r>
                      <a:r>
                        <a:rPr sz="950" b="1" i="0">
                          <a:solidFill>
                            <a:srgbClr val="B7791F"/>
                          </a:solidFill>
                          <a:latin typeface="Bitstream Charter"/>
                        </a:rPr>
                        <a:t>[reg. no.]</a:t>
                      </a:r>
                    </a:p>
                  </a:txBody>
                  <a:tcPr marL="64008" marR="64008" marT="32004" marB="32004" anchor="ctr">
                    <a:lnB w="9525" cap="flat" cmpd="sng" algn="ctr">
                      <a:solidFill>
                        <a:srgbClr val="C9D6E2"/>
                      </a:solidFill>
                      <a:prstDash val="solid"/>
                    </a:lnB>
                    <a:solidFill>
                      <a:srgbClr val="EAF0F6"/>
                    </a:solidFill>
                  </a:tcPr>
                </a:tc>
                <a:tc>
                  <a:txBody>
                    <a:bodyPr wrap="square"/>
                    <a:lstStyle/>
                    <a:p>
                      <a:r>
                        <a:rPr sz="950" b="0" i="0">
                          <a:solidFill>
                            <a:srgbClr val="263C50"/>
                          </a:solidFill>
                          <a:latin typeface="Bitstream Charter"/>
                        </a:rPr>
                        <a:t>XGBoost review and game models with SHAP and curves. Evidence: PR #55; src/models/*_xgboost.py</a:t>
                      </a:r>
                    </a:p>
                  </a:txBody>
                  <a:tcPr marL="64008" marR="64008" marT="32004" marB="32004" anchor="ctr">
                    <a:lnB w="9525" cap="flat" cmpd="sng" algn="ctr">
                      <a:solidFill>
                        <a:srgbClr val="C9D6E2"/>
                      </a:solidFill>
                      <a:prstDash val="solid"/>
                    </a:lnB>
                    <a:solidFill>
                      <a:srgbClr val="EAF0F6"/>
                    </a:solidFill>
                  </a:tcPr>
                </a:tc>
                <a:tc>
                  <a:txBody>
                    <a:bodyPr wrap="square"/>
                    <a:lstStyle/>
                    <a:p>
                      <a:r>
                        <a:rPr sz="950" b="0" i="0">
                          <a:solidFill>
                            <a:srgbClr val="263C50"/>
                          </a:solidFill>
                          <a:latin typeface="Bitstream Charter"/>
                        </a:rPr>
                        <a:t>Tune XGBoost (--tune)</a:t>
                      </a:r>
                    </a:p>
                  </a:txBody>
                  <a:tcPr marL="64008" marR="64008" marT="32004" marB="32004" anchor="ctr">
                    <a:lnB w="9525" cap="flat" cmpd="sng" algn="ctr">
                      <a:solidFill>
                        <a:srgbClr val="C9D6E2"/>
                      </a:solidFill>
                      <a:prstDash val="solid"/>
                    </a:lnB>
                    <a:solidFill>
                      <a:srgbClr val="EAF0F6"/>
                    </a:solidFill>
                  </a:tcPr>
                </a:tc>
              </a:tr>
              <a:tr h="457200">
                <a:tc>
                  <a:txBody>
                    <a:bodyPr wrap="square"/>
                    <a:lstStyle/>
                    <a:p>
                      <a:r>
                        <a:rPr sz="950" b="1" i="0">
                          <a:solidFill>
                            <a:srgbClr val="B7791F"/>
                          </a:solidFill>
                          <a:latin typeface="Bitstream Charter"/>
                        </a:rPr>
                        <a:t>[Member 5]</a:t>
                      </a:r>
                      <a:r>
                        <a:rPr sz="950" b="0" i="0">
                          <a:solidFill>
                            <a:srgbClr val="263C50"/>
                          </a:solidFill>
                          <a:latin typeface="Bitstream Charter"/>
                        </a:rPr>
                        <a:t> / </a:t>
                      </a:r>
                      <a:r>
                        <a:rPr sz="950" b="1" i="0">
                          <a:solidFill>
                            <a:srgbClr val="B7791F"/>
                          </a:solidFill>
                          <a:latin typeface="Bitstream Charter"/>
                        </a:rPr>
                        <a:t>[reg. no.]</a:t>
                      </a:r>
                    </a:p>
                  </a:txBody>
                  <a:tcPr marL="64008" marR="64008" marT="32004" marB="32004" anchor="ctr">
                    <a:lnB w="9525" cap="flat" cmpd="sng" algn="ctr">
                      <a:solidFill>
                        <a:srgbClr val="C9D6E2"/>
                      </a:solidFill>
                      <a:prstDash val="solid"/>
                    </a:lnB>
                    <a:solidFill>
                      <a:srgbClr val="FFFFFF"/>
                    </a:solidFill>
                  </a:tcPr>
                </a:tc>
                <a:tc>
                  <a:txBody>
                    <a:bodyPr wrap="square"/>
                    <a:lstStyle/>
                    <a:p>
                      <a:r>
                        <a:rPr sz="950" b="1" i="0">
                          <a:solidFill>
                            <a:srgbClr val="B7791F"/>
                          </a:solidFill>
                          <a:latin typeface="Bitstream Charter"/>
                        </a:rPr>
                        <a:t>[add contribution and evidence link]</a:t>
                      </a:r>
                    </a:p>
                  </a:txBody>
                  <a:tcPr marL="64008" marR="64008" marT="32004" marB="32004" anchor="ctr">
                    <a:lnB w="9525" cap="flat" cmpd="sng" algn="ctr">
                      <a:solidFill>
                        <a:srgbClr val="C9D6E2"/>
                      </a:solidFill>
                      <a:prstDash val="solid"/>
                    </a:lnB>
                    <a:solidFill>
                      <a:srgbClr val="FFFFFF"/>
                    </a:solidFill>
                  </a:tcPr>
                </a:tc>
                <a:tc>
                  <a:txBody>
                    <a:bodyPr wrap="square"/>
                    <a:lstStyle/>
                    <a:p>
                      <a:r>
                        <a:rPr sz="950" b="1" i="0">
                          <a:solidFill>
                            <a:srgbClr val="B7791F"/>
                          </a:solidFill>
                          <a:latin typeface="Bitstream Charter"/>
                        </a:rPr>
                        <a:t>[add]</a:t>
                      </a:r>
                    </a:p>
                  </a:txBody>
                  <a:tcPr marL="64008" marR="64008" marT="32004" marB="32004" anchor="ctr">
                    <a:lnB w="9525" cap="flat" cmpd="sng" algn="ctr">
                      <a:solidFill>
                        <a:srgbClr val="C9D6E2"/>
                      </a:solidFill>
                      <a:prstDash val="solid"/>
                    </a:lnB>
                    <a:solidFill>
                      <a:srgbClr val="FFFFFF"/>
                    </a:solidFill>
                  </a:tcPr>
                </a:tc>
              </a:tr>
            </a:tbl>
          </a:graphicData>
        </a:graphic>
      </p:graphicFrame>
      <p:sp>
        <p:nvSpPr>
          <p:cNvPr id="7" name="TextBox 6"/>
          <p:cNvSpPr txBox="1"/>
          <p:nvPr/>
        </p:nvSpPr>
        <p:spPr>
          <a:xfrm>
            <a:off x="722376" y="4297680"/>
            <a:ext cx="6035040" cy="1737360"/>
          </a:xfrm>
          <a:prstGeom prst="rect">
            <a:avLst/>
          </a:prstGeom>
          <a:noFill/>
        </p:spPr>
        <p:txBody>
          <a:bodyPr wrap="square" lIns="45720" rIns="45720" tIns="27432" bIns="27432">
            <a:spAutoFit/>
          </a:bodyPr>
          <a:lstStyle/>
          <a:p>
            <a:pPr>
              <a:spcAft>
                <a:spcPts val="300"/>
              </a:spcAft>
            </a:pPr>
            <a:r>
              <a:rPr sz="1100" b="1" i="0">
                <a:solidFill>
                  <a:srgbClr val="132C43"/>
                </a:solidFill>
                <a:latin typeface="Bitstream Charter"/>
              </a:rPr>
              <a:t>Review 2 plan (13 Oct)</a:t>
            </a:r>
          </a:p>
          <a:p>
            <a:pPr>
              <a:spcAft>
                <a:spcPts val="300"/>
              </a:spcAft>
            </a:pPr>
            <a:r>
              <a:rPr sz="1100" b="0" i="0">
                <a:solidFill>
                  <a:srgbClr val="263C50"/>
                </a:solidFill>
                <a:latin typeface="Bitstream Charter"/>
              </a:rPr>
              <a:t>6–8 Oct  text mining (#31–#33), association rules (#34–#36), dashboard wireframe (#37)</a:t>
            </a:r>
          </a:p>
          <a:p>
            <a:pPr>
              <a:spcAft>
                <a:spcPts val="300"/>
              </a:spcAft>
            </a:pPr>
            <a:r>
              <a:rPr sz="1100" b="0" i="0">
                <a:solidFill>
                  <a:srgbClr val="263C50"/>
                </a:solidFill>
                <a:latin typeface="Bitstream Charter"/>
              </a:rPr>
              <a:t>8–10 Oct  dashboard pages, patch-impact analysis (#38, #40–#43)</a:t>
            </a:r>
          </a:p>
          <a:p>
            <a:pPr>
              <a:spcAft>
                <a:spcPts val="300"/>
              </a:spcAft>
            </a:pPr>
            <a:r>
              <a:rPr sz="1100" b="0" i="0">
                <a:solidFill>
                  <a:srgbClr val="263C50"/>
                </a:solidFill>
                <a:latin typeface="Bitstream Charter"/>
              </a:rPr>
              <a:t>10–11 Oct  combined insights, final report, reproducibility (#39, #44, #45)</a:t>
            </a:r>
          </a:p>
          <a:p>
            <a:pPr>
              <a:spcAft>
                <a:spcPts val="300"/>
              </a:spcAft>
            </a:pPr>
            <a:r>
              <a:rPr sz="1100" b="0" i="0">
                <a:solidFill>
                  <a:srgbClr val="263C50"/>
                </a:solidFill>
                <a:latin typeface="Bitstream Charter"/>
              </a:rPr>
              <a:t>12 Oct  slides and rehearsal (#46, #47).  Owners to be confirmed on the board</a:t>
            </a:r>
          </a:p>
        </p:txBody>
      </p:sp>
      <p:sp>
        <p:nvSpPr>
          <p:cNvPr id="8" name="TextBox 7"/>
          <p:cNvSpPr txBox="1"/>
          <p:nvPr/>
        </p:nvSpPr>
        <p:spPr>
          <a:xfrm>
            <a:off x="6949440" y="4297680"/>
            <a:ext cx="4572000" cy="1737360"/>
          </a:xfrm>
          <a:prstGeom prst="rect">
            <a:avLst/>
          </a:prstGeom>
          <a:noFill/>
        </p:spPr>
        <p:txBody>
          <a:bodyPr wrap="square" lIns="45720" rIns="45720" tIns="27432" bIns="27432">
            <a:spAutoFit/>
          </a:bodyPr>
          <a:lstStyle/>
          <a:p>
            <a:pPr>
              <a:spcAft>
                <a:spcPts val="300"/>
              </a:spcAft>
            </a:pPr>
            <a:r>
              <a:rPr sz="1100" b="1" i="0">
                <a:solidFill>
                  <a:srgbClr val="132C43"/>
                </a:solidFill>
                <a:latin typeface="Bitstream Charter"/>
              </a:rPr>
              <a:t>Submission links</a:t>
            </a:r>
          </a:p>
          <a:p>
            <a:pPr>
              <a:spcAft>
                <a:spcPts val="300"/>
              </a:spcAft>
            </a:pPr>
            <a:r>
              <a:rPr sz="1100" b="1" i="0">
                <a:solidFill>
                  <a:srgbClr val="263C50"/>
                </a:solidFill>
                <a:latin typeface="Bitstream Charter"/>
              </a:rPr>
              <a:t>Notebook: </a:t>
            </a:r>
            <a:r>
              <a:rPr sz="1100" b="0" i="0">
                <a:solidFill>
                  <a:srgbClr val="48677E"/>
                </a:solidFill>
                <a:latin typeface="Bitstream Charter"/>
                <a:hlinkClick r:id="rId3"/>
              </a:rPr>
              <a:t>notebooks/review1/IndieGuard_Review1.ipynb</a:t>
            </a:r>
          </a:p>
          <a:p>
            <a:pPr>
              <a:spcAft>
                <a:spcPts val="300"/>
              </a:spcAft>
            </a:pPr>
            <a:r>
              <a:rPr sz="1100" b="1" i="0">
                <a:solidFill>
                  <a:srgbClr val="263C50"/>
                </a:solidFill>
                <a:latin typeface="Bitstream Charter"/>
              </a:rPr>
              <a:t>Data documentation: </a:t>
            </a:r>
            <a:r>
              <a:rPr sz="1100" b="0" i="0">
                <a:solidFill>
                  <a:srgbClr val="48677E"/>
                </a:solidFill>
                <a:latin typeface="Bitstream Charter"/>
                <a:hlinkClick r:id="rId4"/>
              </a:rPr>
              <a:t>docs/data_documentation.md</a:t>
            </a:r>
          </a:p>
          <a:p>
            <a:pPr>
              <a:spcAft>
                <a:spcPts val="300"/>
              </a:spcAft>
            </a:pPr>
            <a:r>
              <a:rPr sz="1100" b="1" i="0">
                <a:solidFill>
                  <a:srgbClr val="263C50"/>
                </a:solidFill>
                <a:latin typeface="Bitstream Charter"/>
              </a:rPr>
              <a:t>Board: </a:t>
            </a:r>
            <a:r>
              <a:rPr sz="1100" b="0" i="0">
                <a:solidFill>
                  <a:srgbClr val="48677E"/>
                </a:solidFill>
                <a:latin typeface="Bitstream Charter"/>
                <a:hlinkClick r:id="rId5"/>
              </a:rPr>
              <a:t>github.com/users/Shan713/projects/1</a:t>
            </a:r>
          </a:p>
          <a:p>
            <a:pPr>
              <a:spcAft>
                <a:spcPts val="300"/>
              </a:spcAft>
            </a:pPr>
            <a:r>
              <a:rPr sz="1100" b="1" i="0">
                <a:solidFill>
                  <a:srgbClr val="263C50"/>
                </a:solidFill>
                <a:latin typeface="Bitstream Charter"/>
              </a:rPr>
              <a:t>Contribution summary: </a:t>
            </a:r>
            <a:r>
              <a:rPr sz="1100" b="0" i="0">
                <a:solidFill>
                  <a:srgbClr val="B7791F"/>
                </a:solidFill>
                <a:latin typeface="Bitstream Charter"/>
              </a:rPr>
              <a:t>docs/contributions_r1.md (to be added)</a:t>
            </a:r>
          </a:p>
        </p:txBody>
      </p:sp>
    </p:spTree>
    <p:extLst>
      <p:ext uri="{BB962C8B-B14F-4D97-AF65-F5344CB8AC3E}">
        <p14:creationId xmlns:p14="http://schemas.microsoft.com/office/powerpoint/2010/main" val="106509926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526</Words>
  <Application>Microsoft Office PowerPoint</Application>
  <DocSecurity>0</DocSecurity>
  <PresentationFormat>Widescreen</PresentationFormat>
  <Paragraphs>74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Bitstream Charter</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ROHINI S</cp:lastModifiedBy>
  <cp:revision>3</cp:revision>
  <dcterms:created xsi:type="dcterms:W3CDTF">2026-10-01T14:42:32Z</dcterms:created>
  <dcterms:modified xsi:type="dcterms:W3CDTF">2026-10-01T15:01:32Z</dcterms:modified>
</cp:coreProperties>
</file>